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1"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2742"/>
                </a:solidFill>
                <a:latin typeface="Calibri"/>
              </a:defRPr>
            </a:pPr>
            <a:r>
              <a:rPr lang="en-MY" sz="1300" b="0" i="0" u="none" strike="noStrike">
                <a:solidFill>
                  <a:srgbClr val="0F2742"/>
                </a:solidFill>
                <a:latin typeface="Calibri"/>
              </a:rPr>
              <a:t>Ablation — pooled accuracy (%)</a:t>
            </a:r>
          </a:p>
        </c:rich>
      </c:tx>
      <c:overlay val="0"/>
    </c:title>
    <c:autoTitleDeleted val="0"/>
    <c:plotArea>
      <c:layout/>
      <c:barChart>
        <c:barDir val="bar"/>
        <c:grouping val="clustered"/>
        <c:varyColors val="0"/>
        <c:ser>
          <c:idx val="0"/>
          <c:order val="0"/>
          <c:tx>
            <c:strRef>
              <c:f>Sheet1!$B$1</c:f>
              <c:strCache>
                <c:ptCount val="1"/>
                <c:pt idx="0">
                  <c:v>Pooled accuracy</c:v>
                </c:pt>
              </c:strCache>
            </c:strRef>
          </c:tx>
          <c:spPr>
            <a:solidFill>
              <a:srgbClr val="35608F"/>
            </a:solidFill>
            <a:effectLst/>
          </c:spPr>
          <c:invertIfNegative val="0"/>
          <c:dPt>
            <c:idx val="0"/>
            <c:invertIfNegative val="0"/>
            <c:bubble3D val="0"/>
            <c:spPr>
              <a:solidFill>
                <a:srgbClr val="35608F"/>
              </a:solidFill>
              <a:effectLst/>
            </c:spPr>
            <c:extLst>
              <c:ext xmlns:c16="http://schemas.microsoft.com/office/drawing/2014/chart" uri="{C3380CC4-5D6E-409C-BE32-E72D297353CC}">
                <c16:uniqueId val="{00000001-F4C8-4EE6-A72D-CBEFD2270772}"/>
              </c:ext>
            </c:extLst>
          </c:dPt>
          <c:dPt>
            <c:idx val="1"/>
            <c:invertIfNegative val="0"/>
            <c:bubble3D val="0"/>
            <c:spPr>
              <a:solidFill>
                <a:srgbClr val="35608F"/>
              </a:solidFill>
              <a:effectLst/>
            </c:spPr>
            <c:extLst>
              <c:ext xmlns:c16="http://schemas.microsoft.com/office/drawing/2014/chart" uri="{C3380CC4-5D6E-409C-BE32-E72D297353CC}">
                <c16:uniqueId val="{00000003-F4C8-4EE6-A72D-CBEFD2270772}"/>
              </c:ext>
            </c:extLst>
          </c:dPt>
          <c:dPt>
            <c:idx val="2"/>
            <c:invertIfNegative val="0"/>
            <c:bubble3D val="0"/>
            <c:spPr>
              <a:solidFill>
                <a:srgbClr val="35608F"/>
              </a:solidFill>
              <a:effectLst/>
            </c:spPr>
            <c:extLst>
              <c:ext xmlns:c16="http://schemas.microsoft.com/office/drawing/2014/chart" uri="{C3380CC4-5D6E-409C-BE32-E72D297353CC}">
                <c16:uniqueId val="{00000005-F4C8-4EE6-A72D-CBEFD2270772}"/>
              </c:ext>
            </c:extLst>
          </c:dPt>
          <c:dLbls>
            <c:numFmt formatCode="0.0" sourceLinked="0"/>
            <c:spPr>
              <a:noFill/>
              <a:ln>
                <a:noFill/>
              </a:ln>
              <a:effectLst/>
            </c:spPr>
            <c:txPr>
              <a:bodyPr/>
              <a:lstStyle/>
              <a:p>
                <a:pPr>
                  <a:defRPr sz="1100" b="0" i="0" u="none" strike="noStrike">
                    <a:solidFill>
                      <a:srgbClr val="44566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3"/>
                <c:pt idx="0">
                  <c:v>Full system</c:v>
                </c:pt>
                <c:pt idx="1">
                  <c:v>Pixel features removed</c:v>
                </c:pt>
                <c:pt idx="2">
                  <c:v>DOM features removed</c:v>
                </c:pt>
              </c:strCache>
            </c:strRef>
          </c:cat>
          <c:val>
            <c:numRef>
              <c:f>Sheet1!$B$2:$B$5</c:f>
              <c:numCache>
                <c:formatCode>General</c:formatCode>
                <c:ptCount val="3"/>
                <c:pt idx="0">
                  <c:v>94.8</c:v>
                </c:pt>
                <c:pt idx="1">
                  <c:v>94.67</c:v>
                </c:pt>
                <c:pt idx="2">
                  <c:v>94</c:v>
                </c:pt>
              </c:numCache>
            </c:numRef>
          </c:val>
          <c:extLst>
            <c:ext xmlns:c15="http://schemas.microsoft.com/office/drawing/2012/chart" uri="{02D57815-91ED-43cb-92C2-25804820EDAC}">
              <c15:categoryFilterExceptions>
                <c15:categoryFilterException>
                  <c15:sqref>Sheet1!$B$5</c15:sqref>
                  <c15:spPr xmlns:c15="http://schemas.microsoft.com/office/drawing/2012/chart">
                    <a:solidFill>
                      <a:srgbClr val="E8298F"/>
                    </a:solidFill>
                    <a:effectLst/>
                  </c15:spPr>
                  <c15:invertIfNegative val="0"/>
                  <c15:bubble3D val="0"/>
                </c15:categoryFilterException>
              </c15:categoryFilterExceptions>
            </c:ext>
            <c:ext xmlns:c16="http://schemas.microsoft.com/office/drawing/2014/chart" uri="{C3380CC4-5D6E-409C-BE32-E72D297353CC}">
              <c16:uniqueId val="{00000008-F4C8-4EE6-A72D-CBEFD227077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2742"/>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b"/>
        <c:majorGridlines>
          <c:spPr>
            <a:ln w="12700" cap="flat">
              <a:solidFill>
                <a:srgbClr val="DC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566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9449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I'm Tan Kia Yen, and this is the Visual Regression Workbench - a testing platform that catches unintended changes to a website's appearance and names them. First the product pitch, then how it was built.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[0:15-0:57] The client is Centific - an enterprise AI data company doing multilingual datasets, AI localisation and internationalisation across more than two hundred languages, with a global expert network doing the human evaluation. Here is the problem in that line of work. Translation QA checks the string; it does not check that the string still fits. Expansion, truncation, font fallback and right-to-left mirroring break layouts that were perfectly correct in English. The cost multiplies - forty screens across twenty-five locales on two devices is two thousand rendered screens for a single release. And a pixel differ cannot help, because every localised page differs from the source by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[0:57-1:40] So who is this for? Primarily localisation vendors and the teams they deliver into - anyone who has to sign off the same product in many locales. The niche is multi-locale verification: locale and device are part of a baseline's identity, so the Japanese page is judged against the approved Japanese page, and it self-hosts, which matters when the screens belong to an enterprise client. Today the alternatives are Percy, Chromatic and Applitools. All three are cloud-only, and all three meter by snapshot - which is the wrong pricing shape here, because a localised product multiplies snapshot count by the number of locales.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[1:40-2:18] Four things make a team switch. It names the defect - not "2.7% of pixels changed" but which element went missing and where, so the reviewer acts without opening the page. It stays trustworthy, because structural confirmation stops dynamic content from crying wolf, and false alarms are why teams mute these suites. It compares like with like, so the Japanese page is judged against the approved Japanese page rather than the English source. And it runs on their machines with one command. Half a day of clicking becomes a short list of named defects.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[2:18-3:05] The mix is aimed at that buyer. The product is a platform, and the Playwright SDK is the wedge - one line inside a suite they already run. Price is the lever: self-hosted and free, so multiplying snapshots by locale count costs nothing, which is exactly where the metered tools hurt. Place is GitHub and a Docker image, so adopting it needs no procurement. Promotion is developer-led - the ablation write-up is the lead content, the re-runnable benchmark is the proof. People is one maintainer, so the docs and decision records carry first-line support. Process is fifteen minutes to a first result. Evidence is a public CI badge and an HTML report for every 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[3:05-3:15] That was the pitch. The rest is for a technical audience: what it is made of, the code that does the work, and the evidence that it works.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[3:15-3:55] Every technology here answers a requirement. Playwright, because capture must be repeatable across three engines and must pin locale, timezone and device - a capture that drifts makes every later comparison meaningless. OpenCV for detection, because that half must be deterministic and inspectable, and the answer needs to be a bounded region. A ResNet50 siamese head, because the task is literally comparing two images, and pre-training makes it trainable on a labelled set this size. And Docker, because Chromium renders text differently on every platform - so baselines are captured inside the project's own image.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[3:55-4:35] Three things about the process. Anything that would look arbitrary later is written down as a decision record - why detection and classification are separate metrics, why baselines are committed but models are not. The DOM capture script lives on the server and the SDK fetches it, so the two can never drift. And the ablation drove real code changes: it exposed four inference paths zero-padding the pixel columns, meaning the model was trained on evidence it never received in production. Around eleven hundred tests and a benchmark that fails on one miss gate all of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[4:35-5:15] Here is what separates this from a pixel differ. On the left, the decision function. A CNN score is a guess, so it is gated behind pixel corroboration - otherwise developers get nagged by false failures and stop trusting the build. But a DOM-diff verdict is not a guess, so it bypasses that gate. Without this line, a removed element covering very few pixels silently passes. On the right is the whole client-side integration: one call, uploading the DOM alongside the screenshot. Image-only would leave structural comparison nothing to work with.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[5:15-5:55] This is the function the ablation points at. It compares real element geometry, tags, fonts and colours from two page loads, so it generalises to a site it has never seen - no training data needed. The ordering is the interesting part. Scanning in document order picked up whichever side effect came first, not the cause - removing an image reflows everything below it. So elements are bucketed, then resolved by priority, with identity-less "missing" last because it is the noisiest verdict. And the second return value is the evidence sentence printed in the report - a claim the reviewer can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[5:55-6:35] Detection and classification are scored separately, because they fail differently. Detection: eighty-one of eighty-one injected defects caught, zero false alarms on nine clean controls. Classification: 94.8% over five hundred trials on real pages, confidence interval 92.85 to 96.75. The ablation shows where that comes from - removing either feature group moves accuracy under a point, but removing the DOM engine drops it to 38.7, with colour, text and font at zero recall. The structural comparison is the contribution, not the network. Weakest class is missing-element at 87.7%, and that is where the remaining work 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[6:35-6:45] Now let me show you the tool doing the client's Thursday, and then the code and the CI gate behind it. [SWITCH TO SCREEN RECORDING - dashboard on port 8130, demo portal in the next tab, VS Code behind]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demo, 0:15] To close: the buyer ships weekly, must self-host, and serves more than one language. The edge is that it names the defect instead of reporting a percentage. The proof is 81 of 81 detected and 94.8% named correctly, re-measured on every push.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A2B"/>
        </a:solidFill>
        <a:effectLst/>
      </p:bgPr>
    </p:bg>
    <p:spTree>
      <p:nvGrpSpPr>
        <p:cNvPr id="1" name=""/>
        <p:cNvGrpSpPr/>
        <p:nvPr/>
      </p:nvGrpSpPr>
      <p:grpSpPr>
        <a:xfrm>
          <a:off x="0" y="0"/>
          <a:ext cx="0" cy="0"/>
          <a:chOff x="0" y="0"/>
          <a:chExt cx="0" cy="0"/>
        </a:xfrm>
      </p:grpSpPr>
      <p:sp>
        <p:nvSpPr>
          <p:cNvPr id="2" name="Shape 0"/>
          <p:cNvSpPr/>
          <p:nvPr/>
        </p:nvSpPr>
        <p:spPr>
          <a:xfrm>
            <a:off x="8549640" y="1188720"/>
            <a:ext cx="2880360" cy="1600200"/>
          </a:xfrm>
          <a:prstGeom prst="roundRect">
            <a:avLst>
              <a:gd name="adj" fmla="val 4571"/>
            </a:avLst>
          </a:prstGeom>
          <a:solidFill>
            <a:srgbClr val="091A2B"/>
          </a:solidFill>
          <a:ln w="19050">
            <a:solidFill>
              <a:srgbClr val="35608F"/>
            </a:solidFill>
            <a:prstDash val="solid"/>
          </a:ln>
        </p:spPr>
        <p:txBody>
          <a:bodyPr/>
          <a:lstStyle/>
          <a:p>
            <a:endParaRPr lang="en-MY"/>
          </a:p>
        </p:txBody>
      </p:sp>
      <p:sp>
        <p:nvSpPr>
          <p:cNvPr id="3" name="Text 1"/>
          <p:cNvSpPr/>
          <p:nvPr/>
        </p:nvSpPr>
        <p:spPr>
          <a:xfrm>
            <a:off x="8549640" y="1188720"/>
            <a:ext cx="2880360" cy="1600200"/>
          </a:xfrm>
          <a:prstGeom prst="rect">
            <a:avLst/>
          </a:prstGeom>
          <a:noFill/>
          <a:ln/>
        </p:spPr>
        <p:txBody>
          <a:bodyPr wrap="square" lIns="0" tIns="0" rIns="0" bIns="0" rtlCol="0" anchor="ctr"/>
          <a:lstStyle/>
          <a:p>
            <a:pPr marL="0" indent="0" algn="ctr">
              <a:buNone/>
            </a:pPr>
            <a:r>
              <a:rPr lang="en-US" sz="1100" b="1" kern="0" spc="200" dirty="0">
                <a:solidFill>
                  <a:srgbClr val="6B8CAE"/>
                </a:solidFill>
                <a:latin typeface="Calibri" pitchFamily="34" charset="0"/>
                <a:ea typeface="Calibri" pitchFamily="34" charset="-122"/>
                <a:cs typeface="Calibri" pitchFamily="34" charset="-120"/>
              </a:rPr>
              <a:t>BASELINE</a:t>
            </a:r>
            <a:endParaRPr lang="en-US" sz="1100" dirty="0"/>
          </a:p>
        </p:txBody>
      </p:sp>
      <p:sp>
        <p:nvSpPr>
          <p:cNvPr id="4" name="Shape 2"/>
          <p:cNvSpPr/>
          <p:nvPr/>
        </p:nvSpPr>
        <p:spPr>
          <a:xfrm>
            <a:off x="8275320" y="2788920"/>
            <a:ext cx="2880360" cy="1600200"/>
          </a:xfrm>
          <a:prstGeom prst="roundRect">
            <a:avLst>
              <a:gd name="adj" fmla="val 4571"/>
            </a:avLst>
          </a:prstGeom>
          <a:solidFill>
            <a:srgbClr val="091A2B"/>
          </a:solidFill>
          <a:ln w="19050">
            <a:solidFill>
              <a:srgbClr val="6B8CAE"/>
            </a:solidFill>
            <a:prstDash val="solid"/>
          </a:ln>
        </p:spPr>
        <p:txBody>
          <a:bodyPr/>
          <a:lstStyle/>
          <a:p>
            <a:endParaRPr lang="en-MY"/>
          </a:p>
        </p:txBody>
      </p:sp>
      <p:sp>
        <p:nvSpPr>
          <p:cNvPr id="5" name="Text 3"/>
          <p:cNvSpPr/>
          <p:nvPr/>
        </p:nvSpPr>
        <p:spPr>
          <a:xfrm>
            <a:off x="8275320" y="2788920"/>
            <a:ext cx="2880360" cy="1600200"/>
          </a:xfrm>
          <a:prstGeom prst="rect">
            <a:avLst/>
          </a:prstGeom>
          <a:noFill/>
          <a:ln/>
        </p:spPr>
        <p:txBody>
          <a:bodyPr wrap="square" lIns="0" tIns="0" rIns="0" bIns="0" rtlCol="0" anchor="ctr"/>
          <a:lstStyle/>
          <a:p>
            <a:pPr marL="0" indent="0" algn="ctr">
              <a:buNone/>
            </a:pPr>
            <a:r>
              <a:rPr lang="en-US" sz="1100" b="1" kern="0" spc="200" dirty="0">
                <a:solidFill>
                  <a:srgbClr val="6B8CAE"/>
                </a:solidFill>
                <a:latin typeface="Calibri" pitchFamily="34" charset="0"/>
                <a:ea typeface="Calibri" pitchFamily="34" charset="-122"/>
                <a:cs typeface="Calibri" pitchFamily="34" charset="-120"/>
              </a:rPr>
              <a:t>CURRENT</a:t>
            </a:r>
            <a:endParaRPr lang="en-US" sz="1100" dirty="0"/>
          </a:p>
        </p:txBody>
      </p:sp>
      <p:sp>
        <p:nvSpPr>
          <p:cNvPr id="6" name="Shape 4"/>
          <p:cNvSpPr/>
          <p:nvPr/>
        </p:nvSpPr>
        <p:spPr>
          <a:xfrm>
            <a:off x="8001000" y="4389120"/>
            <a:ext cx="2880360" cy="1600200"/>
          </a:xfrm>
          <a:prstGeom prst="roundRect">
            <a:avLst>
              <a:gd name="adj" fmla="val 4571"/>
            </a:avLst>
          </a:prstGeom>
          <a:solidFill>
            <a:srgbClr val="1B0F22"/>
          </a:solidFill>
          <a:ln w="25400">
            <a:solidFill>
              <a:srgbClr val="E8298F"/>
            </a:solidFill>
            <a:prstDash val="solid"/>
          </a:ln>
        </p:spPr>
        <p:txBody>
          <a:bodyPr/>
          <a:lstStyle/>
          <a:p>
            <a:endParaRPr lang="en-MY"/>
          </a:p>
        </p:txBody>
      </p:sp>
      <p:sp>
        <p:nvSpPr>
          <p:cNvPr id="7" name="Text 5"/>
          <p:cNvSpPr/>
          <p:nvPr/>
        </p:nvSpPr>
        <p:spPr>
          <a:xfrm>
            <a:off x="8001000" y="4389120"/>
            <a:ext cx="2880360" cy="1600200"/>
          </a:xfrm>
          <a:prstGeom prst="rect">
            <a:avLst/>
          </a:prstGeom>
          <a:noFill/>
          <a:ln/>
        </p:spPr>
        <p:txBody>
          <a:bodyPr wrap="square" lIns="0" tIns="0" rIns="0" bIns="0" rtlCol="0" anchor="ctr"/>
          <a:lstStyle/>
          <a:p>
            <a:pPr marL="0" indent="0" algn="ctr">
              <a:buNone/>
            </a:pPr>
            <a:r>
              <a:rPr lang="en-US" sz="1100" b="1" kern="0" spc="200" dirty="0">
                <a:solidFill>
                  <a:srgbClr val="E8298F"/>
                </a:solidFill>
                <a:latin typeface="Calibri" pitchFamily="34" charset="0"/>
                <a:ea typeface="Calibri" pitchFamily="34" charset="-122"/>
                <a:cs typeface="Calibri" pitchFamily="34" charset="-120"/>
              </a:rPr>
              <a:t>DIFF  →  CLASSIFY</a:t>
            </a:r>
            <a:endParaRPr lang="en-US" sz="1100" dirty="0"/>
          </a:p>
        </p:txBody>
      </p:sp>
      <p:sp>
        <p:nvSpPr>
          <p:cNvPr id="8" name="Shape 6"/>
          <p:cNvSpPr/>
          <p:nvPr/>
        </p:nvSpPr>
        <p:spPr>
          <a:xfrm>
            <a:off x="685800" y="1234440"/>
            <a:ext cx="2331720" cy="329184"/>
          </a:xfrm>
          <a:prstGeom prst="roundRect">
            <a:avLst>
              <a:gd name="adj" fmla="val 50000"/>
            </a:avLst>
          </a:prstGeom>
          <a:solidFill>
            <a:srgbClr val="FF6A2B"/>
          </a:solidFill>
          <a:ln/>
        </p:spPr>
        <p:txBody>
          <a:bodyPr/>
          <a:lstStyle/>
          <a:p>
            <a:endParaRPr lang="en-MY"/>
          </a:p>
        </p:txBody>
      </p:sp>
      <p:sp>
        <p:nvSpPr>
          <p:cNvPr id="9" name="Text 7"/>
          <p:cNvSpPr/>
          <p:nvPr/>
        </p:nvSpPr>
        <p:spPr>
          <a:xfrm>
            <a:off x="685800" y="1234440"/>
            <a:ext cx="2331720" cy="329184"/>
          </a:xfrm>
          <a:prstGeom prst="rect">
            <a:avLst/>
          </a:prstGeom>
          <a:noFill/>
          <a:ln/>
        </p:spPr>
        <p:txBody>
          <a:bodyPr wrap="square" lIns="0" tIns="0" rIns="0" bIns="0" rtlCol="0" anchor="ctr"/>
          <a:lstStyle/>
          <a:p>
            <a:pPr marL="0" indent="0" algn="ctr">
              <a:buNone/>
            </a:pPr>
            <a:r>
              <a:rPr lang="en-US" sz="1050" b="1" kern="0" spc="140" dirty="0">
                <a:solidFill>
                  <a:srgbClr val="FFFFFF"/>
                </a:solidFill>
                <a:latin typeface="Calibri" pitchFamily="34" charset="0"/>
                <a:ea typeface="Calibri" pitchFamily="34" charset="-122"/>
                <a:cs typeface="Calibri" pitchFamily="34" charset="-120"/>
              </a:rPr>
              <a:t>FINAL YEAR PROJECT</a:t>
            </a:r>
            <a:endParaRPr lang="en-US" sz="1050" dirty="0"/>
          </a:p>
        </p:txBody>
      </p:sp>
      <p:sp>
        <p:nvSpPr>
          <p:cNvPr id="10" name="Text 8"/>
          <p:cNvSpPr/>
          <p:nvPr/>
        </p:nvSpPr>
        <p:spPr>
          <a:xfrm>
            <a:off x="658368" y="1874520"/>
            <a:ext cx="7040880" cy="1828800"/>
          </a:xfrm>
          <a:prstGeom prst="rect">
            <a:avLst/>
          </a:prstGeom>
          <a:noFill/>
          <a:ln/>
        </p:spPr>
        <p:txBody>
          <a:bodyPr wrap="square" lIns="0" tIns="0" rIns="0" bIns="0" rtlCol="0" anchor="ctr"/>
          <a:lstStyle/>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Visual Regression</a:t>
            </a:r>
            <a:endParaRPr lang="en-US" sz="4400" dirty="0"/>
          </a:p>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Workbench</a:t>
            </a:r>
            <a:endParaRPr lang="en-US" sz="4400" dirty="0"/>
          </a:p>
        </p:txBody>
      </p:sp>
      <p:sp>
        <p:nvSpPr>
          <p:cNvPr id="11" name="Text 9"/>
          <p:cNvSpPr/>
          <p:nvPr/>
        </p:nvSpPr>
        <p:spPr>
          <a:xfrm>
            <a:off x="685800" y="3794760"/>
            <a:ext cx="6858000" cy="822960"/>
          </a:xfrm>
          <a:prstGeom prst="rect">
            <a:avLst/>
          </a:prstGeom>
          <a:noFill/>
          <a:ln/>
        </p:spPr>
        <p:txBody>
          <a:bodyPr wrap="square" lIns="0" tIns="0" rIns="0" bIns="0" rtlCol="0" anchor="ctr"/>
          <a:lstStyle/>
          <a:p>
            <a:pPr marL="0" indent="0">
              <a:buNone/>
            </a:pPr>
            <a:r>
              <a:rPr lang="en-US" sz="1700" dirty="0">
                <a:solidFill>
                  <a:srgbClr val="AFC3D8"/>
                </a:solidFill>
                <a:latin typeface="Calibri" pitchFamily="34" charset="0"/>
                <a:ea typeface="Calibri" pitchFamily="34" charset="-122"/>
                <a:cs typeface="Calibri" pitchFamily="34" charset="-120"/>
              </a:rPr>
              <a:t>Visual testing that tells you what broke — not just that something did</a:t>
            </a:r>
            <a:endParaRPr lang="en-US" sz="1700" dirty="0"/>
          </a:p>
        </p:txBody>
      </p:sp>
      <p:sp>
        <p:nvSpPr>
          <p:cNvPr id="12" name="Text 10"/>
          <p:cNvSpPr/>
          <p:nvPr/>
        </p:nvSpPr>
        <p:spPr>
          <a:xfrm>
            <a:off x="685800" y="5623560"/>
            <a:ext cx="69494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Tan Kia Yen</a:t>
            </a:r>
            <a:r>
              <a:rPr lang="en-US" sz="1300" dirty="0">
                <a:solidFill>
                  <a:srgbClr val="6B8CAE"/>
                </a:solidFill>
                <a:latin typeface="Calibri" pitchFamily="34" charset="0"/>
                <a:ea typeface="Calibri" pitchFamily="34" charset="-122"/>
                <a:cs typeface="Calibri" pitchFamily="34" charset="-120"/>
              </a:rPr>
              <a:t>     A6 Marketing &amp; Technical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THE CLIENT AND THE ISSUE</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Right translation, broken page</a:t>
            </a:r>
            <a:endParaRPr lang="en-US" sz="3200" dirty="0"/>
          </a:p>
        </p:txBody>
      </p:sp>
      <p:sp>
        <p:nvSpPr>
          <p:cNvPr id="4" name="Shape 2"/>
          <p:cNvSpPr/>
          <p:nvPr/>
        </p:nvSpPr>
        <p:spPr>
          <a:xfrm>
            <a:off x="566928" y="1463040"/>
            <a:ext cx="4663440" cy="4206240"/>
          </a:xfrm>
          <a:prstGeom prst="roundRect">
            <a:avLst>
              <a:gd name="adj" fmla="val 1957"/>
            </a:avLst>
          </a:prstGeom>
          <a:solidFill>
            <a:srgbClr val="0F2742"/>
          </a:solidFill>
          <a:ln/>
          <a:effectLst>
            <a:outerShdw blurRad="127000" dist="25400" dir="5400000" algn="bl" rotWithShape="0">
              <a:srgbClr val="8FA3B8">
                <a:alpha val="28000"/>
              </a:srgbClr>
            </a:outerShdw>
          </a:effectLst>
        </p:spPr>
        <p:txBody>
          <a:bodyPr/>
          <a:lstStyle/>
          <a:p>
            <a:endParaRPr lang="en-MY"/>
          </a:p>
        </p:txBody>
      </p:sp>
      <p:sp>
        <p:nvSpPr>
          <p:cNvPr id="5" name="Text 3"/>
          <p:cNvSpPr/>
          <p:nvPr/>
        </p:nvSpPr>
        <p:spPr>
          <a:xfrm>
            <a:off x="868680" y="1691640"/>
            <a:ext cx="4023360" cy="274320"/>
          </a:xfrm>
          <a:prstGeom prst="rect">
            <a:avLst/>
          </a:prstGeom>
          <a:noFill/>
          <a:ln/>
        </p:spPr>
        <p:txBody>
          <a:bodyPr wrap="square" lIns="0" tIns="0" rIns="0" bIns="0" rtlCol="0" anchor="ctr"/>
          <a:lstStyle/>
          <a:p>
            <a:pPr marL="0" indent="0">
              <a:buNone/>
            </a:pPr>
            <a:r>
              <a:rPr lang="en-US" sz="1100" b="1" kern="0" spc="160" dirty="0">
                <a:solidFill>
                  <a:srgbClr val="FF6A2B"/>
                </a:solidFill>
                <a:latin typeface="Calibri" pitchFamily="34" charset="0"/>
                <a:ea typeface="Calibri" pitchFamily="34" charset="-122"/>
                <a:cs typeface="Calibri" pitchFamily="34" charset="-120"/>
              </a:rPr>
              <a:t>CLIENT</a:t>
            </a:r>
            <a:endParaRPr lang="en-US" sz="1100" dirty="0"/>
          </a:p>
        </p:txBody>
      </p:sp>
      <p:sp>
        <p:nvSpPr>
          <p:cNvPr id="6" name="Text 4"/>
          <p:cNvSpPr/>
          <p:nvPr/>
        </p:nvSpPr>
        <p:spPr>
          <a:xfrm>
            <a:off x="868680" y="2011680"/>
            <a:ext cx="4023360" cy="4572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Centific</a:t>
            </a:r>
            <a:endParaRPr lang="en-US" sz="3000" dirty="0"/>
          </a:p>
        </p:txBody>
      </p:sp>
      <p:sp>
        <p:nvSpPr>
          <p:cNvPr id="7" name="Text 5"/>
          <p:cNvSpPr/>
          <p:nvPr/>
        </p:nvSpPr>
        <p:spPr>
          <a:xfrm>
            <a:off x="868680" y="2606040"/>
            <a:ext cx="4023360" cy="2651760"/>
          </a:xfrm>
          <a:prstGeom prst="rect">
            <a:avLst/>
          </a:prstGeom>
          <a:noFill/>
          <a:ln/>
        </p:spPr>
        <p:txBody>
          <a:bodyPr wrap="square" lIns="0" tIns="0" rIns="0" bIns="0" rtlCol="0" anchor="t"/>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Enterprise AI data company - multilingual datasets, AI localisation and internationalisation
</a:t>
            </a:r>
            <a:endParaRPr lang="en-US" sz="1300" dirty="0"/>
          </a:p>
          <a:p>
            <a:pPr marL="0" indent="0">
              <a:lnSpc>
                <a:spcPts val="1900"/>
              </a:lnSpc>
              <a:buNone/>
            </a:pPr>
            <a:r>
              <a:rPr lang="en-US" sz="1250" dirty="0">
                <a:solidFill>
                  <a:srgbClr val="9FB5CB"/>
                </a:solidFill>
                <a:latin typeface="Calibri" pitchFamily="34" charset="0"/>
                <a:ea typeface="Calibri" pitchFamily="34" charset="-122"/>
                <a:cs typeface="Calibri" pitchFamily="34" charset="-120"/>
              </a:rPr>
              <a:t>Delivers data and evaluation across 200+ languages and regional variants
</a:t>
            </a:r>
            <a:endParaRPr lang="en-US" sz="1300" dirty="0"/>
          </a:p>
          <a:p>
            <a:pPr marL="0" indent="0">
              <a:lnSpc>
                <a:spcPts val="1900"/>
              </a:lnSpc>
              <a:buNone/>
            </a:pPr>
            <a:r>
              <a:rPr lang="en-US" sz="1250" dirty="0">
                <a:solidFill>
                  <a:srgbClr val="9FB5CB"/>
                </a:solidFill>
                <a:latin typeface="Calibri" pitchFamily="34" charset="0"/>
                <a:ea typeface="Calibri" pitchFamily="34" charset="-122"/>
                <a:cs typeface="Calibri" pitchFamily="34" charset="-120"/>
              </a:rPr>
              <a:t>A global expert network performs the human evaluation of localised output
</a:t>
            </a:r>
            <a:endParaRPr lang="en-US" sz="1300" dirty="0"/>
          </a:p>
          <a:p>
            <a:pPr marL="0" indent="0">
              <a:lnSpc>
                <a:spcPts val="1900"/>
              </a:lnSpc>
              <a:buNone/>
            </a:pPr>
            <a:r>
              <a:rPr lang="en-US" sz="1250" dirty="0">
                <a:solidFill>
                  <a:srgbClr val="9FB5CB"/>
                </a:solidFill>
                <a:latin typeface="Calibri" pitchFamily="34" charset="0"/>
                <a:ea typeface="Calibri" pitchFamily="34" charset="-122"/>
                <a:cs typeface="Calibri" pitchFamily="34" charset="-120"/>
              </a:rPr>
              <a:t>Enterprise customers including Microsoft</a:t>
            </a:r>
            <a:endParaRPr lang="en-US" sz="1300" dirty="0"/>
          </a:p>
        </p:txBody>
      </p:sp>
      <p:sp>
        <p:nvSpPr>
          <p:cNvPr id="8" name="Text 6"/>
          <p:cNvSpPr/>
          <p:nvPr/>
        </p:nvSpPr>
        <p:spPr>
          <a:xfrm>
            <a:off x="868680" y="5230368"/>
            <a:ext cx="4023360" cy="274320"/>
          </a:xfrm>
          <a:prstGeom prst="rect">
            <a:avLst/>
          </a:prstGeom>
          <a:noFill/>
          <a:ln/>
        </p:spPr>
        <p:txBody>
          <a:bodyPr wrap="square" lIns="0" tIns="0" rIns="0" bIns="0" rtlCol="0" anchor="ctr"/>
          <a:lstStyle/>
          <a:p>
            <a:pPr marL="0" indent="0">
              <a:buNone/>
            </a:pPr>
            <a:r>
              <a:rPr lang="en-US" sz="1050" i="1" dirty="0">
                <a:solidFill>
                  <a:srgbClr val="6B8CAE"/>
                </a:solidFill>
                <a:latin typeface="Calibri" pitchFamily="34" charset="0"/>
                <a:ea typeface="Calibri" pitchFamily="34" charset="-122"/>
                <a:cs typeface="Calibri" pitchFamily="34" charset="-120"/>
              </a:rPr>
              <a:t>From Centific's published company information.</a:t>
            </a:r>
            <a:endParaRPr lang="en-US" sz="1050" dirty="0"/>
          </a:p>
        </p:txBody>
      </p:sp>
      <p:sp>
        <p:nvSpPr>
          <p:cNvPr id="9" name="Shape 7"/>
          <p:cNvSpPr/>
          <p:nvPr/>
        </p:nvSpPr>
        <p:spPr>
          <a:xfrm>
            <a:off x="5532120" y="1463040"/>
            <a:ext cx="6089904" cy="1371600"/>
          </a:xfrm>
          <a:prstGeom prst="roundRect">
            <a:avLst>
              <a:gd name="adj" fmla="val 60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0" name="Text 8"/>
          <p:cNvSpPr/>
          <p:nvPr/>
        </p:nvSpPr>
        <p:spPr>
          <a:xfrm>
            <a:off x="5833872" y="1645920"/>
            <a:ext cx="2103120" cy="1005840"/>
          </a:xfrm>
          <a:prstGeom prst="rect">
            <a:avLst/>
          </a:prstGeom>
          <a:noFill/>
          <a:ln/>
        </p:spPr>
        <p:txBody>
          <a:bodyPr wrap="square" lIns="0" tIns="0" rIns="0" bIns="0" rtlCol="0" anchor="t"/>
          <a:lstStyle/>
          <a:p>
            <a:pPr marL="0" indent="0">
              <a:buNone/>
            </a:pPr>
            <a:r>
              <a:rPr lang="en-US" sz="1900" b="1" dirty="0">
                <a:solidFill>
                  <a:srgbClr val="FF6A2B"/>
                </a:solidFill>
                <a:latin typeface="Cambria" pitchFamily="34" charset="0"/>
                <a:ea typeface="Cambria" pitchFamily="34" charset="-122"/>
                <a:cs typeface="Cambria" pitchFamily="34" charset="-120"/>
              </a:rPr>
              <a:t>The string is fine</a:t>
            </a:r>
            <a:endParaRPr lang="en-US" sz="1900" dirty="0"/>
          </a:p>
        </p:txBody>
      </p:sp>
      <p:sp>
        <p:nvSpPr>
          <p:cNvPr id="11" name="Text 9"/>
          <p:cNvSpPr/>
          <p:nvPr/>
        </p:nvSpPr>
        <p:spPr>
          <a:xfrm>
            <a:off x="8092440" y="1664208"/>
            <a:ext cx="3291840" cy="1005840"/>
          </a:xfrm>
          <a:prstGeom prst="rect">
            <a:avLst/>
          </a:prstGeom>
          <a:noFill/>
          <a:ln/>
        </p:spPr>
        <p:txBody>
          <a:bodyPr wrap="square" lIns="0" tIns="0" rIns="0" bIns="0" rtlCol="0" anchor="t"/>
          <a:lstStyle/>
          <a:p>
            <a:pPr marL="0" indent="0">
              <a:buNone/>
            </a:pPr>
            <a:r>
              <a:rPr lang="en-US" sz="1150" dirty="0">
                <a:solidFill>
                  <a:srgbClr val="44566C"/>
                </a:solidFill>
                <a:latin typeface="Calibri" pitchFamily="34" charset="0"/>
                <a:ea typeface="Calibri" pitchFamily="34" charset="-122"/>
                <a:cs typeface="Calibri" pitchFamily="34" charset="-120"/>
              </a:rPr>
              <a:t>Translation QA checks the words. It does not check that they still fit — expansion, truncation, font fallback and RTL mirroring break layouts that were correct in the source language.</a:t>
            </a:r>
            <a:endParaRPr lang="en-US" sz="1150" dirty="0"/>
          </a:p>
        </p:txBody>
      </p:sp>
      <p:sp>
        <p:nvSpPr>
          <p:cNvPr id="12" name="Shape 10"/>
          <p:cNvSpPr/>
          <p:nvPr/>
        </p:nvSpPr>
        <p:spPr>
          <a:xfrm>
            <a:off x="5532120" y="2980944"/>
            <a:ext cx="6089904" cy="1371600"/>
          </a:xfrm>
          <a:prstGeom prst="roundRect">
            <a:avLst>
              <a:gd name="adj" fmla="val 60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3" name="Text 11"/>
          <p:cNvSpPr/>
          <p:nvPr/>
        </p:nvSpPr>
        <p:spPr>
          <a:xfrm>
            <a:off x="5833872" y="3163824"/>
            <a:ext cx="2103120" cy="1005840"/>
          </a:xfrm>
          <a:prstGeom prst="rect">
            <a:avLst/>
          </a:prstGeom>
          <a:noFill/>
          <a:ln/>
        </p:spPr>
        <p:txBody>
          <a:bodyPr wrap="square" lIns="0" tIns="0" rIns="0" bIns="0" rtlCol="0" anchor="t"/>
          <a:lstStyle/>
          <a:p>
            <a:pPr marL="0" indent="0">
              <a:buNone/>
            </a:pPr>
            <a:r>
              <a:rPr lang="en-US" sz="1900" b="1" dirty="0">
                <a:solidFill>
                  <a:srgbClr val="35608F"/>
                </a:solidFill>
                <a:latin typeface="Cambria" pitchFamily="34" charset="0"/>
                <a:ea typeface="Cambria" pitchFamily="34" charset="-122"/>
                <a:cs typeface="Cambria" pitchFamily="34" charset="-120"/>
              </a:rPr>
              <a:t>2,000 screens</a:t>
            </a:r>
            <a:endParaRPr lang="en-US" sz="1900" dirty="0"/>
          </a:p>
        </p:txBody>
      </p:sp>
      <p:sp>
        <p:nvSpPr>
          <p:cNvPr id="14" name="Text 12"/>
          <p:cNvSpPr/>
          <p:nvPr/>
        </p:nvSpPr>
        <p:spPr>
          <a:xfrm>
            <a:off x="8092440" y="3182112"/>
            <a:ext cx="3291840" cy="1005840"/>
          </a:xfrm>
          <a:prstGeom prst="rect">
            <a:avLst/>
          </a:prstGeom>
          <a:noFill/>
          <a:ln/>
        </p:spPr>
        <p:txBody>
          <a:bodyPr wrap="square" lIns="0" tIns="0" rIns="0" bIns="0" rtlCol="0" anchor="t"/>
          <a:lstStyle/>
          <a:p>
            <a:pPr marL="0" indent="0">
              <a:buNone/>
            </a:pPr>
            <a:r>
              <a:rPr lang="en-US" sz="1150" dirty="0">
                <a:solidFill>
                  <a:srgbClr val="44566C"/>
                </a:solidFill>
                <a:latin typeface="Calibri" pitchFamily="34" charset="0"/>
                <a:ea typeface="Calibri" pitchFamily="34" charset="-122"/>
                <a:cs typeface="Calibri" pitchFamily="34" charset="-120"/>
              </a:rPr>
              <a:t>40 screens × 25 locales × 2 devices, for one release. Human review is accurate, and its cost is linear in that number.</a:t>
            </a:r>
            <a:endParaRPr lang="en-US" sz="1150" dirty="0"/>
          </a:p>
        </p:txBody>
      </p:sp>
      <p:sp>
        <p:nvSpPr>
          <p:cNvPr id="15" name="Shape 13"/>
          <p:cNvSpPr/>
          <p:nvPr/>
        </p:nvSpPr>
        <p:spPr>
          <a:xfrm>
            <a:off x="5532120" y="4498848"/>
            <a:ext cx="6089904" cy="1371600"/>
          </a:xfrm>
          <a:prstGeom prst="roundRect">
            <a:avLst>
              <a:gd name="adj" fmla="val 60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6" name="Text 14"/>
          <p:cNvSpPr/>
          <p:nvPr/>
        </p:nvSpPr>
        <p:spPr>
          <a:xfrm>
            <a:off x="5833872" y="4681728"/>
            <a:ext cx="2103120" cy="1005840"/>
          </a:xfrm>
          <a:prstGeom prst="rect">
            <a:avLst/>
          </a:prstGeom>
          <a:noFill/>
          <a:ln/>
        </p:spPr>
        <p:txBody>
          <a:bodyPr wrap="square" lIns="0" tIns="0" rIns="0" bIns="0" rtlCol="0" anchor="t"/>
          <a:lstStyle/>
          <a:p>
            <a:pPr marL="0" indent="0">
              <a:buNone/>
            </a:pPr>
            <a:r>
              <a:rPr lang="en-US" sz="1900" b="1" dirty="0">
                <a:solidFill>
                  <a:srgbClr val="E8298F"/>
                </a:solidFill>
                <a:latin typeface="Cambria" pitchFamily="34" charset="0"/>
                <a:ea typeface="Cambria" pitchFamily="34" charset="-122"/>
                <a:cs typeface="Cambria" pitchFamily="34" charset="-120"/>
              </a:rPr>
              <a:t>A pixel diff cannot help</a:t>
            </a:r>
            <a:endParaRPr lang="en-US" sz="1900" dirty="0"/>
          </a:p>
        </p:txBody>
      </p:sp>
      <p:sp>
        <p:nvSpPr>
          <p:cNvPr id="17" name="Text 15"/>
          <p:cNvSpPr/>
          <p:nvPr/>
        </p:nvSpPr>
        <p:spPr>
          <a:xfrm>
            <a:off x="8092440" y="4700016"/>
            <a:ext cx="3291840" cy="1005840"/>
          </a:xfrm>
          <a:prstGeom prst="rect">
            <a:avLst/>
          </a:prstGeom>
          <a:noFill/>
          <a:ln/>
        </p:spPr>
        <p:txBody>
          <a:bodyPr wrap="square" lIns="0" tIns="0" rIns="0" bIns="0" rtlCol="0" anchor="t"/>
          <a:lstStyle/>
          <a:p>
            <a:pPr marL="0" indent="0">
              <a:buNone/>
            </a:pPr>
            <a:r>
              <a:rPr lang="en-US" sz="1150" dirty="0">
                <a:solidFill>
                  <a:srgbClr val="44566C"/>
                </a:solidFill>
                <a:latin typeface="Calibri" pitchFamily="34" charset="0"/>
                <a:ea typeface="Calibri" pitchFamily="34" charset="-122"/>
                <a:cs typeface="Calibri" pitchFamily="34" charset="-120"/>
              </a:rPr>
              <a:t>Every localised page differs from the source by design. "Something changed" carries no information here — the useful question is what changed.</a:t>
            </a:r>
            <a:endParaRPr lang="en-US" sz="1150" dirty="0"/>
          </a:p>
        </p:txBody>
      </p:sp>
      <p:sp>
        <p:nvSpPr>
          <p:cNvPr id="18" name="Text 16"/>
          <p:cNvSpPr/>
          <p:nvPr/>
        </p:nvSpPr>
        <p:spPr>
          <a:xfrm>
            <a:off x="5532120" y="5943600"/>
            <a:ext cx="6089904" cy="365760"/>
          </a:xfrm>
          <a:prstGeom prst="rect">
            <a:avLst/>
          </a:prstGeom>
          <a:noFill/>
          <a:ln/>
        </p:spPr>
        <p:txBody>
          <a:bodyPr wrap="square" lIns="0" tIns="0" rIns="0" bIns="0" rtlCol="0" anchor="ctr"/>
          <a:lstStyle/>
          <a:p>
            <a:pPr marL="0" indent="0">
              <a:buNone/>
            </a:pPr>
            <a:r>
              <a:rPr lang="en-US" sz="1050" i="1" dirty="0">
                <a:solidFill>
                  <a:srgbClr val="7A8DA0"/>
                </a:solidFill>
                <a:latin typeface="Calibri" pitchFamily="34" charset="0"/>
                <a:ea typeface="Calibri" pitchFamily="34" charset="-122"/>
                <a:cs typeface="Calibri" pitchFamily="34" charset="-120"/>
              </a:rPr>
              <a:t>Illustrative arithmetic, not a Centific figure. The shape is what matters: verification cost multiplies by locale.</a:t>
            </a:r>
            <a:endParaRPr lang="en-US" sz="1050" dirty="0"/>
          </a:p>
        </p:txBody>
      </p:sp>
      <p:sp>
        <p:nvSpPr>
          <p:cNvPr id="19" name="Text 17"/>
          <p:cNvSpPr/>
          <p:nvPr/>
        </p:nvSpPr>
        <p:spPr>
          <a:xfrm>
            <a:off x="566928" y="5897880"/>
            <a:ext cx="4754880" cy="457200"/>
          </a:xfrm>
          <a:prstGeom prst="rect">
            <a:avLst/>
          </a:prstGeom>
          <a:noFill/>
          <a:ln/>
        </p:spPr>
        <p:txBody>
          <a:bodyPr wrap="square" lIns="0" tIns="0" rIns="0" bIns="0" rtlCol="0" anchor="ctr"/>
          <a:lstStyle/>
          <a:p>
            <a:pPr marL="0" indent="0">
              <a:buNone/>
            </a:pPr>
            <a:r>
              <a:rPr lang="en-US" sz="1350" i="1" dirty="0">
                <a:solidFill>
                  <a:srgbClr val="0F2742"/>
                </a:solidFill>
                <a:latin typeface="Calibri" pitchFamily="34" charset="0"/>
                <a:ea typeface="Calibri" pitchFamily="34" charset="-122"/>
                <a:cs typeface="Calibri" pitchFamily="34" charset="-120"/>
              </a:rPr>
              <a:t>Nothing in a build pipeline looks at the rendered page.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TARGET MARKET</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Who this is for, and what they use today</a:t>
            </a:r>
            <a:endParaRPr lang="en-US" sz="3200" dirty="0"/>
          </a:p>
        </p:txBody>
      </p:sp>
      <p:sp>
        <p:nvSpPr>
          <p:cNvPr id="4" name="Shape 2"/>
          <p:cNvSpPr/>
          <p:nvPr/>
        </p:nvSpPr>
        <p:spPr>
          <a:xfrm>
            <a:off x="566928" y="1463040"/>
            <a:ext cx="5120640" cy="1143000"/>
          </a:xfrm>
          <a:prstGeom prst="roundRect">
            <a:avLst>
              <a:gd name="adj" fmla="val 72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5" name="Shape 3"/>
          <p:cNvSpPr/>
          <p:nvPr/>
        </p:nvSpPr>
        <p:spPr>
          <a:xfrm>
            <a:off x="841248" y="1719072"/>
            <a:ext cx="292608" cy="292608"/>
          </a:xfrm>
          <a:prstGeom prst="ellipse">
            <a:avLst/>
          </a:prstGeom>
          <a:solidFill>
            <a:srgbClr val="FF6A2B"/>
          </a:solidFill>
          <a:ln/>
        </p:spPr>
        <p:txBody>
          <a:bodyPr/>
          <a:lstStyle/>
          <a:p>
            <a:endParaRPr lang="en-MY"/>
          </a:p>
        </p:txBody>
      </p:sp>
      <p:sp>
        <p:nvSpPr>
          <p:cNvPr id="6" name="Text 4"/>
          <p:cNvSpPr/>
          <p:nvPr/>
        </p:nvSpPr>
        <p:spPr>
          <a:xfrm>
            <a:off x="1298448" y="1645920"/>
            <a:ext cx="4114800" cy="320040"/>
          </a:xfrm>
          <a:prstGeom prst="rect">
            <a:avLst/>
          </a:prstGeom>
          <a:noFill/>
          <a:ln/>
        </p:spPr>
        <p:txBody>
          <a:bodyPr wrap="square" lIns="0" tIns="0" rIns="0" bIns="0" rtlCol="0" anchor="ctr"/>
          <a:lstStyle/>
          <a:p>
            <a:pPr marL="0" indent="0">
              <a:buNone/>
            </a:pPr>
            <a:r>
              <a:rPr lang="en-US" sz="1500" b="1" dirty="0">
                <a:solidFill>
                  <a:srgbClr val="0F2742"/>
                </a:solidFill>
                <a:latin typeface="Calibri" pitchFamily="34" charset="0"/>
                <a:ea typeface="Calibri" pitchFamily="34" charset="-122"/>
                <a:cs typeface="Calibri" pitchFamily="34" charset="-120"/>
              </a:rPr>
              <a:t>Primary</a:t>
            </a:r>
            <a:endParaRPr lang="en-US" sz="1500" dirty="0"/>
          </a:p>
        </p:txBody>
      </p:sp>
      <p:sp>
        <p:nvSpPr>
          <p:cNvPr id="7" name="Text 5"/>
          <p:cNvSpPr/>
          <p:nvPr/>
        </p:nvSpPr>
        <p:spPr>
          <a:xfrm>
            <a:off x="1298448" y="2011680"/>
            <a:ext cx="4114800" cy="502920"/>
          </a:xfrm>
          <a:prstGeom prst="rect">
            <a:avLst/>
          </a:prstGeom>
          <a:noFill/>
          <a:ln/>
        </p:spPr>
        <p:txBody>
          <a:bodyPr wrap="square" lIns="0" tIns="0" rIns="0" bIns="0" rtlCol="0" anchor="t"/>
          <a:lstStyle/>
          <a:p>
            <a:pPr marL="0" indent="0">
              <a:buNone/>
            </a:pPr>
            <a:r>
              <a:rPr lang="en-US" sz="1250" dirty="0">
                <a:solidFill>
                  <a:srgbClr val="44566C"/>
                </a:solidFill>
                <a:latin typeface="Calibri" pitchFamily="34" charset="0"/>
                <a:ea typeface="Calibri" pitchFamily="34" charset="-122"/>
                <a:cs typeface="Calibri" pitchFamily="34" charset="-120"/>
              </a:rPr>
              <a:t>Localisation and globalisation vendors, and the in-house teams they deliver into - anyone signing off the same product in many locales.</a:t>
            </a:r>
            <a:endParaRPr lang="en-US" sz="1250" dirty="0"/>
          </a:p>
        </p:txBody>
      </p:sp>
      <p:sp>
        <p:nvSpPr>
          <p:cNvPr id="8" name="Shape 6"/>
          <p:cNvSpPr/>
          <p:nvPr/>
        </p:nvSpPr>
        <p:spPr>
          <a:xfrm>
            <a:off x="566928" y="2788920"/>
            <a:ext cx="5120640" cy="1737360"/>
          </a:xfrm>
          <a:prstGeom prst="roundRect">
            <a:avLst>
              <a:gd name="adj" fmla="val 4737"/>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9" name="Shape 7"/>
          <p:cNvSpPr/>
          <p:nvPr/>
        </p:nvSpPr>
        <p:spPr>
          <a:xfrm>
            <a:off x="841248" y="3044952"/>
            <a:ext cx="292608" cy="292608"/>
          </a:xfrm>
          <a:prstGeom prst="ellipse">
            <a:avLst/>
          </a:prstGeom>
          <a:solidFill>
            <a:srgbClr val="E8298F"/>
          </a:solidFill>
          <a:ln/>
        </p:spPr>
        <p:txBody>
          <a:bodyPr/>
          <a:lstStyle/>
          <a:p>
            <a:endParaRPr lang="en-MY"/>
          </a:p>
        </p:txBody>
      </p:sp>
      <p:sp>
        <p:nvSpPr>
          <p:cNvPr id="10" name="Text 8"/>
          <p:cNvSpPr/>
          <p:nvPr/>
        </p:nvSpPr>
        <p:spPr>
          <a:xfrm>
            <a:off x="1298448" y="2971800"/>
            <a:ext cx="4114800" cy="320040"/>
          </a:xfrm>
          <a:prstGeom prst="rect">
            <a:avLst/>
          </a:prstGeom>
          <a:noFill/>
          <a:ln/>
        </p:spPr>
        <p:txBody>
          <a:bodyPr wrap="square" lIns="0" tIns="0" rIns="0" bIns="0" rtlCol="0" anchor="ctr"/>
          <a:lstStyle/>
          <a:p>
            <a:pPr marL="0" indent="0">
              <a:buNone/>
            </a:pPr>
            <a:r>
              <a:rPr lang="en-US" sz="1500" b="1" dirty="0">
                <a:solidFill>
                  <a:srgbClr val="0F2742"/>
                </a:solidFill>
                <a:latin typeface="Calibri" pitchFamily="34" charset="0"/>
                <a:ea typeface="Calibri" pitchFamily="34" charset="-122"/>
                <a:cs typeface="Calibri" pitchFamily="34" charset="-120"/>
              </a:rPr>
              <a:t>The niche we own</a:t>
            </a:r>
            <a:endParaRPr lang="en-US" sz="1500" dirty="0"/>
          </a:p>
        </p:txBody>
      </p:sp>
      <p:sp>
        <p:nvSpPr>
          <p:cNvPr id="11" name="Text 9"/>
          <p:cNvSpPr/>
          <p:nvPr/>
        </p:nvSpPr>
        <p:spPr>
          <a:xfrm>
            <a:off x="1298448" y="3337560"/>
            <a:ext cx="4114800" cy="1097280"/>
          </a:xfrm>
          <a:prstGeom prst="rect">
            <a:avLst/>
          </a:prstGeom>
          <a:noFill/>
          <a:ln/>
        </p:spPr>
        <p:txBody>
          <a:bodyPr wrap="square" lIns="0" tIns="0" rIns="0" bIns="0" rtlCol="0" anchor="t"/>
          <a:lstStyle/>
          <a:p>
            <a:pPr marL="0" indent="0">
              <a:buNone/>
            </a:pPr>
            <a:r>
              <a:rPr lang="en-US" sz="1250" dirty="0">
                <a:solidFill>
                  <a:srgbClr val="44566C"/>
                </a:solidFill>
                <a:latin typeface="Calibri" pitchFamily="34" charset="0"/>
                <a:ea typeface="Calibri" pitchFamily="34" charset="-122"/>
                <a:cs typeface="Calibri" pitchFamily="34" charset="-120"/>
              </a:rPr>
              <a:t>Multi-locale UI verification. Locale, timezone and device are part of a baseline's identity, so the Japanese page is judged against the approved Japanese page - never against English. And it self-hosts, which matters when the screens belong to an enterprise client.</a:t>
            </a:r>
            <a:endParaRPr lang="en-US" sz="1250" dirty="0"/>
          </a:p>
        </p:txBody>
      </p:sp>
      <p:sp>
        <p:nvSpPr>
          <p:cNvPr id="12" name="Shape 10"/>
          <p:cNvSpPr/>
          <p:nvPr/>
        </p:nvSpPr>
        <p:spPr>
          <a:xfrm>
            <a:off x="566928" y="4709160"/>
            <a:ext cx="5120640" cy="1143000"/>
          </a:xfrm>
          <a:prstGeom prst="roundRect">
            <a:avLst>
              <a:gd name="adj" fmla="val 72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3" name="Shape 11"/>
          <p:cNvSpPr/>
          <p:nvPr/>
        </p:nvSpPr>
        <p:spPr>
          <a:xfrm>
            <a:off x="841248" y="4965192"/>
            <a:ext cx="292608" cy="292608"/>
          </a:xfrm>
          <a:prstGeom prst="ellipse">
            <a:avLst/>
          </a:prstGeom>
          <a:solidFill>
            <a:srgbClr val="35608F"/>
          </a:solidFill>
          <a:ln/>
        </p:spPr>
        <p:txBody>
          <a:bodyPr/>
          <a:lstStyle/>
          <a:p>
            <a:endParaRPr lang="en-MY"/>
          </a:p>
        </p:txBody>
      </p:sp>
      <p:sp>
        <p:nvSpPr>
          <p:cNvPr id="14" name="Text 12"/>
          <p:cNvSpPr/>
          <p:nvPr/>
        </p:nvSpPr>
        <p:spPr>
          <a:xfrm>
            <a:off x="1298448" y="4892040"/>
            <a:ext cx="4114800" cy="320040"/>
          </a:xfrm>
          <a:prstGeom prst="rect">
            <a:avLst/>
          </a:prstGeom>
          <a:noFill/>
          <a:ln/>
        </p:spPr>
        <p:txBody>
          <a:bodyPr wrap="square" lIns="0" tIns="0" rIns="0" bIns="0" rtlCol="0" anchor="ctr"/>
          <a:lstStyle/>
          <a:p>
            <a:pPr marL="0" indent="0">
              <a:buNone/>
            </a:pPr>
            <a:r>
              <a:rPr lang="en-US" sz="1500" b="1" dirty="0">
                <a:solidFill>
                  <a:srgbClr val="0F2742"/>
                </a:solidFill>
                <a:latin typeface="Calibri" pitchFamily="34" charset="0"/>
                <a:ea typeface="Calibri" pitchFamily="34" charset="-122"/>
                <a:cs typeface="Calibri" pitchFamily="34" charset="-120"/>
              </a:rPr>
              <a:t>Secondary</a:t>
            </a:r>
            <a:endParaRPr lang="en-US" sz="1500" dirty="0"/>
          </a:p>
        </p:txBody>
      </p:sp>
      <p:sp>
        <p:nvSpPr>
          <p:cNvPr id="15" name="Text 13"/>
          <p:cNvSpPr/>
          <p:nvPr/>
        </p:nvSpPr>
        <p:spPr>
          <a:xfrm>
            <a:off x="1298448" y="5257800"/>
            <a:ext cx="4114800" cy="502920"/>
          </a:xfrm>
          <a:prstGeom prst="rect">
            <a:avLst/>
          </a:prstGeom>
          <a:noFill/>
          <a:ln/>
        </p:spPr>
        <p:txBody>
          <a:bodyPr wrap="square" lIns="0" tIns="0" rIns="0" bIns="0" rtlCol="0" anchor="t"/>
          <a:lstStyle/>
          <a:p>
            <a:pPr marL="0" indent="0">
              <a:buNone/>
            </a:pPr>
            <a:r>
              <a:rPr lang="en-US" sz="1250" dirty="0">
                <a:solidFill>
                  <a:srgbClr val="44566C"/>
                </a:solidFill>
                <a:latin typeface="Calibri" pitchFamily="34" charset="0"/>
                <a:ea typeface="Calibri" pitchFamily="34" charset="-122"/>
                <a:cs typeface="Calibri" pitchFamily="34" charset="-120"/>
              </a:rPr>
              <a:t>Product teams shipping weekly in one or two languages, and agencies running many client sites on one deployment.</a:t>
            </a:r>
            <a:endParaRPr lang="en-US" sz="1250" dirty="0"/>
          </a:p>
        </p:txBody>
      </p:sp>
      <p:sp>
        <p:nvSpPr>
          <p:cNvPr id="16" name="Text 14"/>
          <p:cNvSpPr/>
          <p:nvPr/>
        </p:nvSpPr>
        <p:spPr>
          <a:xfrm>
            <a:off x="5989320" y="1463040"/>
            <a:ext cx="5641848" cy="274320"/>
          </a:xfrm>
          <a:prstGeom prst="rect">
            <a:avLst/>
          </a:prstGeom>
          <a:noFill/>
          <a:ln/>
        </p:spPr>
        <p:txBody>
          <a:bodyPr wrap="square" lIns="0" tIns="0" rIns="0" bIns="0" rtlCol="0" anchor="ctr"/>
          <a:lstStyle/>
          <a:p>
            <a:pPr marL="0" indent="0">
              <a:buNone/>
            </a:pPr>
            <a:r>
              <a:rPr lang="en-US" sz="1100" b="1" kern="0" spc="160" dirty="0">
                <a:solidFill>
                  <a:srgbClr val="6B8CAE"/>
                </a:solidFill>
                <a:latin typeface="Calibri" pitchFamily="34" charset="0"/>
                <a:ea typeface="Calibri" pitchFamily="34" charset="-122"/>
                <a:cs typeface="Calibri" pitchFamily="34" charset="-120"/>
              </a:rPr>
              <a:t>WHAT THEY BUY TODAY</a:t>
            </a:r>
            <a:endParaRPr lang="en-US" sz="1100" dirty="0"/>
          </a:p>
        </p:txBody>
      </p:sp>
      <p:sp>
        <p:nvSpPr>
          <p:cNvPr id="17" name="Text 15"/>
          <p:cNvSpPr/>
          <p:nvPr/>
        </p:nvSpPr>
        <p:spPr>
          <a:xfrm>
            <a:off x="7589520" y="1810512"/>
            <a:ext cx="1554480" cy="256032"/>
          </a:xfrm>
          <a:prstGeom prst="rect">
            <a:avLst/>
          </a:prstGeom>
          <a:noFill/>
          <a:ln/>
        </p:spPr>
        <p:txBody>
          <a:bodyPr wrap="square" lIns="0" tIns="0" rIns="0" bIns="0" rtlCol="0" anchor="ctr"/>
          <a:lstStyle/>
          <a:p>
            <a:pPr marL="0" indent="0">
              <a:buNone/>
            </a:pPr>
            <a:r>
              <a:rPr lang="en-US" sz="1050" b="1" dirty="0">
                <a:solidFill>
                  <a:srgbClr val="6B8CAE"/>
                </a:solidFill>
                <a:latin typeface="Calibri" pitchFamily="34" charset="0"/>
                <a:ea typeface="Calibri" pitchFamily="34" charset="-122"/>
                <a:cs typeface="Calibri" pitchFamily="34" charset="-120"/>
              </a:rPr>
              <a:t>Hosting</a:t>
            </a:r>
            <a:endParaRPr lang="en-US" sz="1050" dirty="0"/>
          </a:p>
        </p:txBody>
      </p:sp>
      <p:sp>
        <p:nvSpPr>
          <p:cNvPr id="18" name="Text 16"/>
          <p:cNvSpPr/>
          <p:nvPr/>
        </p:nvSpPr>
        <p:spPr>
          <a:xfrm>
            <a:off x="9235440" y="1810512"/>
            <a:ext cx="2377440" cy="256032"/>
          </a:xfrm>
          <a:prstGeom prst="rect">
            <a:avLst/>
          </a:prstGeom>
          <a:noFill/>
          <a:ln/>
        </p:spPr>
        <p:txBody>
          <a:bodyPr wrap="square" lIns="0" tIns="0" rIns="0" bIns="0" rtlCol="0" anchor="ctr"/>
          <a:lstStyle/>
          <a:p>
            <a:pPr marL="0" indent="0">
              <a:buNone/>
            </a:pPr>
            <a:r>
              <a:rPr lang="en-US" sz="1050" b="1" dirty="0">
                <a:solidFill>
                  <a:srgbClr val="6B8CAE"/>
                </a:solidFill>
                <a:latin typeface="Calibri" pitchFamily="34" charset="0"/>
                <a:ea typeface="Calibri" pitchFamily="34" charset="-122"/>
                <a:cs typeface="Calibri" pitchFamily="34" charset="-120"/>
              </a:rPr>
              <a:t>Cost model</a:t>
            </a:r>
            <a:endParaRPr lang="en-US" sz="1050" dirty="0"/>
          </a:p>
        </p:txBody>
      </p:sp>
      <p:sp>
        <p:nvSpPr>
          <p:cNvPr id="19" name="Shape 17"/>
          <p:cNvSpPr/>
          <p:nvPr/>
        </p:nvSpPr>
        <p:spPr>
          <a:xfrm>
            <a:off x="5989320" y="2121408"/>
            <a:ext cx="5641848" cy="841248"/>
          </a:xfrm>
          <a:prstGeom prst="roundRect">
            <a:avLst>
              <a:gd name="adj" fmla="val 9783"/>
            </a:avLst>
          </a:prstGeom>
          <a:solidFill>
            <a:srgbClr val="FFFFFF"/>
          </a:solidFill>
          <a:ln/>
        </p:spPr>
        <p:txBody>
          <a:bodyPr/>
          <a:lstStyle/>
          <a:p>
            <a:endParaRPr lang="en-MY"/>
          </a:p>
        </p:txBody>
      </p:sp>
      <p:sp>
        <p:nvSpPr>
          <p:cNvPr id="20" name="Text 18"/>
          <p:cNvSpPr/>
          <p:nvPr/>
        </p:nvSpPr>
        <p:spPr>
          <a:xfrm>
            <a:off x="6190488" y="2121408"/>
            <a:ext cx="1463040" cy="841248"/>
          </a:xfrm>
          <a:prstGeom prst="rect">
            <a:avLst/>
          </a:prstGeom>
          <a:noFill/>
          <a:ln/>
        </p:spPr>
        <p:txBody>
          <a:bodyPr wrap="square" lIns="0" tIns="0" rIns="0" bIns="0" rtlCol="0" anchor="ctr"/>
          <a:lstStyle/>
          <a:p>
            <a:pPr marL="0" indent="0">
              <a:buNone/>
            </a:pPr>
            <a:r>
              <a:rPr lang="en-US" sz="1150" b="1" dirty="0">
                <a:solidFill>
                  <a:srgbClr val="0F2742"/>
                </a:solidFill>
                <a:latin typeface="Calibri" pitchFamily="34" charset="0"/>
                <a:ea typeface="Calibri" pitchFamily="34" charset="-122"/>
                <a:cs typeface="Calibri" pitchFamily="34" charset="-120"/>
              </a:rPr>
              <a:t>Percy (BrowserStack)</a:t>
            </a:r>
            <a:endParaRPr lang="en-US" sz="1150" dirty="0"/>
          </a:p>
        </p:txBody>
      </p:sp>
      <p:sp>
        <p:nvSpPr>
          <p:cNvPr id="21" name="Text 19"/>
          <p:cNvSpPr/>
          <p:nvPr/>
        </p:nvSpPr>
        <p:spPr>
          <a:xfrm>
            <a:off x="7589520" y="2121408"/>
            <a:ext cx="1600200" cy="841248"/>
          </a:xfrm>
          <a:prstGeom prst="rect">
            <a:avLst/>
          </a:prstGeom>
          <a:noFill/>
          <a:ln/>
        </p:spPr>
        <p:txBody>
          <a:bodyPr wrap="square" lIns="0" tIns="0" rIns="0" bIns="0" rtlCol="0" anchor="ctr"/>
          <a:lstStyle/>
          <a:p>
            <a:pPr marL="0" indent="0">
              <a:buNone/>
            </a:pPr>
            <a:r>
              <a:rPr lang="en-US" sz="1100" dirty="0">
                <a:solidFill>
                  <a:srgbClr val="44566C"/>
                </a:solidFill>
                <a:latin typeface="Calibri" pitchFamily="34" charset="0"/>
                <a:ea typeface="Calibri" pitchFamily="34" charset="-122"/>
                <a:cs typeface="Calibri" pitchFamily="34" charset="-120"/>
              </a:rPr>
              <a:t>Cloud only</a:t>
            </a:r>
            <a:endParaRPr lang="en-US" sz="1100" dirty="0"/>
          </a:p>
        </p:txBody>
      </p:sp>
      <p:sp>
        <p:nvSpPr>
          <p:cNvPr id="22" name="Text 20"/>
          <p:cNvSpPr/>
          <p:nvPr/>
        </p:nvSpPr>
        <p:spPr>
          <a:xfrm>
            <a:off x="9235440" y="2121408"/>
            <a:ext cx="2240280" cy="841248"/>
          </a:xfrm>
          <a:prstGeom prst="rect">
            <a:avLst/>
          </a:prstGeom>
          <a:noFill/>
          <a:ln/>
        </p:spPr>
        <p:txBody>
          <a:bodyPr wrap="square" lIns="0" tIns="0" rIns="0" bIns="0" rtlCol="0" anchor="ctr"/>
          <a:lstStyle/>
          <a:p>
            <a:pPr marL="0" indent="0">
              <a:buNone/>
            </a:pPr>
            <a:r>
              <a:rPr lang="en-US" sz="1100" dirty="0">
                <a:solidFill>
                  <a:srgbClr val="44566C"/>
                </a:solidFill>
                <a:latin typeface="Calibri" pitchFamily="34" charset="0"/>
                <a:ea typeface="Calibri" pitchFamily="34" charset="-122"/>
                <a:cs typeface="Calibri" pitchFamily="34" charset="-120"/>
              </a:rPr>
              <a:t>Free to 5,000 snapshots/mo,</a:t>
            </a:r>
            <a:endParaRPr lang="en-US" sz="1100" dirty="0"/>
          </a:p>
          <a:p>
            <a:pPr marL="0" indent="0">
              <a:buNone/>
            </a:pPr>
            <a:r>
              <a:rPr lang="en-US" sz="1100" dirty="0">
                <a:solidFill>
                  <a:srgbClr val="44566C"/>
                </a:solidFill>
                <a:latin typeface="Calibri" pitchFamily="34" charset="0"/>
                <a:ea typeface="Calibri" pitchFamily="34" charset="-122"/>
                <a:cs typeface="Calibri" pitchFamily="34" charset="-120"/>
              </a:rPr>
              <a:t>then from $199/mo</a:t>
            </a:r>
            <a:endParaRPr lang="en-US" sz="1100" dirty="0"/>
          </a:p>
        </p:txBody>
      </p:sp>
      <p:sp>
        <p:nvSpPr>
          <p:cNvPr id="23" name="Shape 21"/>
          <p:cNvSpPr/>
          <p:nvPr/>
        </p:nvSpPr>
        <p:spPr>
          <a:xfrm>
            <a:off x="5989320" y="3072384"/>
            <a:ext cx="5641848" cy="841248"/>
          </a:xfrm>
          <a:prstGeom prst="roundRect">
            <a:avLst>
              <a:gd name="adj" fmla="val 9783"/>
            </a:avLst>
          </a:prstGeom>
          <a:solidFill>
            <a:srgbClr val="FFFFFF"/>
          </a:solidFill>
          <a:ln/>
        </p:spPr>
        <p:txBody>
          <a:bodyPr/>
          <a:lstStyle/>
          <a:p>
            <a:endParaRPr lang="en-MY"/>
          </a:p>
        </p:txBody>
      </p:sp>
      <p:sp>
        <p:nvSpPr>
          <p:cNvPr id="24" name="Text 22"/>
          <p:cNvSpPr/>
          <p:nvPr/>
        </p:nvSpPr>
        <p:spPr>
          <a:xfrm>
            <a:off x="6190488" y="3072384"/>
            <a:ext cx="1463040" cy="841248"/>
          </a:xfrm>
          <a:prstGeom prst="rect">
            <a:avLst/>
          </a:prstGeom>
          <a:noFill/>
          <a:ln/>
        </p:spPr>
        <p:txBody>
          <a:bodyPr wrap="square" lIns="0" tIns="0" rIns="0" bIns="0" rtlCol="0" anchor="ctr"/>
          <a:lstStyle/>
          <a:p>
            <a:pPr marL="0" indent="0">
              <a:buNone/>
            </a:pPr>
            <a:r>
              <a:rPr lang="en-US" sz="1150" b="1" dirty="0">
                <a:solidFill>
                  <a:srgbClr val="0F2742"/>
                </a:solidFill>
                <a:latin typeface="Calibri" pitchFamily="34" charset="0"/>
                <a:ea typeface="Calibri" pitchFamily="34" charset="-122"/>
                <a:cs typeface="Calibri" pitchFamily="34" charset="-120"/>
              </a:rPr>
              <a:t>Chromatic</a:t>
            </a:r>
            <a:endParaRPr lang="en-US" sz="1150" dirty="0"/>
          </a:p>
        </p:txBody>
      </p:sp>
      <p:sp>
        <p:nvSpPr>
          <p:cNvPr id="25" name="Text 23"/>
          <p:cNvSpPr/>
          <p:nvPr/>
        </p:nvSpPr>
        <p:spPr>
          <a:xfrm>
            <a:off x="7589520" y="3072384"/>
            <a:ext cx="1600200" cy="841248"/>
          </a:xfrm>
          <a:prstGeom prst="rect">
            <a:avLst/>
          </a:prstGeom>
          <a:noFill/>
          <a:ln/>
        </p:spPr>
        <p:txBody>
          <a:bodyPr wrap="square" lIns="0" tIns="0" rIns="0" bIns="0" rtlCol="0" anchor="ctr"/>
          <a:lstStyle/>
          <a:p>
            <a:pPr marL="0" indent="0">
              <a:buNone/>
            </a:pPr>
            <a:r>
              <a:rPr lang="en-US" sz="1100" dirty="0">
                <a:solidFill>
                  <a:srgbClr val="44566C"/>
                </a:solidFill>
                <a:latin typeface="Calibri" pitchFamily="34" charset="0"/>
                <a:ea typeface="Calibri" pitchFamily="34" charset="-122"/>
                <a:cs typeface="Calibri" pitchFamily="34" charset="-120"/>
              </a:rPr>
              <a:t>Cloud only</a:t>
            </a:r>
            <a:endParaRPr lang="en-US" sz="1100" dirty="0"/>
          </a:p>
        </p:txBody>
      </p:sp>
      <p:sp>
        <p:nvSpPr>
          <p:cNvPr id="26" name="Text 24"/>
          <p:cNvSpPr/>
          <p:nvPr/>
        </p:nvSpPr>
        <p:spPr>
          <a:xfrm>
            <a:off x="9235440" y="3072384"/>
            <a:ext cx="2240280" cy="841248"/>
          </a:xfrm>
          <a:prstGeom prst="rect">
            <a:avLst/>
          </a:prstGeom>
          <a:noFill/>
          <a:ln/>
        </p:spPr>
        <p:txBody>
          <a:bodyPr wrap="square" lIns="0" tIns="0" rIns="0" bIns="0" rtlCol="0" anchor="ctr"/>
          <a:lstStyle/>
          <a:p>
            <a:pPr marL="0" indent="0">
              <a:buNone/>
            </a:pPr>
            <a:r>
              <a:rPr lang="en-US" sz="1100" dirty="0">
                <a:solidFill>
                  <a:srgbClr val="44566C"/>
                </a:solidFill>
                <a:latin typeface="Calibri" pitchFamily="34" charset="0"/>
                <a:ea typeface="Calibri" pitchFamily="34" charset="-122"/>
                <a:cs typeface="Calibri" pitchFamily="34" charset="-120"/>
              </a:rPr>
              <a:t>Free to 5,000 snapshots/mo,</a:t>
            </a:r>
            <a:endParaRPr lang="en-US" sz="1100" dirty="0"/>
          </a:p>
          <a:p>
            <a:pPr marL="0" indent="0">
              <a:buNone/>
            </a:pPr>
            <a:r>
              <a:rPr lang="en-US" sz="1100" dirty="0">
                <a:solidFill>
                  <a:srgbClr val="44566C"/>
                </a:solidFill>
                <a:latin typeface="Calibri" pitchFamily="34" charset="0"/>
                <a:ea typeface="Calibri" pitchFamily="34" charset="-122"/>
                <a:cs typeface="Calibri" pitchFamily="34" charset="-120"/>
              </a:rPr>
              <a:t>paid from $149/mo</a:t>
            </a:r>
            <a:endParaRPr lang="en-US" sz="1100" dirty="0"/>
          </a:p>
        </p:txBody>
      </p:sp>
      <p:sp>
        <p:nvSpPr>
          <p:cNvPr id="27" name="Shape 25"/>
          <p:cNvSpPr/>
          <p:nvPr/>
        </p:nvSpPr>
        <p:spPr>
          <a:xfrm>
            <a:off x="5989320" y="4023360"/>
            <a:ext cx="5641848" cy="841248"/>
          </a:xfrm>
          <a:prstGeom prst="roundRect">
            <a:avLst>
              <a:gd name="adj" fmla="val 9783"/>
            </a:avLst>
          </a:prstGeom>
          <a:solidFill>
            <a:srgbClr val="FFFFFF"/>
          </a:solidFill>
          <a:ln/>
        </p:spPr>
        <p:txBody>
          <a:bodyPr/>
          <a:lstStyle/>
          <a:p>
            <a:endParaRPr lang="en-MY"/>
          </a:p>
        </p:txBody>
      </p:sp>
      <p:sp>
        <p:nvSpPr>
          <p:cNvPr id="28" name="Text 26"/>
          <p:cNvSpPr/>
          <p:nvPr/>
        </p:nvSpPr>
        <p:spPr>
          <a:xfrm>
            <a:off x="6190488" y="4023360"/>
            <a:ext cx="1463040" cy="841248"/>
          </a:xfrm>
          <a:prstGeom prst="rect">
            <a:avLst/>
          </a:prstGeom>
          <a:noFill/>
          <a:ln/>
        </p:spPr>
        <p:txBody>
          <a:bodyPr wrap="square" lIns="0" tIns="0" rIns="0" bIns="0" rtlCol="0" anchor="ctr"/>
          <a:lstStyle/>
          <a:p>
            <a:pPr marL="0" indent="0">
              <a:buNone/>
            </a:pPr>
            <a:r>
              <a:rPr lang="en-US" sz="1150" b="1" dirty="0">
                <a:solidFill>
                  <a:srgbClr val="0F2742"/>
                </a:solidFill>
                <a:latin typeface="Calibri" pitchFamily="34" charset="0"/>
                <a:ea typeface="Calibri" pitchFamily="34" charset="-122"/>
                <a:cs typeface="Calibri" pitchFamily="34" charset="-120"/>
              </a:rPr>
              <a:t>Applitools Eyes</a:t>
            </a:r>
            <a:endParaRPr lang="en-US" sz="1150" dirty="0"/>
          </a:p>
        </p:txBody>
      </p:sp>
      <p:sp>
        <p:nvSpPr>
          <p:cNvPr id="29" name="Text 27"/>
          <p:cNvSpPr/>
          <p:nvPr/>
        </p:nvSpPr>
        <p:spPr>
          <a:xfrm>
            <a:off x="7589520" y="4023360"/>
            <a:ext cx="1600200" cy="841248"/>
          </a:xfrm>
          <a:prstGeom prst="rect">
            <a:avLst/>
          </a:prstGeom>
          <a:noFill/>
          <a:ln/>
        </p:spPr>
        <p:txBody>
          <a:bodyPr wrap="square" lIns="0" tIns="0" rIns="0" bIns="0" rtlCol="0" anchor="ctr"/>
          <a:lstStyle/>
          <a:p>
            <a:pPr marL="0" indent="0">
              <a:buNone/>
            </a:pPr>
            <a:r>
              <a:rPr lang="en-US" sz="1100" dirty="0">
                <a:solidFill>
                  <a:srgbClr val="44566C"/>
                </a:solidFill>
                <a:latin typeface="Calibri" pitchFamily="34" charset="0"/>
                <a:ea typeface="Calibri" pitchFamily="34" charset="-122"/>
                <a:cs typeface="Calibri" pitchFamily="34" charset="-120"/>
              </a:rPr>
              <a:t>Cloud</a:t>
            </a:r>
            <a:endParaRPr lang="en-US" sz="1100" dirty="0"/>
          </a:p>
        </p:txBody>
      </p:sp>
      <p:sp>
        <p:nvSpPr>
          <p:cNvPr id="30" name="Text 28"/>
          <p:cNvSpPr/>
          <p:nvPr/>
        </p:nvSpPr>
        <p:spPr>
          <a:xfrm>
            <a:off x="9235440" y="4023360"/>
            <a:ext cx="2240280" cy="841248"/>
          </a:xfrm>
          <a:prstGeom prst="rect">
            <a:avLst/>
          </a:prstGeom>
          <a:noFill/>
          <a:ln/>
        </p:spPr>
        <p:txBody>
          <a:bodyPr wrap="square" lIns="0" tIns="0" rIns="0" bIns="0" rtlCol="0" anchor="ctr"/>
          <a:lstStyle/>
          <a:p>
            <a:pPr marL="0" indent="0">
              <a:buNone/>
            </a:pPr>
            <a:r>
              <a:rPr lang="en-US" sz="1100" dirty="0">
                <a:solidFill>
                  <a:srgbClr val="44566C"/>
                </a:solidFill>
                <a:latin typeface="Calibri" pitchFamily="34" charset="0"/>
                <a:ea typeface="Calibri" pitchFamily="34" charset="-122"/>
                <a:cs typeface="Calibri" pitchFamily="34" charset="-120"/>
              </a:rPr>
              <a:t>Quote only — no public price</a:t>
            </a:r>
            <a:endParaRPr lang="en-US" sz="1100" dirty="0"/>
          </a:p>
        </p:txBody>
      </p:sp>
      <p:sp>
        <p:nvSpPr>
          <p:cNvPr id="31" name="Shape 29"/>
          <p:cNvSpPr/>
          <p:nvPr/>
        </p:nvSpPr>
        <p:spPr>
          <a:xfrm>
            <a:off x="5989320" y="4974336"/>
            <a:ext cx="5641848" cy="1051560"/>
          </a:xfrm>
          <a:prstGeom prst="roundRect">
            <a:avLst>
              <a:gd name="adj" fmla="val 7826"/>
            </a:avLst>
          </a:prstGeom>
          <a:solidFill>
            <a:srgbClr val="0F2742"/>
          </a:solidFill>
          <a:ln/>
        </p:spPr>
        <p:txBody>
          <a:bodyPr/>
          <a:lstStyle/>
          <a:p>
            <a:endParaRPr lang="en-MY"/>
          </a:p>
        </p:txBody>
      </p:sp>
      <p:sp>
        <p:nvSpPr>
          <p:cNvPr id="32" name="Text 30"/>
          <p:cNvSpPr/>
          <p:nvPr/>
        </p:nvSpPr>
        <p:spPr>
          <a:xfrm>
            <a:off x="6190488" y="4974336"/>
            <a:ext cx="1463040" cy="10515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Visual Regression</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Workbench</a:t>
            </a:r>
            <a:endParaRPr lang="en-US" sz="1150" dirty="0"/>
          </a:p>
        </p:txBody>
      </p:sp>
      <p:sp>
        <p:nvSpPr>
          <p:cNvPr id="33" name="Text 31"/>
          <p:cNvSpPr/>
          <p:nvPr/>
        </p:nvSpPr>
        <p:spPr>
          <a:xfrm>
            <a:off x="7589520" y="4974336"/>
            <a:ext cx="1600200" cy="1051560"/>
          </a:xfrm>
          <a:prstGeom prst="rect">
            <a:avLst/>
          </a:prstGeom>
          <a:noFill/>
          <a:ln/>
        </p:spPr>
        <p:txBody>
          <a:bodyPr wrap="square" lIns="0" tIns="0" rIns="0" bIns="0" rtlCol="0" anchor="ctr"/>
          <a:lstStyle/>
          <a:p>
            <a:pPr marL="0" indent="0">
              <a:buNone/>
            </a:pPr>
            <a:r>
              <a:rPr lang="en-US" sz="1100" dirty="0">
                <a:solidFill>
                  <a:srgbClr val="FF6A2B"/>
                </a:solidFill>
                <a:latin typeface="Calibri" pitchFamily="34" charset="0"/>
                <a:ea typeface="Calibri" pitchFamily="34" charset="-122"/>
                <a:cs typeface="Calibri" pitchFamily="34" charset="-120"/>
              </a:rPr>
              <a:t>Your own machines</a:t>
            </a:r>
            <a:endParaRPr lang="en-US" sz="1100" dirty="0"/>
          </a:p>
          <a:p>
            <a:pPr marL="0" indent="0">
              <a:buNone/>
            </a:pPr>
            <a:r>
              <a:rPr lang="en-US" sz="1100" dirty="0">
                <a:solidFill>
                  <a:srgbClr val="FF6A2B"/>
                </a:solidFill>
                <a:latin typeface="Calibri" pitchFamily="34" charset="0"/>
                <a:ea typeface="Calibri" pitchFamily="34" charset="-122"/>
                <a:cs typeface="Calibri" pitchFamily="34" charset="-120"/>
              </a:rPr>
              <a:t>(docker-compose up)</a:t>
            </a:r>
            <a:endParaRPr lang="en-US" sz="1100" dirty="0"/>
          </a:p>
        </p:txBody>
      </p:sp>
      <p:sp>
        <p:nvSpPr>
          <p:cNvPr id="34" name="Text 32"/>
          <p:cNvSpPr/>
          <p:nvPr/>
        </p:nvSpPr>
        <p:spPr>
          <a:xfrm>
            <a:off x="9235440" y="4974336"/>
            <a:ext cx="2240280" cy="1051560"/>
          </a:xfrm>
          <a:prstGeom prst="rect">
            <a:avLst/>
          </a:prstGeom>
          <a:noFill/>
          <a:ln/>
        </p:spPr>
        <p:txBody>
          <a:bodyPr wrap="square" lIns="0" tIns="0" rIns="0" bIns="0" rtlCol="0" anchor="ctr"/>
          <a:lstStyle/>
          <a:p>
            <a:pPr marL="0" indent="0">
              <a:buNone/>
            </a:pPr>
            <a:r>
              <a:rPr lang="en-US" sz="1100" dirty="0">
                <a:solidFill>
                  <a:srgbClr val="FF6A2B"/>
                </a:solidFill>
                <a:latin typeface="Calibri" pitchFamily="34" charset="0"/>
                <a:ea typeface="Calibri" pitchFamily="34" charset="-122"/>
                <a:cs typeface="Calibri" pitchFamily="34" charset="-120"/>
              </a:rPr>
              <a:t>No per-snapshot fee,</a:t>
            </a:r>
            <a:endParaRPr lang="en-US" sz="1100" dirty="0"/>
          </a:p>
          <a:p>
            <a:pPr marL="0" indent="0">
              <a:buNone/>
            </a:pPr>
            <a:r>
              <a:rPr lang="en-US" sz="1100" dirty="0">
                <a:solidFill>
                  <a:srgbClr val="FF6A2B"/>
                </a:solidFill>
                <a:latin typeface="Calibri" pitchFamily="34" charset="0"/>
                <a:ea typeface="Calibri" pitchFamily="34" charset="-122"/>
                <a:cs typeface="Calibri" pitchFamily="34" charset="-120"/>
              </a:rPr>
              <a:t>no snapshot ceiling</a:t>
            </a:r>
            <a:endParaRPr lang="en-US" sz="1100" dirty="0"/>
          </a:p>
        </p:txBody>
      </p:sp>
      <p:sp>
        <p:nvSpPr>
          <p:cNvPr id="35" name="Text 33"/>
          <p:cNvSpPr/>
          <p:nvPr/>
        </p:nvSpPr>
        <p:spPr>
          <a:xfrm>
            <a:off x="5989320" y="6089904"/>
            <a:ext cx="5641848" cy="365760"/>
          </a:xfrm>
          <a:prstGeom prst="rect">
            <a:avLst/>
          </a:prstGeom>
          <a:noFill/>
          <a:ln/>
        </p:spPr>
        <p:txBody>
          <a:bodyPr wrap="square" lIns="0" tIns="0" rIns="0" bIns="0" rtlCol="0" anchor="ctr"/>
          <a:lstStyle/>
          <a:p>
            <a:pPr marL="0" indent="0">
              <a:buNone/>
            </a:pPr>
            <a:r>
              <a:rPr lang="en-US" sz="1200" i="1" dirty="0">
                <a:solidFill>
                  <a:srgbClr val="0F2742"/>
                </a:solidFill>
                <a:latin typeface="Calibri" pitchFamily="34" charset="0"/>
                <a:ea typeface="Calibri" pitchFamily="34" charset="-122"/>
                <a:cs typeface="Calibri" pitchFamily="34" charset="-120"/>
              </a:rPr>
              <a:t>All three meter by snapshot - and a localised product multiplies snapshots by locale count.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WHY THEY SWITCH</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Four things the alternatives do not do</a:t>
            </a:r>
            <a:endParaRPr lang="en-US" sz="3200" dirty="0"/>
          </a:p>
        </p:txBody>
      </p:sp>
      <p:sp>
        <p:nvSpPr>
          <p:cNvPr id="4" name="Shape 2"/>
          <p:cNvSpPr/>
          <p:nvPr/>
        </p:nvSpPr>
        <p:spPr>
          <a:xfrm>
            <a:off x="566928" y="1417320"/>
            <a:ext cx="5852160" cy="1051560"/>
          </a:xfrm>
          <a:prstGeom prst="roundRect">
            <a:avLst>
              <a:gd name="adj" fmla="val 7826"/>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5" name="Shape 3"/>
          <p:cNvSpPr/>
          <p:nvPr/>
        </p:nvSpPr>
        <p:spPr>
          <a:xfrm>
            <a:off x="841248" y="1728216"/>
            <a:ext cx="402336" cy="402336"/>
          </a:xfrm>
          <a:prstGeom prst="ellipse">
            <a:avLst/>
          </a:prstGeom>
          <a:solidFill>
            <a:srgbClr val="FF6A2B"/>
          </a:solidFill>
          <a:ln/>
        </p:spPr>
        <p:txBody>
          <a:bodyPr/>
          <a:lstStyle/>
          <a:p>
            <a:endParaRPr lang="en-MY"/>
          </a:p>
        </p:txBody>
      </p:sp>
      <p:sp>
        <p:nvSpPr>
          <p:cNvPr id="6" name="Text 4"/>
          <p:cNvSpPr/>
          <p:nvPr/>
        </p:nvSpPr>
        <p:spPr>
          <a:xfrm>
            <a:off x="841248" y="17282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9888" y="1527048"/>
            <a:ext cx="4846320" cy="292608"/>
          </a:xfrm>
          <a:prstGeom prst="rect">
            <a:avLst/>
          </a:prstGeom>
          <a:noFill/>
          <a:ln/>
        </p:spPr>
        <p:txBody>
          <a:bodyPr wrap="square" lIns="0" tIns="0" rIns="0" bIns="0" rtlCol="0" anchor="t"/>
          <a:lstStyle/>
          <a:p>
            <a:pPr marL="0" indent="0">
              <a:buNone/>
            </a:pPr>
            <a:r>
              <a:rPr lang="en-US" sz="1500" b="1" dirty="0">
                <a:solidFill>
                  <a:srgbClr val="0F2742"/>
                </a:solidFill>
                <a:latin typeface="Calibri" pitchFamily="34" charset="0"/>
                <a:ea typeface="Calibri" pitchFamily="34" charset="-122"/>
                <a:cs typeface="Calibri" pitchFamily="34" charset="-120"/>
              </a:rPr>
              <a:t>It names the defect</a:t>
            </a:r>
            <a:endParaRPr lang="en-US" sz="1500" dirty="0"/>
          </a:p>
        </p:txBody>
      </p:sp>
      <p:sp>
        <p:nvSpPr>
          <p:cNvPr id="8" name="Text 6"/>
          <p:cNvSpPr/>
          <p:nvPr/>
        </p:nvSpPr>
        <p:spPr>
          <a:xfrm>
            <a:off x="1389888" y="1837944"/>
            <a:ext cx="4846320" cy="566928"/>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Not "2.7% of pixels changed" but "missing-element", with the element and its coordinates. The reviewer acts without opening the page.</a:t>
            </a:r>
            <a:endParaRPr lang="en-US" sz="1200" dirty="0"/>
          </a:p>
        </p:txBody>
      </p:sp>
      <p:sp>
        <p:nvSpPr>
          <p:cNvPr id="9" name="Shape 7"/>
          <p:cNvSpPr/>
          <p:nvPr/>
        </p:nvSpPr>
        <p:spPr>
          <a:xfrm>
            <a:off x="566928" y="2560320"/>
            <a:ext cx="5852160" cy="1051560"/>
          </a:xfrm>
          <a:prstGeom prst="roundRect">
            <a:avLst>
              <a:gd name="adj" fmla="val 7826"/>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0" name="Shape 8"/>
          <p:cNvSpPr/>
          <p:nvPr/>
        </p:nvSpPr>
        <p:spPr>
          <a:xfrm>
            <a:off x="841248" y="2871216"/>
            <a:ext cx="402336" cy="402336"/>
          </a:xfrm>
          <a:prstGeom prst="ellipse">
            <a:avLst/>
          </a:prstGeom>
          <a:solidFill>
            <a:srgbClr val="FF6A2B"/>
          </a:solidFill>
          <a:ln/>
        </p:spPr>
        <p:txBody>
          <a:bodyPr/>
          <a:lstStyle/>
          <a:p>
            <a:endParaRPr lang="en-MY"/>
          </a:p>
        </p:txBody>
      </p:sp>
      <p:sp>
        <p:nvSpPr>
          <p:cNvPr id="11" name="Text 9"/>
          <p:cNvSpPr/>
          <p:nvPr/>
        </p:nvSpPr>
        <p:spPr>
          <a:xfrm>
            <a:off x="841248" y="28712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89888" y="2670048"/>
            <a:ext cx="4846320" cy="292608"/>
          </a:xfrm>
          <a:prstGeom prst="rect">
            <a:avLst/>
          </a:prstGeom>
          <a:noFill/>
          <a:ln/>
        </p:spPr>
        <p:txBody>
          <a:bodyPr wrap="square" lIns="0" tIns="0" rIns="0" bIns="0" rtlCol="0" anchor="t"/>
          <a:lstStyle/>
          <a:p>
            <a:pPr marL="0" indent="0">
              <a:buNone/>
            </a:pPr>
            <a:r>
              <a:rPr lang="en-US" sz="1500" b="1" dirty="0">
                <a:solidFill>
                  <a:srgbClr val="0F2742"/>
                </a:solidFill>
                <a:latin typeface="Calibri" pitchFamily="34" charset="0"/>
                <a:ea typeface="Calibri" pitchFamily="34" charset="-122"/>
                <a:cs typeface="Calibri" pitchFamily="34" charset="-120"/>
              </a:rPr>
              <a:t>It stays trustworthy</a:t>
            </a:r>
            <a:endParaRPr lang="en-US" sz="1500" dirty="0"/>
          </a:p>
        </p:txBody>
      </p:sp>
      <p:sp>
        <p:nvSpPr>
          <p:cNvPr id="13" name="Text 11"/>
          <p:cNvSpPr/>
          <p:nvPr/>
        </p:nvSpPr>
        <p:spPr>
          <a:xfrm>
            <a:off x="1389888" y="2980944"/>
            <a:ext cx="4846320" cy="566928"/>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Structural confirmation and drawable ignore regions keep dynamic content from crying wolf, so the suite does not get muted.</a:t>
            </a:r>
            <a:endParaRPr lang="en-US" sz="1200" dirty="0"/>
          </a:p>
        </p:txBody>
      </p:sp>
      <p:sp>
        <p:nvSpPr>
          <p:cNvPr id="14" name="Shape 12"/>
          <p:cNvSpPr/>
          <p:nvPr/>
        </p:nvSpPr>
        <p:spPr>
          <a:xfrm>
            <a:off x="566928" y="3703320"/>
            <a:ext cx="5852160" cy="1051560"/>
          </a:xfrm>
          <a:prstGeom prst="roundRect">
            <a:avLst>
              <a:gd name="adj" fmla="val 7826"/>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5" name="Shape 13"/>
          <p:cNvSpPr/>
          <p:nvPr/>
        </p:nvSpPr>
        <p:spPr>
          <a:xfrm>
            <a:off x="841248" y="4014216"/>
            <a:ext cx="402336" cy="402336"/>
          </a:xfrm>
          <a:prstGeom prst="ellipse">
            <a:avLst/>
          </a:prstGeom>
          <a:solidFill>
            <a:srgbClr val="FF6A2B"/>
          </a:solidFill>
          <a:ln/>
        </p:spPr>
        <p:txBody>
          <a:bodyPr/>
          <a:lstStyle/>
          <a:p>
            <a:endParaRPr lang="en-MY"/>
          </a:p>
        </p:txBody>
      </p:sp>
      <p:sp>
        <p:nvSpPr>
          <p:cNvPr id="16" name="Text 14"/>
          <p:cNvSpPr/>
          <p:nvPr/>
        </p:nvSpPr>
        <p:spPr>
          <a:xfrm>
            <a:off x="841248" y="40142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89888" y="3813048"/>
            <a:ext cx="4846320" cy="292608"/>
          </a:xfrm>
          <a:prstGeom prst="rect">
            <a:avLst/>
          </a:prstGeom>
          <a:noFill/>
          <a:ln/>
        </p:spPr>
        <p:txBody>
          <a:bodyPr wrap="square" lIns="0" tIns="0" rIns="0" bIns="0" rtlCol="0" anchor="t"/>
          <a:lstStyle/>
          <a:p>
            <a:pPr marL="0" indent="0">
              <a:buNone/>
            </a:pPr>
            <a:r>
              <a:rPr lang="en-US" sz="1500" b="1" dirty="0">
                <a:solidFill>
                  <a:srgbClr val="0F2742"/>
                </a:solidFill>
                <a:latin typeface="Calibri" pitchFamily="34" charset="0"/>
                <a:ea typeface="Calibri" pitchFamily="34" charset="-122"/>
                <a:cs typeface="Calibri" pitchFamily="34" charset="-120"/>
              </a:rPr>
              <a:t>It compares like with like</a:t>
            </a:r>
            <a:endParaRPr lang="en-US" sz="1500" dirty="0"/>
          </a:p>
        </p:txBody>
      </p:sp>
      <p:sp>
        <p:nvSpPr>
          <p:cNvPr id="18" name="Text 16"/>
          <p:cNvSpPr/>
          <p:nvPr/>
        </p:nvSpPr>
        <p:spPr>
          <a:xfrm>
            <a:off x="1389888" y="4123944"/>
            <a:ext cx="4846320" cy="566928"/>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Locale and device are part of a baseline's identity, so the Japanese page is judged against the approved Japanese page - not against the English source.</a:t>
            </a:r>
            <a:endParaRPr lang="en-US" sz="1200" dirty="0"/>
          </a:p>
        </p:txBody>
      </p:sp>
      <p:sp>
        <p:nvSpPr>
          <p:cNvPr id="19" name="Shape 17"/>
          <p:cNvSpPr/>
          <p:nvPr/>
        </p:nvSpPr>
        <p:spPr>
          <a:xfrm>
            <a:off x="566928" y="4846320"/>
            <a:ext cx="5852160" cy="1051560"/>
          </a:xfrm>
          <a:prstGeom prst="roundRect">
            <a:avLst>
              <a:gd name="adj" fmla="val 7826"/>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20" name="Shape 18"/>
          <p:cNvSpPr/>
          <p:nvPr/>
        </p:nvSpPr>
        <p:spPr>
          <a:xfrm>
            <a:off x="841248" y="5157216"/>
            <a:ext cx="402336" cy="402336"/>
          </a:xfrm>
          <a:prstGeom prst="ellipse">
            <a:avLst/>
          </a:prstGeom>
          <a:solidFill>
            <a:srgbClr val="FF6A2B"/>
          </a:solidFill>
          <a:ln/>
        </p:spPr>
        <p:txBody>
          <a:bodyPr/>
          <a:lstStyle/>
          <a:p>
            <a:endParaRPr lang="en-MY"/>
          </a:p>
        </p:txBody>
      </p:sp>
      <p:sp>
        <p:nvSpPr>
          <p:cNvPr id="21" name="Text 19"/>
          <p:cNvSpPr/>
          <p:nvPr/>
        </p:nvSpPr>
        <p:spPr>
          <a:xfrm>
            <a:off x="841248" y="51572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389888" y="4956048"/>
            <a:ext cx="4846320" cy="292608"/>
          </a:xfrm>
          <a:prstGeom prst="rect">
            <a:avLst/>
          </a:prstGeom>
          <a:noFill/>
          <a:ln/>
        </p:spPr>
        <p:txBody>
          <a:bodyPr wrap="square" lIns="0" tIns="0" rIns="0" bIns="0" rtlCol="0" anchor="t"/>
          <a:lstStyle/>
          <a:p>
            <a:pPr marL="0" indent="0">
              <a:buNone/>
            </a:pPr>
            <a:r>
              <a:rPr lang="en-US" sz="1500" b="1" dirty="0">
                <a:solidFill>
                  <a:srgbClr val="0F2742"/>
                </a:solidFill>
                <a:latin typeface="Calibri" pitchFamily="34" charset="0"/>
                <a:ea typeface="Calibri" pitchFamily="34" charset="-122"/>
                <a:cs typeface="Calibri" pitchFamily="34" charset="-120"/>
              </a:rPr>
              <a:t>It runs on their machines</a:t>
            </a:r>
            <a:endParaRPr lang="en-US" sz="1500" dirty="0"/>
          </a:p>
        </p:txBody>
      </p:sp>
      <p:sp>
        <p:nvSpPr>
          <p:cNvPr id="23" name="Text 21"/>
          <p:cNvSpPr/>
          <p:nvPr/>
        </p:nvSpPr>
        <p:spPr>
          <a:xfrm>
            <a:off x="1389888" y="5266944"/>
            <a:ext cx="4846320" cy="566928"/>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One docker-compose command. No screens leave the network, and no snapshot ceiling to plan around.</a:t>
            </a:r>
            <a:endParaRPr lang="en-US" sz="1200" dirty="0"/>
          </a:p>
        </p:txBody>
      </p:sp>
      <p:pic>
        <p:nvPicPr>
          <p:cNvPr id="24" name="Image 0" descr="/sessions/tender-wizardly-brahmagupta/mnt/outputs/img/triptych.png"/>
          <p:cNvPicPr>
            <a:picLocks noChangeAspect="1"/>
          </p:cNvPicPr>
          <p:nvPr/>
        </p:nvPicPr>
        <p:blipFill>
          <a:blip r:embed="rId3"/>
          <a:stretch>
            <a:fillRect/>
          </a:stretch>
        </p:blipFill>
        <p:spPr>
          <a:xfrm>
            <a:off x="6720840" y="1417320"/>
            <a:ext cx="4910328" cy="3191256"/>
          </a:xfrm>
          <a:prstGeom prst="rect">
            <a:avLst/>
          </a:prstGeom>
        </p:spPr>
      </p:pic>
      <p:sp>
        <p:nvSpPr>
          <p:cNvPr id="25" name="Text 22"/>
          <p:cNvSpPr/>
          <p:nvPr/>
        </p:nvSpPr>
        <p:spPr>
          <a:xfrm>
            <a:off x="6720840" y="4754880"/>
            <a:ext cx="4910328" cy="548640"/>
          </a:xfrm>
          <a:prstGeom prst="rect">
            <a:avLst/>
          </a:prstGeom>
          <a:noFill/>
          <a:ln/>
        </p:spPr>
        <p:txBody>
          <a:bodyPr wrap="square" lIns="0" tIns="0" rIns="0" bIns="0" rtlCol="0" anchor="ctr"/>
          <a:lstStyle/>
          <a:p>
            <a:pPr marL="0" indent="0">
              <a:buNone/>
            </a:pPr>
            <a:r>
              <a:rPr lang="en-US" sz="1150" i="1" dirty="0">
                <a:solidFill>
                  <a:srgbClr val="7A8DA0"/>
                </a:solidFill>
                <a:latin typeface="Calibri" pitchFamily="34" charset="0"/>
                <a:ea typeface="Calibri" pitchFamily="34" charset="-122"/>
                <a:cs typeface="Calibri" pitchFamily="34" charset="-120"/>
              </a:rPr>
              <a:t>What the client sees: the approved page, the page after a change, and the difference — already labelled.</a:t>
            </a:r>
            <a:endParaRPr lang="en-US" sz="1150" dirty="0"/>
          </a:p>
        </p:txBody>
      </p:sp>
      <p:sp>
        <p:nvSpPr>
          <p:cNvPr id="26" name="Text 23"/>
          <p:cNvSpPr/>
          <p:nvPr/>
        </p:nvSpPr>
        <p:spPr>
          <a:xfrm>
            <a:off x="566928" y="6144768"/>
            <a:ext cx="11064240" cy="411480"/>
          </a:xfrm>
          <a:prstGeom prst="rect">
            <a:avLst/>
          </a:prstGeom>
          <a:noFill/>
          <a:ln/>
        </p:spPr>
        <p:txBody>
          <a:bodyPr wrap="square" lIns="0" tIns="0" rIns="0" bIns="0" rtlCol="0" anchor="ctr"/>
          <a:lstStyle/>
          <a:p>
            <a:pPr marL="0" indent="0">
              <a:buNone/>
            </a:pPr>
            <a:r>
              <a:rPr lang="en-US" sz="1400" i="1" dirty="0">
                <a:solidFill>
                  <a:srgbClr val="0F2742"/>
                </a:solidFill>
                <a:latin typeface="Calibri" pitchFamily="34" charset="0"/>
                <a:ea typeface="Calibri" pitchFamily="34" charset="-122"/>
                <a:cs typeface="Calibri" pitchFamily="34" charset="-120"/>
              </a:rPr>
              <a:t>Half a day of manual checking becomes a list of named defects waiting for approval.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MARKETING MIX</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Seven Ps, aimed at one buyer</a:t>
            </a:r>
            <a:endParaRPr lang="en-US" sz="3200" dirty="0"/>
          </a:p>
        </p:txBody>
      </p:sp>
      <p:sp>
        <p:nvSpPr>
          <p:cNvPr id="4" name="Shape 2"/>
          <p:cNvSpPr/>
          <p:nvPr/>
        </p:nvSpPr>
        <p:spPr>
          <a:xfrm>
            <a:off x="493776" y="1463040"/>
            <a:ext cx="2615184"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5" name="Text 3"/>
          <p:cNvSpPr/>
          <p:nvPr/>
        </p:nvSpPr>
        <p:spPr>
          <a:xfrm>
            <a:off x="694944" y="1627632"/>
            <a:ext cx="2212848" cy="320040"/>
          </a:xfrm>
          <a:prstGeom prst="rect">
            <a:avLst/>
          </a:prstGeom>
          <a:noFill/>
          <a:ln/>
        </p:spPr>
        <p:txBody>
          <a:bodyPr wrap="square" lIns="0" tIns="0" rIns="0" bIns="0" rtlCol="0" anchor="ctr"/>
          <a:lstStyle/>
          <a:p>
            <a:pPr marL="0" indent="0">
              <a:buNone/>
            </a:pPr>
            <a:r>
              <a:rPr lang="en-US" sz="1450" b="1" dirty="0">
                <a:solidFill>
                  <a:srgbClr val="FF6A2B"/>
                </a:solidFill>
                <a:latin typeface="Calibri" pitchFamily="34" charset="0"/>
                <a:ea typeface="Calibri" pitchFamily="34" charset="-122"/>
                <a:cs typeface="Calibri" pitchFamily="34" charset="-120"/>
              </a:rPr>
              <a:t>Product</a:t>
            </a:r>
            <a:endParaRPr lang="en-US" sz="1450" dirty="0"/>
          </a:p>
        </p:txBody>
      </p:sp>
      <p:sp>
        <p:nvSpPr>
          <p:cNvPr id="6" name="Text 4"/>
          <p:cNvSpPr/>
          <p:nvPr/>
        </p:nvSpPr>
        <p:spPr>
          <a:xfrm>
            <a:off x="694944" y="2011680"/>
            <a:ext cx="2212848" cy="118872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A self-hosted platform, not a library: capture, classify, review, approve. The Playwright SDK is the wedge — one line in a suite they already have.</a:t>
            </a:r>
            <a:endParaRPr lang="en-US" sz="1100" dirty="0"/>
          </a:p>
        </p:txBody>
      </p:sp>
      <p:sp>
        <p:nvSpPr>
          <p:cNvPr id="7" name="Shape 5"/>
          <p:cNvSpPr/>
          <p:nvPr/>
        </p:nvSpPr>
        <p:spPr>
          <a:xfrm>
            <a:off x="3355848" y="1463040"/>
            <a:ext cx="2615184"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8" name="Text 6"/>
          <p:cNvSpPr/>
          <p:nvPr/>
        </p:nvSpPr>
        <p:spPr>
          <a:xfrm>
            <a:off x="3557016" y="1627632"/>
            <a:ext cx="2212848" cy="320040"/>
          </a:xfrm>
          <a:prstGeom prst="rect">
            <a:avLst/>
          </a:prstGeom>
          <a:noFill/>
          <a:ln/>
        </p:spPr>
        <p:txBody>
          <a:bodyPr wrap="square" lIns="0" tIns="0" rIns="0" bIns="0" rtlCol="0" anchor="ctr"/>
          <a:lstStyle/>
          <a:p>
            <a:pPr marL="0" indent="0">
              <a:buNone/>
            </a:pPr>
            <a:r>
              <a:rPr lang="en-US" sz="1450" b="1" dirty="0">
                <a:solidFill>
                  <a:srgbClr val="FF6A2B"/>
                </a:solidFill>
                <a:latin typeface="Calibri" pitchFamily="34" charset="0"/>
                <a:ea typeface="Calibri" pitchFamily="34" charset="-122"/>
                <a:cs typeface="Calibri" pitchFamily="34" charset="-120"/>
              </a:rPr>
              <a:t>Price</a:t>
            </a:r>
            <a:endParaRPr lang="en-US" sz="1450" dirty="0"/>
          </a:p>
        </p:txBody>
      </p:sp>
      <p:sp>
        <p:nvSpPr>
          <p:cNvPr id="9" name="Text 7"/>
          <p:cNvSpPr/>
          <p:nvPr/>
        </p:nvSpPr>
        <p:spPr>
          <a:xfrm>
            <a:off x="3557016" y="2011680"/>
            <a:ext cx="2212848" cy="118872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Free and self-hosted. Localisation multiplies snapshots by locale count, which is exactly where per-snapshot pricing hurts most - here that multiplication costs nothing.</a:t>
            </a:r>
            <a:endParaRPr lang="en-US" sz="1100" dirty="0"/>
          </a:p>
        </p:txBody>
      </p:sp>
      <p:sp>
        <p:nvSpPr>
          <p:cNvPr id="10" name="Shape 8"/>
          <p:cNvSpPr/>
          <p:nvPr/>
        </p:nvSpPr>
        <p:spPr>
          <a:xfrm>
            <a:off x="6217920" y="1463040"/>
            <a:ext cx="2615184"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1" name="Text 9"/>
          <p:cNvSpPr/>
          <p:nvPr/>
        </p:nvSpPr>
        <p:spPr>
          <a:xfrm>
            <a:off x="6419088" y="1627632"/>
            <a:ext cx="2212848" cy="320040"/>
          </a:xfrm>
          <a:prstGeom prst="rect">
            <a:avLst/>
          </a:prstGeom>
          <a:noFill/>
          <a:ln/>
        </p:spPr>
        <p:txBody>
          <a:bodyPr wrap="square" lIns="0" tIns="0" rIns="0" bIns="0" rtlCol="0" anchor="ctr"/>
          <a:lstStyle/>
          <a:p>
            <a:pPr marL="0" indent="0">
              <a:buNone/>
            </a:pPr>
            <a:r>
              <a:rPr lang="en-US" sz="1450" b="1" dirty="0">
                <a:solidFill>
                  <a:srgbClr val="FF6A2B"/>
                </a:solidFill>
                <a:latin typeface="Calibri" pitchFamily="34" charset="0"/>
                <a:ea typeface="Calibri" pitchFamily="34" charset="-122"/>
                <a:cs typeface="Calibri" pitchFamily="34" charset="-120"/>
              </a:rPr>
              <a:t>Place</a:t>
            </a:r>
            <a:endParaRPr lang="en-US" sz="1450" dirty="0"/>
          </a:p>
        </p:txBody>
      </p:sp>
      <p:sp>
        <p:nvSpPr>
          <p:cNvPr id="12" name="Text 10"/>
          <p:cNvSpPr/>
          <p:nvPr/>
        </p:nvSpPr>
        <p:spPr>
          <a:xfrm>
            <a:off x="6419088" y="2011680"/>
            <a:ext cx="2212848" cy="118872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GitHub repository and a Docker image. `docker-compose up` and a GitHub Actions template; no procurement, no sales call.</a:t>
            </a:r>
            <a:endParaRPr lang="en-US" sz="1100" dirty="0"/>
          </a:p>
        </p:txBody>
      </p:sp>
      <p:sp>
        <p:nvSpPr>
          <p:cNvPr id="13" name="Shape 11"/>
          <p:cNvSpPr/>
          <p:nvPr/>
        </p:nvSpPr>
        <p:spPr>
          <a:xfrm>
            <a:off x="9079992" y="1463040"/>
            <a:ext cx="2615184"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4" name="Text 12"/>
          <p:cNvSpPr/>
          <p:nvPr/>
        </p:nvSpPr>
        <p:spPr>
          <a:xfrm>
            <a:off x="9281160" y="1627632"/>
            <a:ext cx="2212848" cy="320040"/>
          </a:xfrm>
          <a:prstGeom prst="rect">
            <a:avLst/>
          </a:prstGeom>
          <a:noFill/>
          <a:ln/>
        </p:spPr>
        <p:txBody>
          <a:bodyPr wrap="square" lIns="0" tIns="0" rIns="0" bIns="0" rtlCol="0" anchor="ctr"/>
          <a:lstStyle/>
          <a:p>
            <a:pPr marL="0" indent="0">
              <a:buNone/>
            </a:pPr>
            <a:r>
              <a:rPr lang="en-US" sz="1450" b="1" dirty="0">
                <a:solidFill>
                  <a:srgbClr val="FF6A2B"/>
                </a:solidFill>
                <a:latin typeface="Calibri" pitchFamily="34" charset="0"/>
                <a:ea typeface="Calibri" pitchFamily="34" charset="-122"/>
                <a:cs typeface="Calibri" pitchFamily="34" charset="-120"/>
              </a:rPr>
              <a:t>Promotion</a:t>
            </a:r>
            <a:endParaRPr lang="en-US" sz="1450" dirty="0"/>
          </a:p>
        </p:txBody>
      </p:sp>
      <p:sp>
        <p:nvSpPr>
          <p:cNvPr id="15" name="Text 13"/>
          <p:cNvSpPr/>
          <p:nvPr/>
        </p:nvSpPr>
        <p:spPr>
          <a:xfrm>
            <a:off x="9281160" y="2011680"/>
            <a:ext cx="2212848" cy="118872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Developer-led. The ablation write-up is the lead content, the reproducible 81/81 benchmark is the proof, and a side-by-side page against Percy is the landing page.</a:t>
            </a:r>
            <a:endParaRPr lang="en-US" sz="1100" dirty="0"/>
          </a:p>
        </p:txBody>
      </p:sp>
      <p:sp>
        <p:nvSpPr>
          <p:cNvPr id="16" name="Shape 14"/>
          <p:cNvSpPr/>
          <p:nvPr/>
        </p:nvSpPr>
        <p:spPr>
          <a:xfrm>
            <a:off x="493776" y="3566160"/>
            <a:ext cx="2615184"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7" name="Text 15"/>
          <p:cNvSpPr/>
          <p:nvPr/>
        </p:nvSpPr>
        <p:spPr>
          <a:xfrm>
            <a:off x="694944" y="3730752"/>
            <a:ext cx="2212848" cy="320040"/>
          </a:xfrm>
          <a:prstGeom prst="rect">
            <a:avLst/>
          </a:prstGeom>
          <a:noFill/>
          <a:ln/>
        </p:spPr>
        <p:txBody>
          <a:bodyPr wrap="square" lIns="0" tIns="0" rIns="0" bIns="0" rtlCol="0" anchor="ctr"/>
          <a:lstStyle/>
          <a:p>
            <a:pPr marL="0" indent="0">
              <a:buNone/>
            </a:pPr>
            <a:r>
              <a:rPr lang="en-US" sz="1450" b="1" dirty="0">
                <a:solidFill>
                  <a:srgbClr val="FF6A2B"/>
                </a:solidFill>
                <a:latin typeface="Calibri" pitchFamily="34" charset="0"/>
                <a:ea typeface="Calibri" pitchFamily="34" charset="-122"/>
                <a:cs typeface="Calibri" pitchFamily="34" charset="-120"/>
              </a:rPr>
              <a:t>People</a:t>
            </a:r>
            <a:endParaRPr lang="en-US" sz="1450" dirty="0"/>
          </a:p>
        </p:txBody>
      </p:sp>
      <p:sp>
        <p:nvSpPr>
          <p:cNvPr id="18" name="Text 16"/>
          <p:cNvSpPr/>
          <p:nvPr/>
        </p:nvSpPr>
        <p:spPr>
          <a:xfrm>
            <a:off x="694944" y="4114800"/>
            <a:ext cx="2212848" cy="118872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One maintainer, so the docs and the decision records do first-line support. Issues are triaged in public where the answers stay searchable.</a:t>
            </a:r>
            <a:endParaRPr lang="en-US" sz="1100" dirty="0"/>
          </a:p>
        </p:txBody>
      </p:sp>
      <p:sp>
        <p:nvSpPr>
          <p:cNvPr id="19" name="Shape 17"/>
          <p:cNvSpPr/>
          <p:nvPr/>
        </p:nvSpPr>
        <p:spPr>
          <a:xfrm>
            <a:off x="3355848" y="3566160"/>
            <a:ext cx="2615184"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20" name="Text 18"/>
          <p:cNvSpPr/>
          <p:nvPr/>
        </p:nvSpPr>
        <p:spPr>
          <a:xfrm>
            <a:off x="3557016" y="3730752"/>
            <a:ext cx="2212848" cy="320040"/>
          </a:xfrm>
          <a:prstGeom prst="rect">
            <a:avLst/>
          </a:prstGeom>
          <a:noFill/>
          <a:ln/>
        </p:spPr>
        <p:txBody>
          <a:bodyPr wrap="square" lIns="0" tIns="0" rIns="0" bIns="0" rtlCol="0" anchor="ctr"/>
          <a:lstStyle/>
          <a:p>
            <a:pPr marL="0" indent="0">
              <a:buNone/>
            </a:pPr>
            <a:r>
              <a:rPr lang="en-US" sz="1450" b="1" dirty="0">
                <a:solidFill>
                  <a:srgbClr val="FF6A2B"/>
                </a:solidFill>
                <a:latin typeface="Calibri" pitchFamily="34" charset="0"/>
                <a:ea typeface="Calibri" pitchFamily="34" charset="-122"/>
                <a:cs typeface="Calibri" pitchFamily="34" charset="-120"/>
              </a:rPr>
              <a:t>Process</a:t>
            </a:r>
            <a:endParaRPr lang="en-US" sz="1450" dirty="0"/>
          </a:p>
        </p:txBody>
      </p:sp>
      <p:sp>
        <p:nvSpPr>
          <p:cNvPr id="21" name="Text 19"/>
          <p:cNvSpPr/>
          <p:nvPr/>
        </p:nvSpPr>
        <p:spPr>
          <a:xfrm>
            <a:off x="3557016" y="4114800"/>
            <a:ext cx="2212848" cy="118872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Fifteen minutes to first result: install, capture baselines, gate the next pull request, review in the dashboard, approve — and the approval writes back to the report.</a:t>
            </a:r>
            <a:endParaRPr lang="en-US" sz="1100" dirty="0"/>
          </a:p>
        </p:txBody>
      </p:sp>
      <p:sp>
        <p:nvSpPr>
          <p:cNvPr id="22" name="Shape 20"/>
          <p:cNvSpPr/>
          <p:nvPr/>
        </p:nvSpPr>
        <p:spPr>
          <a:xfrm>
            <a:off x="6217920" y="3566160"/>
            <a:ext cx="2615184"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23" name="Text 21"/>
          <p:cNvSpPr/>
          <p:nvPr/>
        </p:nvSpPr>
        <p:spPr>
          <a:xfrm>
            <a:off x="6419088" y="3730752"/>
            <a:ext cx="2212848" cy="320040"/>
          </a:xfrm>
          <a:prstGeom prst="rect">
            <a:avLst/>
          </a:prstGeom>
          <a:noFill/>
          <a:ln/>
        </p:spPr>
        <p:txBody>
          <a:bodyPr wrap="square" lIns="0" tIns="0" rIns="0" bIns="0" rtlCol="0" anchor="ctr"/>
          <a:lstStyle/>
          <a:p>
            <a:pPr marL="0" indent="0">
              <a:buNone/>
            </a:pPr>
            <a:r>
              <a:rPr lang="en-US" sz="1450" b="1" dirty="0">
                <a:solidFill>
                  <a:srgbClr val="FF6A2B"/>
                </a:solidFill>
                <a:latin typeface="Calibri" pitchFamily="34" charset="0"/>
                <a:ea typeface="Calibri" pitchFamily="34" charset="-122"/>
                <a:cs typeface="Calibri" pitchFamily="34" charset="-120"/>
              </a:rPr>
              <a:t>Physical evidence</a:t>
            </a:r>
            <a:endParaRPr lang="en-US" sz="1450" dirty="0"/>
          </a:p>
        </p:txBody>
      </p:sp>
      <p:sp>
        <p:nvSpPr>
          <p:cNvPr id="24" name="Text 22"/>
          <p:cNvSpPr/>
          <p:nvPr/>
        </p:nvSpPr>
        <p:spPr>
          <a:xfrm>
            <a:off x="6419088" y="4114800"/>
            <a:ext cx="2212848" cy="118872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A public CI badge, a benchmark anyone can re-run, a live demo portal, and a standalone HTML report for every run.</a:t>
            </a:r>
            <a:endParaRPr lang="en-US" sz="1100" dirty="0"/>
          </a:p>
        </p:txBody>
      </p:sp>
      <p:sp>
        <p:nvSpPr>
          <p:cNvPr id="25" name="Text 23"/>
          <p:cNvSpPr/>
          <p:nvPr/>
        </p:nvSpPr>
        <p:spPr>
          <a:xfrm>
            <a:off x="493776" y="5715000"/>
            <a:ext cx="11155680" cy="411480"/>
          </a:xfrm>
          <a:prstGeom prst="rect">
            <a:avLst/>
          </a:prstGeom>
          <a:noFill/>
          <a:ln/>
        </p:spPr>
        <p:txBody>
          <a:bodyPr wrap="square" lIns="0" tIns="0" rIns="0" bIns="0" rtlCol="0" anchor="ctr"/>
          <a:lstStyle/>
          <a:p>
            <a:pPr marL="0" indent="0">
              <a:buNone/>
            </a:pPr>
            <a:r>
              <a:rPr lang="en-US" sz="1350" i="1" dirty="0">
                <a:solidFill>
                  <a:srgbClr val="0F2742"/>
                </a:solidFill>
                <a:latin typeface="Calibri" pitchFamily="34" charset="0"/>
                <a:ea typeface="Calibri" pitchFamily="34" charset="-122"/>
                <a:cs typeface="Calibri" pitchFamily="34" charset="-120"/>
              </a:rPr>
              <a:t>Every P is answered by something that already exists in the repository — not by a plan for one.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1A2B"/>
        </a:solidFill>
        <a:effectLst/>
      </p:bgPr>
    </p:bg>
    <p:spTree>
      <p:nvGrpSpPr>
        <p:cNvPr id="1" name=""/>
        <p:cNvGrpSpPr/>
        <p:nvPr/>
      </p:nvGrpSpPr>
      <p:grpSpPr>
        <a:xfrm>
          <a:off x="0" y="0"/>
          <a:ext cx="0" cy="0"/>
          <a:chOff x="0" y="0"/>
          <a:chExt cx="0" cy="0"/>
        </a:xfrm>
      </p:grpSpPr>
      <p:sp>
        <p:nvSpPr>
          <p:cNvPr id="2" name="Shape 0"/>
          <p:cNvSpPr/>
          <p:nvPr/>
        </p:nvSpPr>
        <p:spPr>
          <a:xfrm>
            <a:off x="685800" y="2468880"/>
            <a:ext cx="1783080" cy="329184"/>
          </a:xfrm>
          <a:prstGeom prst="roundRect">
            <a:avLst>
              <a:gd name="adj" fmla="val 50000"/>
            </a:avLst>
          </a:prstGeom>
          <a:solidFill>
            <a:srgbClr val="FF6A2B"/>
          </a:solidFill>
          <a:ln/>
        </p:spPr>
        <p:txBody>
          <a:bodyPr/>
          <a:lstStyle/>
          <a:p>
            <a:endParaRPr lang="en-MY"/>
          </a:p>
        </p:txBody>
      </p:sp>
      <p:sp>
        <p:nvSpPr>
          <p:cNvPr id="3" name="Text 1"/>
          <p:cNvSpPr/>
          <p:nvPr/>
        </p:nvSpPr>
        <p:spPr>
          <a:xfrm>
            <a:off x="685800" y="2468880"/>
            <a:ext cx="1783080" cy="329184"/>
          </a:xfrm>
          <a:prstGeom prst="rect">
            <a:avLst/>
          </a:prstGeom>
          <a:noFill/>
          <a:ln/>
        </p:spPr>
        <p:txBody>
          <a:bodyPr wrap="square" lIns="0" tIns="0" rIns="0" bIns="0" rtlCol="0" anchor="ctr"/>
          <a:lstStyle/>
          <a:p>
            <a:pPr marL="0" indent="0" algn="ctr">
              <a:buNone/>
            </a:pPr>
            <a:r>
              <a:rPr lang="en-US" sz="1050" b="1" kern="0" spc="140" dirty="0">
                <a:solidFill>
                  <a:srgbClr val="FFFFFF"/>
                </a:solidFill>
                <a:latin typeface="Calibri" pitchFamily="34" charset="0"/>
                <a:ea typeface="Calibri" pitchFamily="34" charset="-122"/>
                <a:cs typeface="Calibri" pitchFamily="34" charset="-120"/>
              </a:rPr>
              <a:t>PART TWO</a:t>
            </a:r>
            <a:endParaRPr lang="en-US" sz="1050" dirty="0"/>
          </a:p>
        </p:txBody>
      </p:sp>
      <p:sp>
        <p:nvSpPr>
          <p:cNvPr id="4" name="Text 2"/>
          <p:cNvSpPr/>
          <p:nvPr/>
        </p:nvSpPr>
        <p:spPr>
          <a:xfrm>
            <a:off x="658368" y="3017520"/>
            <a:ext cx="777240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How it was built</a:t>
            </a:r>
            <a:endParaRPr lang="en-US" sz="4000" dirty="0"/>
          </a:p>
        </p:txBody>
      </p:sp>
      <p:sp>
        <p:nvSpPr>
          <p:cNvPr id="5" name="Text 3"/>
          <p:cNvSpPr/>
          <p:nvPr/>
        </p:nvSpPr>
        <p:spPr>
          <a:xfrm>
            <a:off x="685800" y="3977640"/>
            <a:ext cx="6949440" cy="731520"/>
          </a:xfrm>
          <a:prstGeom prst="rect">
            <a:avLst/>
          </a:prstGeom>
          <a:noFill/>
          <a:ln/>
        </p:spPr>
        <p:txBody>
          <a:bodyPr wrap="square" lIns="0" tIns="0" rIns="0" bIns="0" rtlCol="0" anchor="ctr"/>
          <a:lstStyle/>
          <a:p>
            <a:pPr marL="0" indent="0">
              <a:buNone/>
            </a:pPr>
            <a:r>
              <a:rPr lang="en-US" sz="1550" dirty="0">
                <a:solidFill>
                  <a:srgbClr val="AFC3D8"/>
                </a:solidFill>
                <a:latin typeface="Calibri" pitchFamily="34" charset="0"/>
                <a:ea typeface="Calibri" pitchFamily="34" charset="-122"/>
                <a:cs typeface="Calibri" pitchFamily="34" charset="-120"/>
              </a:rPr>
              <a:t>Technologies and the reason each one is there, the development process, the code, and the evidence that it works.</a:t>
            </a:r>
            <a:endParaRPr lang="en-US" sz="1550" dirty="0"/>
          </a:p>
        </p:txBody>
      </p:sp>
      <p:sp>
        <p:nvSpPr>
          <p:cNvPr id="6" name="Shape 4"/>
          <p:cNvSpPr/>
          <p:nvPr/>
        </p:nvSpPr>
        <p:spPr>
          <a:xfrm>
            <a:off x="685800" y="5029200"/>
            <a:ext cx="1508760" cy="402336"/>
          </a:xfrm>
          <a:prstGeom prst="roundRect">
            <a:avLst>
              <a:gd name="adj" fmla="val 50000"/>
            </a:avLst>
          </a:prstGeom>
          <a:solidFill>
            <a:srgbClr val="12293F"/>
          </a:solidFill>
          <a:ln/>
        </p:spPr>
        <p:txBody>
          <a:bodyPr/>
          <a:lstStyle/>
          <a:p>
            <a:endParaRPr lang="en-MY"/>
          </a:p>
        </p:txBody>
      </p:sp>
      <p:sp>
        <p:nvSpPr>
          <p:cNvPr id="7" name="Text 5"/>
          <p:cNvSpPr/>
          <p:nvPr/>
        </p:nvSpPr>
        <p:spPr>
          <a:xfrm>
            <a:off x="685800" y="5029200"/>
            <a:ext cx="1508760" cy="402336"/>
          </a:xfrm>
          <a:prstGeom prst="rect">
            <a:avLst/>
          </a:prstGeom>
          <a:noFill/>
          <a:ln/>
        </p:spPr>
        <p:txBody>
          <a:bodyPr wrap="square" lIns="0" tIns="0" rIns="0" bIns="0" rtlCol="0" anchor="ctr"/>
          <a:lstStyle/>
          <a:p>
            <a:pPr marL="0" indent="0" algn="ctr">
              <a:buNone/>
            </a:pPr>
            <a:r>
              <a:rPr lang="en-US" sz="1250" dirty="0">
                <a:solidFill>
                  <a:srgbClr val="9FB5CB"/>
                </a:solidFill>
                <a:latin typeface="Calibri" pitchFamily="34" charset="0"/>
                <a:ea typeface="Calibri" pitchFamily="34" charset="-122"/>
                <a:cs typeface="Calibri" pitchFamily="34" charset="-120"/>
              </a:rPr>
              <a:t>Playwright</a:t>
            </a:r>
            <a:endParaRPr lang="en-US" sz="1250" dirty="0"/>
          </a:p>
        </p:txBody>
      </p:sp>
      <p:sp>
        <p:nvSpPr>
          <p:cNvPr id="8" name="Shape 6"/>
          <p:cNvSpPr/>
          <p:nvPr/>
        </p:nvSpPr>
        <p:spPr>
          <a:xfrm>
            <a:off x="2359152" y="5029200"/>
            <a:ext cx="1193292" cy="402336"/>
          </a:xfrm>
          <a:prstGeom prst="roundRect">
            <a:avLst>
              <a:gd name="adj" fmla="val 50000"/>
            </a:avLst>
          </a:prstGeom>
          <a:solidFill>
            <a:srgbClr val="12293F"/>
          </a:solidFill>
          <a:ln/>
        </p:spPr>
        <p:txBody>
          <a:bodyPr/>
          <a:lstStyle/>
          <a:p>
            <a:endParaRPr lang="en-MY"/>
          </a:p>
        </p:txBody>
      </p:sp>
      <p:sp>
        <p:nvSpPr>
          <p:cNvPr id="9" name="Text 7"/>
          <p:cNvSpPr/>
          <p:nvPr/>
        </p:nvSpPr>
        <p:spPr>
          <a:xfrm>
            <a:off x="2359152" y="5029200"/>
            <a:ext cx="1193292" cy="402336"/>
          </a:xfrm>
          <a:prstGeom prst="rect">
            <a:avLst/>
          </a:prstGeom>
          <a:noFill/>
          <a:ln/>
        </p:spPr>
        <p:txBody>
          <a:bodyPr wrap="square" lIns="0" tIns="0" rIns="0" bIns="0" rtlCol="0" anchor="ctr"/>
          <a:lstStyle/>
          <a:p>
            <a:pPr marL="0" indent="0" algn="ctr">
              <a:buNone/>
            </a:pPr>
            <a:r>
              <a:rPr lang="en-US" sz="1250" dirty="0">
                <a:solidFill>
                  <a:srgbClr val="9FB5CB"/>
                </a:solidFill>
                <a:latin typeface="Calibri" pitchFamily="34" charset="0"/>
                <a:ea typeface="Calibri" pitchFamily="34" charset="-122"/>
                <a:cs typeface="Calibri" pitchFamily="34" charset="-120"/>
              </a:rPr>
              <a:t>PyTorch</a:t>
            </a:r>
            <a:endParaRPr lang="en-US" sz="1250" dirty="0"/>
          </a:p>
        </p:txBody>
      </p:sp>
      <p:sp>
        <p:nvSpPr>
          <p:cNvPr id="10" name="Shape 8"/>
          <p:cNvSpPr/>
          <p:nvPr/>
        </p:nvSpPr>
        <p:spPr>
          <a:xfrm>
            <a:off x="3717036" y="5029200"/>
            <a:ext cx="1088136" cy="402336"/>
          </a:xfrm>
          <a:prstGeom prst="roundRect">
            <a:avLst>
              <a:gd name="adj" fmla="val 50000"/>
            </a:avLst>
          </a:prstGeom>
          <a:solidFill>
            <a:srgbClr val="12293F"/>
          </a:solidFill>
          <a:ln/>
        </p:spPr>
        <p:txBody>
          <a:bodyPr/>
          <a:lstStyle/>
          <a:p>
            <a:endParaRPr lang="en-MY"/>
          </a:p>
        </p:txBody>
      </p:sp>
      <p:sp>
        <p:nvSpPr>
          <p:cNvPr id="11" name="Text 9"/>
          <p:cNvSpPr/>
          <p:nvPr/>
        </p:nvSpPr>
        <p:spPr>
          <a:xfrm>
            <a:off x="3717036" y="5029200"/>
            <a:ext cx="1088136" cy="402336"/>
          </a:xfrm>
          <a:prstGeom prst="rect">
            <a:avLst/>
          </a:prstGeom>
          <a:noFill/>
          <a:ln/>
        </p:spPr>
        <p:txBody>
          <a:bodyPr wrap="square" lIns="0" tIns="0" rIns="0" bIns="0" rtlCol="0" anchor="ctr"/>
          <a:lstStyle/>
          <a:p>
            <a:pPr marL="0" indent="0" algn="ctr">
              <a:buNone/>
            </a:pPr>
            <a:r>
              <a:rPr lang="en-US" sz="1250" dirty="0">
                <a:solidFill>
                  <a:srgbClr val="9FB5CB"/>
                </a:solidFill>
                <a:latin typeface="Calibri" pitchFamily="34" charset="0"/>
                <a:ea typeface="Calibri" pitchFamily="34" charset="-122"/>
                <a:cs typeface="Calibri" pitchFamily="34" charset="-120"/>
              </a:rPr>
              <a:t>OpenCV</a:t>
            </a:r>
            <a:endParaRPr lang="en-US" sz="1250" dirty="0"/>
          </a:p>
        </p:txBody>
      </p:sp>
      <p:sp>
        <p:nvSpPr>
          <p:cNvPr id="12" name="Shape 10"/>
          <p:cNvSpPr/>
          <p:nvPr/>
        </p:nvSpPr>
        <p:spPr>
          <a:xfrm>
            <a:off x="4969764" y="5029200"/>
            <a:ext cx="1193292" cy="402336"/>
          </a:xfrm>
          <a:prstGeom prst="roundRect">
            <a:avLst>
              <a:gd name="adj" fmla="val 50000"/>
            </a:avLst>
          </a:prstGeom>
          <a:solidFill>
            <a:srgbClr val="12293F"/>
          </a:solidFill>
          <a:ln/>
        </p:spPr>
        <p:txBody>
          <a:bodyPr/>
          <a:lstStyle/>
          <a:p>
            <a:endParaRPr lang="en-MY"/>
          </a:p>
        </p:txBody>
      </p:sp>
      <p:sp>
        <p:nvSpPr>
          <p:cNvPr id="13" name="Text 11"/>
          <p:cNvSpPr/>
          <p:nvPr/>
        </p:nvSpPr>
        <p:spPr>
          <a:xfrm>
            <a:off x="4969764" y="5029200"/>
            <a:ext cx="1193292" cy="402336"/>
          </a:xfrm>
          <a:prstGeom prst="rect">
            <a:avLst/>
          </a:prstGeom>
          <a:noFill/>
          <a:ln/>
        </p:spPr>
        <p:txBody>
          <a:bodyPr wrap="square" lIns="0" tIns="0" rIns="0" bIns="0" rtlCol="0" anchor="ctr"/>
          <a:lstStyle/>
          <a:p>
            <a:pPr marL="0" indent="0" algn="ctr">
              <a:buNone/>
            </a:pPr>
            <a:r>
              <a:rPr lang="en-US" sz="1250" dirty="0">
                <a:solidFill>
                  <a:srgbClr val="9FB5CB"/>
                </a:solidFill>
                <a:latin typeface="Calibri" pitchFamily="34" charset="0"/>
                <a:ea typeface="Calibri" pitchFamily="34" charset="-122"/>
                <a:cs typeface="Calibri" pitchFamily="34" charset="-120"/>
              </a:rPr>
              <a:t>FastAPI</a:t>
            </a:r>
            <a:endParaRPr lang="en-US" sz="1250" dirty="0"/>
          </a:p>
        </p:txBody>
      </p:sp>
      <p:sp>
        <p:nvSpPr>
          <p:cNvPr id="14" name="Shape 12"/>
          <p:cNvSpPr/>
          <p:nvPr/>
        </p:nvSpPr>
        <p:spPr>
          <a:xfrm>
            <a:off x="6327648" y="5029200"/>
            <a:ext cx="1719072" cy="402336"/>
          </a:xfrm>
          <a:prstGeom prst="roundRect">
            <a:avLst>
              <a:gd name="adj" fmla="val 50000"/>
            </a:avLst>
          </a:prstGeom>
          <a:solidFill>
            <a:srgbClr val="12293F"/>
          </a:solidFill>
          <a:ln/>
        </p:spPr>
        <p:txBody>
          <a:bodyPr/>
          <a:lstStyle/>
          <a:p>
            <a:endParaRPr lang="en-MY"/>
          </a:p>
        </p:txBody>
      </p:sp>
      <p:sp>
        <p:nvSpPr>
          <p:cNvPr id="15" name="Text 13"/>
          <p:cNvSpPr/>
          <p:nvPr/>
        </p:nvSpPr>
        <p:spPr>
          <a:xfrm>
            <a:off x="6327648" y="5029200"/>
            <a:ext cx="1719072" cy="402336"/>
          </a:xfrm>
          <a:prstGeom prst="rect">
            <a:avLst/>
          </a:prstGeom>
          <a:noFill/>
          <a:ln/>
        </p:spPr>
        <p:txBody>
          <a:bodyPr wrap="square" lIns="0" tIns="0" rIns="0" bIns="0" rtlCol="0" anchor="ctr"/>
          <a:lstStyle/>
          <a:p>
            <a:pPr marL="0" indent="0" algn="ctr">
              <a:buNone/>
            </a:pPr>
            <a:r>
              <a:rPr lang="en-US" sz="1250" dirty="0">
                <a:solidFill>
                  <a:srgbClr val="9FB5CB"/>
                </a:solidFill>
                <a:latin typeface="Calibri" pitchFamily="34" charset="0"/>
                <a:ea typeface="Calibri" pitchFamily="34" charset="-122"/>
                <a:cs typeface="Calibri" pitchFamily="34" charset="-120"/>
              </a:rPr>
              <a:t>React + Vite</a:t>
            </a:r>
            <a:endParaRPr lang="en-US" sz="1250" dirty="0"/>
          </a:p>
        </p:txBody>
      </p:sp>
      <p:sp>
        <p:nvSpPr>
          <p:cNvPr id="16" name="Shape 14"/>
          <p:cNvSpPr/>
          <p:nvPr/>
        </p:nvSpPr>
        <p:spPr>
          <a:xfrm>
            <a:off x="8211312" y="5029200"/>
            <a:ext cx="1088136" cy="402336"/>
          </a:xfrm>
          <a:prstGeom prst="roundRect">
            <a:avLst>
              <a:gd name="adj" fmla="val 50000"/>
            </a:avLst>
          </a:prstGeom>
          <a:solidFill>
            <a:srgbClr val="12293F"/>
          </a:solidFill>
          <a:ln/>
        </p:spPr>
        <p:txBody>
          <a:bodyPr/>
          <a:lstStyle/>
          <a:p>
            <a:endParaRPr lang="en-MY"/>
          </a:p>
        </p:txBody>
      </p:sp>
      <p:sp>
        <p:nvSpPr>
          <p:cNvPr id="17" name="Text 15"/>
          <p:cNvSpPr/>
          <p:nvPr/>
        </p:nvSpPr>
        <p:spPr>
          <a:xfrm>
            <a:off x="8211312" y="5029200"/>
            <a:ext cx="1088136" cy="402336"/>
          </a:xfrm>
          <a:prstGeom prst="rect">
            <a:avLst/>
          </a:prstGeom>
          <a:noFill/>
          <a:ln/>
        </p:spPr>
        <p:txBody>
          <a:bodyPr wrap="square" lIns="0" tIns="0" rIns="0" bIns="0" rtlCol="0" anchor="ctr"/>
          <a:lstStyle/>
          <a:p>
            <a:pPr marL="0" indent="0" algn="ctr">
              <a:buNone/>
            </a:pPr>
            <a:r>
              <a:rPr lang="en-US" sz="1250" dirty="0">
                <a:solidFill>
                  <a:srgbClr val="9FB5CB"/>
                </a:solidFill>
                <a:latin typeface="Calibri" pitchFamily="34" charset="0"/>
                <a:ea typeface="Calibri" pitchFamily="34" charset="-122"/>
                <a:cs typeface="Calibri" pitchFamily="34" charset="-120"/>
              </a:rPr>
              <a:t>Docker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TECHNOLOGIES USED</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Each choice answers a requirement</a:t>
            </a:r>
            <a:endParaRPr lang="en-US" sz="3200" dirty="0"/>
          </a:p>
        </p:txBody>
      </p:sp>
      <p:sp>
        <p:nvSpPr>
          <p:cNvPr id="4" name="Shape 2"/>
          <p:cNvSpPr/>
          <p:nvPr/>
        </p:nvSpPr>
        <p:spPr>
          <a:xfrm>
            <a:off x="566928" y="1463040"/>
            <a:ext cx="3566160"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5" name="Text 3"/>
          <p:cNvSpPr/>
          <p:nvPr/>
        </p:nvSpPr>
        <p:spPr>
          <a:xfrm>
            <a:off x="786384" y="1627632"/>
            <a:ext cx="3127248" cy="502920"/>
          </a:xfrm>
          <a:prstGeom prst="rect">
            <a:avLst/>
          </a:prstGeom>
          <a:noFill/>
          <a:ln/>
        </p:spPr>
        <p:txBody>
          <a:bodyPr wrap="square" lIns="0" tIns="0" rIns="0" bIns="0" rtlCol="0" anchor="t"/>
          <a:lstStyle/>
          <a:p>
            <a:pPr marL="0" indent="0">
              <a:buNone/>
            </a:pPr>
            <a:r>
              <a:rPr lang="en-US" sz="1400" b="1" dirty="0">
                <a:solidFill>
                  <a:srgbClr val="0F2742"/>
                </a:solidFill>
                <a:latin typeface="Calibri" pitchFamily="34" charset="0"/>
                <a:ea typeface="Calibri" pitchFamily="34" charset="-122"/>
                <a:cs typeface="Calibri" pitchFamily="34" charset="-120"/>
              </a:rPr>
              <a:t>Playwright</a:t>
            </a:r>
            <a:endParaRPr lang="en-US" sz="1400" dirty="0"/>
          </a:p>
        </p:txBody>
      </p:sp>
      <p:sp>
        <p:nvSpPr>
          <p:cNvPr id="6" name="Text 4"/>
          <p:cNvSpPr/>
          <p:nvPr/>
        </p:nvSpPr>
        <p:spPr>
          <a:xfrm>
            <a:off x="786384" y="2157984"/>
            <a:ext cx="3127248" cy="105156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Capture must be repeatable across Chromium, Firefox and WebKit, and must pin locale, timezone and device in one API. A capture that drifts makes every later comparison meaningless.</a:t>
            </a:r>
            <a:endParaRPr lang="en-US" sz="1100" dirty="0"/>
          </a:p>
        </p:txBody>
      </p:sp>
      <p:sp>
        <p:nvSpPr>
          <p:cNvPr id="7" name="Shape 5"/>
          <p:cNvSpPr/>
          <p:nvPr/>
        </p:nvSpPr>
        <p:spPr>
          <a:xfrm>
            <a:off x="4407408" y="1463040"/>
            <a:ext cx="3566160"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8" name="Text 6"/>
          <p:cNvSpPr/>
          <p:nvPr/>
        </p:nvSpPr>
        <p:spPr>
          <a:xfrm>
            <a:off x="4626864" y="1627632"/>
            <a:ext cx="3127248" cy="502920"/>
          </a:xfrm>
          <a:prstGeom prst="rect">
            <a:avLst/>
          </a:prstGeom>
          <a:noFill/>
          <a:ln/>
        </p:spPr>
        <p:txBody>
          <a:bodyPr wrap="square" lIns="0" tIns="0" rIns="0" bIns="0" rtlCol="0" anchor="t"/>
          <a:lstStyle/>
          <a:p>
            <a:pPr marL="0" indent="0">
              <a:buNone/>
            </a:pPr>
            <a:r>
              <a:rPr lang="en-US" sz="1400" b="1" dirty="0">
                <a:solidFill>
                  <a:srgbClr val="0F2742"/>
                </a:solidFill>
                <a:latin typeface="Calibri" pitchFamily="34" charset="0"/>
                <a:ea typeface="Calibri" pitchFamily="34" charset="-122"/>
                <a:cs typeface="Calibri" pitchFamily="34" charset="-120"/>
              </a:rPr>
              <a:t>OpenCV + SSIM</a:t>
            </a:r>
            <a:endParaRPr lang="en-US" sz="1400" dirty="0"/>
          </a:p>
        </p:txBody>
      </p:sp>
      <p:sp>
        <p:nvSpPr>
          <p:cNvPr id="9" name="Text 7"/>
          <p:cNvSpPr/>
          <p:nvPr/>
        </p:nvSpPr>
        <p:spPr>
          <a:xfrm>
            <a:off x="4626864" y="2157984"/>
            <a:ext cx="3127248" cy="105156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Detection has to be fast, deterministic and inspectable. Pixel deltas are grouped into regions and merged, so the answer is a bounded box, not a scatter of pixels.</a:t>
            </a:r>
            <a:endParaRPr lang="en-US" sz="1100" dirty="0"/>
          </a:p>
        </p:txBody>
      </p:sp>
      <p:sp>
        <p:nvSpPr>
          <p:cNvPr id="10" name="Shape 8"/>
          <p:cNvSpPr/>
          <p:nvPr/>
        </p:nvSpPr>
        <p:spPr>
          <a:xfrm>
            <a:off x="8247888" y="1463040"/>
            <a:ext cx="3566160"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1" name="Text 9"/>
          <p:cNvSpPr/>
          <p:nvPr/>
        </p:nvSpPr>
        <p:spPr>
          <a:xfrm>
            <a:off x="8467344" y="1627632"/>
            <a:ext cx="3127248" cy="502920"/>
          </a:xfrm>
          <a:prstGeom prst="rect">
            <a:avLst/>
          </a:prstGeom>
          <a:noFill/>
          <a:ln/>
        </p:spPr>
        <p:txBody>
          <a:bodyPr wrap="square" lIns="0" tIns="0" rIns="0" bIns="0" rtlCol="0" anchor="t"/>
          <a:lstStyle/>
          <a:p>
            <a:pPr marL="0" indent="0">
              <a:buNone/>
            </a:pPr>
            <a:r>
              <a:rPr lang="en-US" sz="1400" b="1" dirty="0">
                <a:solidFill>
                  <a:srgbClr val="0F2742"/>
                </a:solidFill>
                <a:latin typeface="Calibri" pitchFamily="34" charset="0"/>
                <a:ea typeface="Calibri" pitchFamily="34" charset="-122"/>
                <a:cs typeface="Calibri" pitchFamily="34" charset="-120"/>
              </a:rPr>
              <a:t>PyTorch — ResNet50 Siamese</a:t>
            </a:r>
            <a:endParaRPr lang="en-US" sz="1400" dirty="0"/>
          </a:p>
        </p:txBody>
      </p:sp>
      <p:sp>
        <p:nvSpPr>
          <p:cNvPr id="12" name="Text 10"/>
          <p:cNvSpPr/>
          <p:nvPr/>
        </p:nvSpPr>
        <p:spPr>
          <a:xfrm>
            <a:off x="8467344" y="2157984"/>
            <a:ext cx="3127248" cy="105156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The task is literally "compare two images", which is what a siamese head is for, and ImageNet pre-training is what makes it trainable on a project-sized labelled set.</a:t>
            </a:r>
            <a:endParaRPr lang="en-US" sz="1100" dirty="0"/>
          </a:p>
        </p:txBody>
      </p:sp>
      <p:sp>
        <p:nvSpPr>
          <p:cNvPr id="13" name="Shape 11"/>
          <p:cNvSpPr/>
          <p:nvPr/>
        </p:nvSpPr>
        <p:spPr>
          <a:xfrm>
            <a:off x="566928" y="3566160"/>
            <a:ext cx="3566160"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4" name="Text 12"/>
          <p:cNvSpPr/>
          <p:nvPr/>
        </p:nvSpPr>
        <p:spPr>
          <a:xfrm>
            <a:off x="786384" y="3730752"/>
            <a:ext cx="3127248" cy="502920"/>
          </a:xfrm>
          <a:prstGeom prst="rect">
            <a:avLst/>
          </a:prstGeom>
          <a:noFill/>
          <a:ln/>
        </p:spPr>
        <p:txBody>
          <a:bodyPr wrap="square" lIns="0" tIns="0" rIns="0" bIns="0" rtlCol="0" anchor="t"/>
          <a:lstStyle/>
          <a:p>
            <a:pPr marL="0" indent="0">
              <a:buNone/>
            </a:pPr>
            <a:r>
              <a:rPr lang="en-US" sz="1400" b="1" dirty="0">
                <a:solidFill>
                  <a:srgbClr val="0F2742"/>
                </a:solidFill>
                <a:latin typeface="Calibri" pitchFamily="34" charset="0"/>
                <a:ea typeface="Calibri" pitchFamily="34" charset="-122"/>
                <a:cs typeface="Calibri" pitchFamily="34" charset="-120"/>
              </a:rPr>
              <a:t>FastAPI</a:t>
            </a:r>
            <a:endParaRPr lang="en-US" sz="1400" dirty="0"/>
          </a:p>
        </p:txBody>
      </p:sp>
      <p:sp>
        <p:nvSpPr>
          <p:cNvPr id="15" name="Text 13"/>
          <p:cNvSpPr/>
          <p:nvPr/>
        </p:nvSpPr>
        <p:spPr>
          <a:xfrm>
            <a:off x="786384" y="4261104"/>
            <a:ext cx="3127248" cy="105156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Async request handling for long captures, dependency injection for the role checks, and an OpenAPI reference generated from the code rather than maintained beside it.</a:t>
            </a:r>
            <a:endParaRPr lang="en-US" sz="1100" dirty="0"/>
          </a:p>
        </p:txBody>
      </p:sp>
      <p:sp>
        <p:nvSpPr>
          <p:cNvPr id="16" name="Shape 14"/>
          <p:cNvSpPr/>
          <p:nvPr/>
        </p:nvSpPr>
        <p:spPr>
          <a:xfrm>
            <a:off x="4407408" y="3566160"/>
            <a:ext cx="3566160"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7" name="Text 15"/>
          <p:cNvSpPr/>
          <p:nvPr/>
        </p:nvSpPr>
        <p:spPr>
          <a:xfrm>
            <a:off x="4626864" y="3730752"/>
            <a:ext cx="3127248" cy="502920"/>
          </a:xfrm>
          <a:prstGeom prst="rect">
            <a:avLst/>
          </a:prstGeom>
          <a:noFill/>
          <a:ln/>
        </p:spPr>
        <p:txBody>
          <a:bodyPr wrap="square" lIns="0" tIns="0" rIns="0" bIns="0" rtlCol="0" anchor="t"/>
          <a:lstStyle/>
          <a:p>
            <a:pPr marL="0" indent="0">
              <a:buNone/>
            </a:pPr>
            <a:r>
              <a:rPr lang="en-US" sz="1400" b="1" dirty="0">
                <a:solidFill>
                  <a:srgbClr val="0F2742"/>
                </a:solidFill>
                <a:latin typeface="Calibri" pitchFamily="34" charset="0"/>
                <a:ea typeface="Calibri" pitchFamily="34" charset="-122"/>
                <a:cs typeface="Calibri" pitchFamily="34" charset="-120"/>
              </a:rPr>
              <a:t>SQLite → PostgreSQL</a:t>
            </a:r>
            <a:endParaRPr lang="en-US" sz="1400" dirty="0"/>
          </a:p>
        </p:txBody>
      </p:sp>
      <p:sp>
        <p:nvSpPr>
          <p:cNvPr id="18" name="Text 16"/>
          <p:cNvSpPr/>
          <p:nvPr/>
        </p:nvSpPr>
        <p:spPr>
          <a:xfrm>
            <a:off x="4626864" y="4261104"/>
            <a:ext cx="3127248" cy="105156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Zero-config by default so setup stays fifteen minutes; one shared base store means a team that outgrows SQLite changes a connection string, not a code path.</a:t>
            </a:r>
            <a:endParaRPr lang="en-US" sz="1100" dirty="0"/>
          </a:p>
        </p:txBody>
      </p:sp>
      <p:sp>
        <p:nvSpPr>
          <p:cNvPr id="19" name="Shape 17"/>
          <p:cNvSpPr/>
          <p:nvPr/>
        </p:nvSpPr>
        <p:spPr>
          <a:xfrm>
            <a:off x="8247888" y="3566160"/>
            <a:ext cx="3566160" cy="1828800"/>
          </a:xfrm>
          <a:prstGeom prst="roundRect">
            <a:avLst>
              <a:gd name="adj" fmla="val 4500"/>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20" name="Text 18"/>
          <p:cNvSpPr/>
          <p:nvPr/>
        </p:nvSpPr>
        <p:spPr>
          <a:xfrm>
            <a:off x="8467344" y="3730752"/>
            <a:ext cx="3127248" cy="502920"/>
          </a:xfrm>
          <a:prstGeom prst="rect">
            <a:avLst/>
          </a:prstGeom>
          <a:noFill/>
          <a:ln/>
        </p:spPr>
        <p:txBody>
          <a:bodyPr wrap="square" lIns="0" tIns="0" rIns="0" bIns="0" rtlCol="0" anchor="t"/>
          <a:lstStyle/>
          <a:p>
            <a:pPr marL="0" indent="0">
              <a:buNone/>
            </a:pPr>
            <a:r>
              <a:rPr lang="en-US" sz="1400" b="1" dirty="0">
                <a:solidFill>
                  <a:srgbClr val="0F2742"/>
                </a:solidFill>
                <a:latin typeface="Calibri" pitchFamily="34" charset="0"/>
                <a:ea typeface="Calibri" pitchFamily="34" charset="-122"/>
                <a:cs typeface="Calibri" pitchFamily="34" charset="-120"/>
              </a:rPr>
              <a:t>Docker + GitHub Actions</a:t>
            </a:r>
            <a:endParaRPr lang="en-US" sz="1400" dirty="0"/>
          </a:p>
        </p:txBody>
      </p:sp>
      <p:sp>
        <p:nvSpPr>
          <p:cNvPr id="21" name="Text 19"/>
          <p:cNvSpPr/>
          <p:nvPr/>
        </p:nvSpPr>
        <p:spPr>
          <a:xfrm>
            <a:off x="8467344" y="4261104"/>
            <a:ext cx="3127248" cy="1051560"/>
          </a:xfrm>
          <a:prstGeom prst="rect">
            <a:avLst/>
          </a:prstGeom>
          <a:noFill/>
          <a:ln/>
        </p:spPr>
        <p:txBody>
          <a:bodyPr wrap="square" lIns="0" tIns="0" rIns="0" bIns="0" rtlCol="0" anchor="t"/>
          <a:lstStyle/>
          <a:p>
            <a:pPr marL="0" indent="0">
              <a:buNone/>
            </a:pPr>
            <a:r>
              <a:rPr lang="en-US" sz="1100" dirty="0">
                <a:solidFill>
                  <a:srgbClr val="44566C"/>
                </a:solidFill>
                <a:latin typeface="Calibri" pitchFamily="34" charset="0"/>
                <a:ea typeface="Calibri" pitchFamily="34" charset="-122"/>
                <a:cs typeface="Calibri" pitchFamily="34" charset="-120"/>
              </a:rPr>
              <a:t>Chromium renders text differently per platform, so baselines are captured inside the project's own image. A check that captures its reference on the machine under test cannot fail.</a:t>
            </a:r>
            <a:endParaRPr lang="en-US" sz="1100" dirty="0"/>
          </a:p>
        </p:txBody>
      </p:sp>
      <p:sp>
        <p:nvSpPr>
          <p:cNvPr id="22" name="Text 20"/>
          <p:cNvSpPr/>
          <p:nvPr/>
        </p:nvSpPr>
        <p:spPr>
          <a:xfrm>
            <a:off x="566928" y="5715000"/>
            <a:ext cx="11064240" cy="411480"/>
          </a:xfrm>
          <a:prstGeom prst="rect">
            <a:avLst/>
          </a:prstGeom>
          <a:noFill/>
          <a:ln/>
        </p:spPr>
        <p:txBody>
          <a:bodyPr wrap="square" lIns="0" tIns="0" rIns="0" bIns="0" rtlCol="0" anchor="ctr"/>
          <a:lstStyle/>
          <a:p>
            <a:pPr marL="0" indent="0">
              <a:buNone/>
            </a:pPr>
            <a:r>
              <a:rPr lang="en-US" sz="1350" i="1" dirty="0">
                <a:solidFill>
                  <a:srgbClr val="0F2742"/>
                </a:solidFill>
                <a:latin typeface="Calibri" pitchFamily="34" charset="0"/>
                <a:ea typeface="Calibri" pitchFamily="34" charset="-122"/>
                <a:cs typeface="Calibri" pitchFamily="34" charset="-120"/>
              </a:rPr>
              <a:t>Nothing on this list is a paid service. That is what lets the product ship as something the client runs themselves.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DEVELOPMENT PROCESS</a:t>
            </a:r>
            <a:endParaRPr lang="en-US" sz="1150" dirty="0"/>
          </a:p>
        </p:txBody>
      </p:sp>
      <p:sp>
        <p:nvSpPr>
          <p:cNvPr id="3" name="Text 1"/>
          <p:cNvSpPr/>
          <p:nvPr/>
        </p:nvSpPr>
        <p:spPr>
          <a:xfrm>
            <a:off x="566928" y="384048"/>
            <a:ext cx="640080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Built so the claims can be checked</a:t>
            </a:r>
            <a:endParaRPr lang="en-US" sz="3200" dirty="0"/>
          </a:p>
        </p:txBody>
      </p:sp>
      <p:pic>
        <p:nvPicPr>
          <p:cNvPr id="4" name="Image 0" descr="/sessions/tender-wizardly-brahmagupta/mnt/outputs/img/architecture.png"/>
          <p:cNvPicPr>
            <a:picLocks noChangeAspect="1"/>
          </p:cNvPicPr>
          <p:nvPr/>
        </p:nvPicPr>
        <p:blipFill>
          <a:blip r:embed="rId3"/>
          <a:stretch>
            <a:fillRect/>
          </a:stretch>
        </p:blipFill>
        <p:spPr>
          <a:xfrm>
            <a:off x="5532120" y="1353312"/>
            <a:ext cx="6099048" cy="4946904"/>
          </a:xfrm>
          <a:prstGeom prst="rect">
            <a:avLst/>
          </a:prstGeom>
        </p:spPr>
      </p:pic>
      <p:sp>
        <p:nvSpPr>
          <p:cNvPr id="5" name="Text 2"/>
          <p:cNvSpPr/>
          <p:nvPr/>
        </p:nvSpPr>
        <p:spPr>
          <a:xfrm>
            <a:off x="566928" y="1463040"/>
            <a:ext cx="4663440" cy="548640"/>
          </a:xfrm>
          <a:prstGeom prst="rect">
            <a:avLst/>
          </a:prstGeom>
          <a:noFill/>
          <a:ln/>
        </p:spPr>
        <p:txBody>
          <a:bodyPr wrap="square" lIns="0" tIns="0" rIns="0" bIns="0" rtlCol="0" anchor="t"/>
          <a:lstStyle/>
          <a:p>
            <a:pPr marL="0" indent="0">
              <a:buNone/>
            </a:pPr>
            <a:r>
              <a:rPr lang="en-US" sz="1450" b="1" dirty="0">
                <a:solidFill>
                  <a:srgbClr val="0F2742"/>
                </a:solidFill>
                <a:latin typeface="Calibri" pitchFamily="34" charset="0"/>
                <a:ea typeface="Calibri" pitchFamily="34" charset="-122"/>
                <a:cs typeface="Calibri" pitchFamily="34" charset="-120"/>
              </a:rPr>
              <a:t>Decisions are recorded, not remembered</a:t>
            </a:r>
            <a:endParaRPr lang="en-US" sz="1450" dirty="0"/>
          </a:p>
        </p:txBody>
      </p:sp>
      <p:sp>
        <p:nvSpPr>
          <p:cNvPr id="6" name="Text 3"/>
          <p:cNvSpPr/>
          <p:nvPr/>
        </p:nvSpPr>
        <p:spPr>
          <a:xfrm>
            <a:off x="566928" y="2011680"/>
            <a:ext cx="4663440" cy="1005840"/>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Every choice that would otherwise look arbitrary has an ADR — why detection and classification are separate metrics, why baselines are committed but models are not.</a:t>
            </a:r>
            <a:endParaRPr lang="en-US" sz="1200" dirty="0"/>
          </a:p>
        </p:txBody>
      </p:sp>
      <p:sp>
        <p:nvSpPr>
          <p:cNvPr id="7" name="Text 4"/>
          <p:cNvSpPr/>
          <p:nvPr/>
        </p:nvSpPr>
        <p:spPr>
          <a:xfrm>
            <a:off x="566928" y="3035808"/>
            <a:ext cx="4663440" cy="548640"/>
          </a:xfrm>
          <a:prstGeom prst="rect">
            <a:avLst/>
          </a:prstGeom>
          <a:noFill/>
          <a:ln/>
        </p:spPr>
        <p:txBody>
          <a:bodyPr wrap="square" lIns="0" tIns="0" rIns="0" bIns="0" rtlCol="0" anchor="t"/>
          <a:lstStyle/>
          <a:p>
            <a:pPr marL="0" indent="0">
              <a:buNone/>
            </a:pPr>
            <a:r>
              <a:rPr lang="en-US" sz="1450" b="1" dirty="0">
                <a:solidFill>
                  <a:srgbClr val="0F2742"/>
                </a:solidFill>
                <a:latin typeface="Calibri" pitchFamily="34" charset="0"/>
                <a:ea typeface="Calibri" pitchFamily="34" charset="-122"/>
                <a:cs typeface="Calibri" pitchFamily="34" charset="-120"/>
              </a:rPr>
              <a:t>The DOM capture script lives on the server</a:t>
            </a:r>
            <a:endParaRPr lang="en-US" sz="1450" dirty="0"/>
          </a:p>
        </p:txBody>
      </p:sp>
      <p:sp>
        <p:nvSpPr>
          <p:cNvPr id="8" name="Text 5"/>
          <p:cNvSpPr/>
          <p:nvPr/>
        </p:nvSpPr>
        <p:spPr>
          <a:xfrm>
            <a:off x="566928" y="3584448"/>
            <a:ext cx="4663440" cy="1005840"/>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The SDK fetches it from an endpoint instead of duplicating it in TypeScript, so a field added to the capture reaches every client without an SDK release.</a:t>
            </a:r>
            <a:endParaRPr lang="en-US" sz="1200" dirty="0"/>
          </a:p>
        </p:txBody>
      </p:sp>
      <p:sp>
        <p:nvSpPr>
          <p:cNvPr id="9" name="Text 6"/>
          <p:cNvSpPr/>
          <p:nvPr/>
        </p:nvSpPr>
        <p:spPr>
          <a:xfrm>
            <a:off x="566928" y="4608576"/>
            <a:ext cx="4663440" cy="548640"/>
          </a:xfrm>
          <a:prstGeom prst="rect">
            <a:avLst/>
          </a:prstGeom>
          <a:noFill/>
          <a:ln/>
        </p:spPr>
        <p:txBody>
          <a:bodyPr wrap="square" lIns="0" tIns="0" rIns="0" bIns="0" rtlCol="0" anchor="t"/>
          <a:lstStyle/>
          <a:p>
            <a:pPr marL="0" indent="0">
              <a:buNone/>
            </a:pPr>
            <a:r>
              <a:rPr lang="en-US" sz="1450" b="1" dirty="0">
                <a:solidFill>
                  <a:srgbClr val="0F2742"/>
                </a:solidFill>
                <a:latin typeface="Calibri" pitchFamily="34" charset="0"/>
                <a:ea typeface="Calibri" pitchFamily="34" charset="-122"/>
                <a:cs typeface="Calibri" pitchFamily="34" charset="-120"/>
              </a:rPr>
              <a:t>The ablation drove the code</a:t>
            </a:r>
            <a:endParaRPr lang="en-US" sz="1450" dirty="0"/>
          </a:p>
        </p:txBody>
      </p:sp>
      <p:sp>
        <p:nvSpPr>
          <p:cNvPr id="10" name="Text 7"/>
          <p:cNvSpPr/>
          <p:nvPr/>
        </p:nvSpPr>
        <p:spPr>
          <a:xfrm>
            <a:off x="566928" y="5157216"/>
            <a:ext cx="4663440" cy="1005840"/>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It exposed four inference paths zero-padding the pixel-structural columns — the model had been trained on evidence it never received in production. Fixing that meant retraining.</a:t>
            </a:r>
            <a:endParaRPr lang="en-US" sz="1200" dirty="0"/>
          </a:p>
        </p:txBody>
      </p:sp>
      <p:sp>
        <p:nvSpPr>
          <p:cNvPr id="11" name="Text 8"/>
          <p:cNvSpPr/>
          <p:nvPr/>
        </p:nvSpPr>
        <p:spPr>
          <a:xfrm>
            <a:off x="566928" y="5532120"/>
            <a:ext cx="4709160" cy="914400"/>
          </a:xfrm>
          <a:prstGeom prst="rect">
            <a:avLst/>
          </a:prstGeom>
          <a:noFill/>
          <a:ln/>
        </p:spPr>
        <p:txBody>
          <a:bodyPr wrap="square" lIns="0" tIns="0" rIns="0" bIns="0" rtlCol="0" anchor="ctr"/>
          <a:lstStyle/>
          <a:p>
            <a:pPr marL="0" indent="0">
              <a:buNone/>
            </a:pPr>
            <a:r>
              <a:rPr lang="en-US" sz="1200" b="1" dirty="0">
                <a:solidFill>
                  <a:srgbClr val="0F2742"/>
                </a:solidFill>
                <a:latin typeface="Calibri" pitchFamily="34" charset="0"/>
                <a:ea typeface="Calibri" pitchFamily="34" charset="-122"/>
                <a:cs typeface="Calibri" pitchFamily="34" charset="-120"/>
              </a:rPr>
              <a:t>Verified continuously   </a:t>
            </a:r>
            <a:r>
              <a:rPr lang="en-US" sz="1200" dirty="0">
                <a:solidFill>
                  <a:srgbClr val="44566C"/>
                </a:solidFill>
                <a:latin typeface="Calibri" pitchFamily="34" charset="0"/>
                <a:ea typeface="Calibri" pitchFamily="34" charset="-122"/>
                <a:cs typeface="Calibri" pitchFamily="34" charset="-120"/>
              </a:rPr>
              <a:t>1,098 automated tests, a detection benchmark that fails the build on a single miss, and a separate smoke test proving the AI path actually executed.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THE CODE</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The two lines that make it more than a pixel differ</a:t>
            </a:r>
            <a:endParaRPr lang="en-US" sz="3200" dirty="0"/>
          </a:p>
        </p:txBody>
      </p:sp>
      <p:sp>
        <p:nvSpPr>
          <p:cNvPr id="4" name="Shape 2"/>
          <p:cNvSpPr/>
          <p:nvPr/>
        </p:nvSpPr>
        <p:spPr>
          <a:xfrm>
            <a:off x="566928" y="1417320"/>
            <a:ext cx="5669280" cy="3246120"/>
          </a:xfrm>
          <a:prstGeom prst="roundRect">
            <a:avLst>
              <a:gd name="adj" fmla="val 2535"/>
            </a:avLst>
          </a:prstGeom>
          <a:solidFill>
            <a:srgbClr val="0F2742"/>
          </a:solidFill>
          <a:ln/>
        </p:spPr>
        <p:txBody>
          <a:bodyPr/>
          <a:lstStyle/>
          <a:p>
            <a:endParaRPr lang="en-MY"/>
          </a:p>
        </p:txBody>
      </p:sp>
      <p:sp>
        <p:nvSpPr>
          <p:cNvPr id="5" name="Text 3"/>
          <p:cNvSpPr/>
          <p:nvPr/>
        </p:nvSpPr>
        <p:spPr>
          <a:xfrm>
            <a:off x="841248" y="1572768"/>
            <a:ext cx="5120640" cy="274320"/>
          </a:xfrm>
          <a:prstGeom prst="rect">
            <a:avLst/>
          </a:prstGeom>
          <a:noFill/>
          <a:ln/>
        </p:spPr>
        <p:txBody>
          <a:bodyPr wrap="square" lIns="0" tIns="0" rIns="0" bIns="0" rtlCol="0" anchor="ctr"/>
          <a:lstStyle/>
          <a:p>
            <a:pPr marL="0" indent="0">
              <a:buNone/>
            </a:pPr>
            <a:r>
              <a:rPr lang="en-US" sz="1100" b="1" dirty="0">
                <a:solidFill>
                  <a:srgbClr val="FF6A2B"/>
                </a:solidFill>
                <a:latin typeface="Calibri" pitchFamily="34" charset="0"/>
                <a:ea typeface="Calibri" pitchFamily="34" charset="-122"/>
                <a:cs typeface="Calibri" pitchFamily="34" charset="-120"/>
              </a:rPr>
              <a:t>visual_regression/decision.py</a:t>
            </a:r>
            <a:endParaRPr lang="en-US" sz="1100" dirty="0"/>
          </a:p>
        </p:txBody>
      </p:sp>
      <p:sp>
        <p:nvSpPr>
          <p:cNvPr id="6" name="Text 4"/>
          <p:cNvSpPr/>
          <p:nvPr/>
        </p:nvSpPr>
        <p:spPr>
          <a:xfrm>
            <a:off x="841248" y="1965960"/>
            <a:ext cx="5120640" cy="2514600"/>
          </a:xfrm>
          <a:prstGeom prst="rect">
            <a:avLst/>
          </a:prstGeom>
          <a:noFill/>
          <a:ln/>
        </p:spPr>
        <p:txBody>
          <a:bodyPr wrap="square" lIns="0" tIns="0" rIns="0" bIns="0" rtlCol="0" anchor="t"/>
          <a:lstStyle/>
          <a:p>
            <a:pPr marL="0" indent="0">
              <a:lnSpc>
                <a:spcPts val="1500"/>
              </a:lnSpc>
              <a:buNone/>
            </a:pPr>
            <a:r>
              <a:rPr lang="en-US" sz="1100" dirty="0">
                <a:solidFill>
                  <a:srgbClr val="6B8CAE"/>
                </a:solidFill>
                <a:latin typeface="Courier New" pitchFamily="34" charset="0"/>
                <a:ea typeface="Courier New" pitchFamily="34" charset="-122"/>
                <a:cs typeface="Courier New" pitchFamily="34" charset="-120"/>
              </a:rPr>
              <a:t># A CNN score is a probabilistic guess, so it is
# gated behind pixel corroboration.
# A DOM-diff verdict is not a guess.
</a:t>
            </a:r>
            <a:endParaRPr lang="en-US" sz="1100" dirty="0"/>
          </a:p>
          <a:p>
            <a:pPr marL="0" indent="0">
              <a:lnSpc>
                <a:spcPts val="1500"/>
              </a:lnSpc>
              <a:buNone/>
            </a:pPr>
            <a:r>
              <a:rPr lang="en-US" sz="1100" dirty="0">
                <a:solidFill>
                  <a:srgbClr val="FFFFFF"/>
                </a:solidFill>
                <a:latin typeface="Courier New" pitchFamily="34" charset="0"/>
                <a:ea typeface="Courier New" pitchFamily="34" charset="-122"/>
                <a:cs typeface="Courier New" pitchFamily="34" charset="-120"/>
              </a:rPr>
              <a:t>dom_confirmed = bool(
    ai_assessment.get("dom_confirmed"))
</a:t>
            </a:r>
            <a:endParaRPr lang="en-US" sz="1100" dirty="0"/>
          </a:p>
          <a:p>
            <a:pPr marL="0" indent="0">
              <a:lnSpc>
                <a:spcPts val="1500"/>
              </a:lnSpc>
              <a:buNone/>
            </a:pPr>
            <a:r>
              <a:rPr lang="en-US" sz="1100" dirty="0">
                <a:solidFill>
                  <a:srgbClr val="FF6A2B"/>
                </a:solidFill>
                <a:latin typeface="Courier New" pitchFamily="34" charset="0"/>
                <a:ea typeface="Courier New" pitchFamily="34" charset="-122"/>
                <a:cs typeface="Courier New" pitchFamily="34" charset="-120"/>
              </a:rPr>
              <a:t>passed = not (meaningful and
              (pixel_fail or dom_confirmed))
</a:t>
            </a:r>
            <a:endParaRPr lang="en-US" sz="1100" dirty="0"/>
          </a:p>
          <a:p>
            <a:pPr marL="0" indent="0">
              <a:lnSpc>
                <a:spcPts val="1500"/>
              </a:lnSpc>
              <a:buNone/>
            </a:pPr>
            <a:r>
              <a:rPr lang="en-US" sz="1100" dirty="0">
                <a:solidFill>
                  <a:srgbClr val="FFFFFF"/>
                </a:solidFill>
                <a:latin typeface="Courier New" pitchFamily="34" charset="0"/>
                <a:ea typeface="Courier New" pitchFamily="34" charset="-122"/>
                <a:cs typeface="Courier New" pitchFamily="34" charset="-120"/>
              </a:rPr>
              <a:t>decision_source = "hybrid"</a:t>
            </a:r>
            <a:endParaRPr lang="en-US" sz="1100" dirty="0"/>
          </a:p>
        </p:txBody>
      </p:sp>
      <p:sp>
        <p:nvSpPr>
          <p:cNvPr id="7" name="Text 5"/>
          <p:cNvSpPr/>
          <p:nvPr/>
        </p:nvSpPr>
        <p:spPr>
          <a:xfrm>
            <a:off x="566928" y="4846320"/>
            <a:ext cx="5669280" cy="822960"/>
          </a:xfrm>
          <a:prstGeom prst="rect">
            <a:avLst/>
          </a:prstGeom>
          <a:noFill/>
          <a:ln/>
        </p:spPr>
        <p:txBody>
          <a:bodyPr wrap="square" lIns="0" tIns="0" rIns="0" bIns="0" rtlCol="0" anchor="ctr"/>
          <a:lstStyle/>
          <a:p>
            <a:pPr marL="0" indent="0">
              <a:buNone/>
            </a:pPr>
            <a:r>
              <a:rPr lang="en-US" sz="1200" dirty="0">
                <a:solidFill>
                  <a:srgbClr val="44566C"/>
                </a:solidFill>
                <a:latin typeface="Calibri" pitchFamily="34" charset="0"/>
                <a:ea typeface="Calibri" pitchFamily="34" charset="-122"/>
                <a:cs typeface="Calibri" pitchFamily="34" charset="-120"/>
              </a:rPr>
              <a:t>A removed element can be a tiny fraction of the page's pixels and still be a real defect. This is the line that stops the noise floor from swallowing it.</a:t>
            </a:r>
            <a:endParaRPr lang="en-US" sz="1200" dirty="0"/>
          </a:p>
        </p:txBody>
      </p:sp>
      <p:sp>
        <p:nvSpPr>
          <p:cNvPr id="8" name="Shape 6"/>
          <p:cNvSpPr/>
          <p:nvPr/>
        </p:nvSpPr>
        <p:spPr>
          <a:xfrm>
            <a:off x="6510528" y="1417320"/>
            <a:ext cx="5120640" cy="3246120"/>
          </a:xfrm>
          <a:prstGeom prst="roundRect">
            <a:avLst>
              <a:gd name="adj" fmla="val 2535"/>
            </a:avLst>
          </a:prstGeom>
          <a:solidFill>
            <a:srgbClr val="0F2742"/>
          </a:solidFill>
          <a:ln/>
        </p:spPr>
        <p:txBody>
          <a:bodyPr/>
          <a:lstStyle/>
          <a:p>
            <a:endParaRPr lang="en-MY"/>
          </a:p>
        </p:txBody>
      </p:sp>
      <p:sp>
        <p:nvSpPr>
          <p:cNvPr id="9" name="Text 7"/>
          <p:cNvSpPr/>
          <p:nvPr/>
        </p:nvSpPr>
        <p:spPr>
          <a:xfrm>
            <a:off x="6784848" y="1572768"/>
            <a:ext cx="4572000" cy="274320"/>
          </a:xfrm>
          <a:prstGeom prst="rect">
            <a:avLst/>
          </a:prstGeom>
          <a:noFill/>
          <a:ln/>
        </p:spPr>
        <p:txBody>
          <a:bodyPr wrap="square" lIns="0" tIns="0" rIns="0" bIns="0" rtlCol="0" anchor="ctr"/>
          <a:lstStyle/>
          <a:p>
            <a:pPr marL="0" indent="0">
              <a:buNone/>
            </a:pPr>
            <a:r>
              <a:rPr lang="en-US" sz="1100" b="1" dirty="0">
                <a:solidFill>
                  <a:srgbClr val="FF6A2B"/>
                </a:solidFill>
                <a:latin typeface="Calibri" pitchFamily="34" charset="0"/>
                <a:ea typeface="Calibri" pitchFamily="34" charset="-122"/>
                <a:cs typeface="Calibri" pitchFamily="34" charset="-120"/>
              </a:rPr>
              <a:t>sdk/src/index.ts  —  used from a client's test</a:t>
            </a:r>
            <a:endParaRPr lang="en-US" sz="1100" dirty="0"/>
          </a:p>
        </p:txBody>
      </p:sp>
      <p:sp>
        <p:nvSpPr>
          <p:cNvPr id="10" name="Text 8"/>
          <p:cNvSpPr/>
          <p:nvPr/>
        </p:nvSpPr>
        <p:spPr>
          <a:xfrm>
            <a:off x="6784848" y="1965960"/>
            <a:ext cx="4572000" cy="2514600"/>
          </a:xfrm>
          <a:prstGeom prst="rect">
            <a:avLst/>
          </a:prstGeom>
          <a:noFill/>
          <a:ln/>
        </p:spPr>
        <p:txBody>
          <a:bodyPr wrap="square" lIns="0" tIns="0" rIns="0" bIns="0" rtlCol="0" anchor="t"/>
          <a:lstStyle/>
          <a:p>
            <a:pPr marL="0" indent="0">
              <a:lnSpc>
                <a:spcPts val="1500"/>
              </a:lnSpc>
              <a:buNone/>
            </a:pPr>
            <a:r>
              <a:rPr lang="en-US" sz="1100" dirty="0">
                <a:solidFill>
                  <a:srgbClr val="FFFFFF"/>
                </a:solidFill>
                <a:latin typeface="Courier New" pitchFamily="34" charset="0"/>
                <a:ea typeface="Courier New" pitchFamily="34" charset="-122"/>
                <a:cs typeface="Courier New" pitchFamily="34" charset="-120"/>
              </a:rPr>
              <a:t>test('homepage', async ({ page }) =&gt; {
  await page.goto('https://acme.com');
</a:t>
            </a:r>
            <a:endParaRPr lang="en-US" sz="1100" dirty="0"/>
          </a:p>
          <a:p>
            <a:pPr marL="0" indent="0">
              <a:lnSpc>
                <a:spcPts val="1500"/>
              </a:lnSpc>
              <a:buNone/>
            </a:pPr>
            <a:r>
              <a:rPr lang="en-US" sz="1100" dirty="0">
                <a:solidFill>
                  <a:srgbClr val="6B8CAE"/>
                </a:solidFill>
                <a:latin typeface="Courier New" pitchFamily="34" charset="0"/>
                <a:ea typeface="Courier New" pitchFamily="34" charset="-122"/>
                <a:cs typeface="Courier New" pitchFamily="34" charset="-120"/>
              </a:rPr>
              <a:t>  // uploads the DOM alongside the
  // screenshot - one evaluate() away,
  // since we already hold the Page
</a:t>
            </a:r>
            <a:endParaRPr lang="en-US" sz="1100" dirty="0"/>
          </a:p>
          <a:p>
            <a:pPr marL="0" indent="0">
              <a:lnSpc>
                <a:spcPts val="1500"/>
              </a:lnSpc>
              <a:buNone/>
            </a:pPr>
            <a:r>
              <a:rPr lang="en-US" sz="1100" dirty="0">
                <a:solidFill>
                  <a:srgbClr val="FF6A2B"/>
                </a:solidFill>
                <a:latin typeface="Courier New" pitchFamily="34" charset="0"/>
                <a:ea typeface="Courier New" pitchFamily="34" charset="-122"/>
                <a:cs typeface="Courier New" pitchFamily="34" charset="-120"/>
              </a:rPr>
              <a:t>  await visualSnapshot(page, 'homepage');
</a:t>
            </a:r>
            <a:endParaRPr lang="en-US" sz="1100" dirty="0"/>
          </a:p>
          <a:p>
            <a:pPr marL="0" indent="0">
              <a:lnSpc>
                <a:spcPts val="1500"/>
              </a:lnSpc>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11" name="Text 9"/>
          <p:cNvSpPr/>
          <p:nvPr/>
        </p:nvSpPr>
        <p:spPr>
          <a:xfrm>
            <a:off x="6510528" y="4846320"/>
            <a:ext cx="5120640" cy="822960"/>
          </a:xfrm>
          <a:prstGeom prst="rect">
            <a:avLst/>
          </a:prstGeom>
          <a:noFill/>
          <a:ln/>
        </p:spPr>
        <p:txBody>
          <a:bodyPr wrap="square" lIns="0" tIns="0" rIns="0" bIns="0" rtlCol="0" anchor="ctr"/>
          <a:lstStyle/>
          <a:p>
            <a:pPr marL="0" indent="0">
              <a:buNone/>
            </a:pPr>
            <a:r>
              <a:rPr lang="en-US" sz="1200" dirty="0">
                <a:solidFill>
                  <a:srgbClr val="44566C"/>
                </a:solidFill>
                <a:latin typeface="Calibri" pitchFamily="34" charset="0"/>
                <a:ea typeface="Calibri" pitchFamily="34" charset="-122"/>
                <a:cs typeface="Calibri" pitchFamily="34" charset="-120"/>
              </a:rPr>
              <a:t>An image-only upload leaves structural comparison nothing to work with. That is why the SDK sends both — and why an existing suite gets the full analysis from one line.</a:t>
            </a:r>
            <a:endParaRPr lang="en-US" sz="1200" dirty="0"/>
          </a:p>
        </p:txBody>
      </p:sp>
      <p:sp>
        <p:nvSpPr>
          <p:cNvPr id="12" name="Text 10"/>
          <p:cNvSpPr/>
          <p:nvPr/>
        </p:nvSpPr>
        <p:spPr>
          <a:xfrm>
            <a:off x="566928" y="5897880"/>
            <a:ext cx="11064240" cy="457200"/>
          </a:xfrm>
          <a:prstGeom prst="rect">
            <a:avLst/>
          </a:prstGeom>
          <a:noFill/>
          <a:ln/>
        </p:spPr>
        <p:txBody>
          <a:bodyPr wrap="square" lIns="0" tIns="0" rIns="0" bIns="0" rtlCol="0" anchor="ctr"/>
          <a:lstStyle/>
          <a:p>
            <a:pPr marL="0" indent="0">
              <a:buNone/>
            </a:pPr>
            <a:r>
              <a:rPr lang="en-US" sz="1200" i="1" dirty="0">
                <a:solidFill>
                  <a:srgbClr val="0F2742"/>
                </a:solidFill>
                <a:latin typeface="Calibri" pitchFamily="34" charset="0"/>
                <a:ea typeface="Calibri" pitchFamily="34" charset="-122"/>
                <a:cs typeface="Calibri" pitchFamily="34" charset="-120"/>
              </a:rPr>
              <a:t>Underneath: diagnose_from_dom_diff() buckets every baseline element, then resolves in priority order — id-backed missing before text, font, colour, then identity-less missing last.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THE CODE</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The function the ablation points at</a:t>
            </a:r>
            <a:endParaRPr lang="en-US" sz="3200" dirty="0"/>
          </a:p>
        </p:txBody>
      </p:sp>
      <p:sp>
        <p:nvSpPr>
          <p:cNvPr id="4" name="Shape 2"/>
          <p:cNvSpPr/>
          <p:nvPr/>
        </p:nvSpPr>
        <p:spPr>
          <a:xfrm>
            <a:off x="566928" y="1417320"/>
            <a:ext cx="6858000" cy="4160520"/>
          </a:xfrm>
          <a:prstGeom prst="roundRect">
            <a:avLst>
              <a:gd name="adj" fmla="val 1978"/>
            </a:avLst>
          </a:prstGeom>
          <a:solidFill>
            <a:srgbClr val="0F2742"/>
          </a:solidFill>
          <a:ln/>
        </p:spPr>
        <p:txBody>
          <a:bodyPr/>
          <a:lstStyle/>
          <a:p>
            <a:endParaRPr lang="en-MY"/>
          </a:p>
        </p:txBody>
      </p:sp>
      <p:sp>
        <p:nvSpPr>
          <p:cNvPr id="5" name="Text 3"/>
          <p:cNvSpPr/>
          <p:nvPr/>
        </p:nvSpPr>
        <p:spPr>
          <a:xfrm>
            <a:off x="841248" y="1572768"/>
            <a:ext cx="6309360" cy="274320"/>
          </a:xfrm>
          <a:prstGeom prst="rect">
            <a:avLst/>
          </a:prstGeom>
          <a:noFill/>
          <a:ln/>
        </p:spPr>
        <p:txBody>
          <a:bodyPr wrap="square" lIns="0" tIns="0" rIns="0" bIns="0" rtlCol="0" anchor="ctr"/>
          <a:lstStyle/>
          <a:p>
            <a:pPr marL="0" indent="0">
              <a:buNone/>
            </a:pPr>
            <a:r>
              <a:rPr lang="en-US" sz="1100" b="1" dirty="0">
                <a:solidFill>
                  <a:srgbClr val="FF6A2B"/>
                </a:solidFill>
                <a:latin typeface="Calibri" pitchFamily="34" charset="0"/>
                <a:ea typeface="Calibri" pitchFamily="34" charset="-122"/>
                <a:cs typeface="Calibri" pitchFamily="34" charset="-120"/>
              </a:rPr>
              <a:t>visual_regression/ai_features.py  —  diagnose_from_dom_diff()</a:t>
            </a:r>
            <a:endParaRPr lang="en-US" sz="1100" dirty="0"/>
          </a:p>
        </p:txBody>
      </p:sp>
      <p:sp>
        <p:nvSpPr>
          <p:cNvPr id="6" name="Text 4"/>
          <p:cNvSpPr/>
          <p:nvPr/>
        </p:nvSpPr>
        <p:spPr>
          <a:xfrm>
            <a:off x="841248" y="1938528"/>
            <a:ext cx="6309360" cy="3474720"/>
          </a:xfrm>
          <a:prstGeom prst="rect">
            <a:avLst/>
          </a:prstGeom>
          <a:noFill/>
          <a:ln/>
        </p:spPr>
        <p:txBody>
          <a:bodyPr wrap="square" lIns="0" tIns="0" rIns="0" bIns="0" rtlCol="0" anchor="t"/>
          <a:lstStyle/>
          <a:p>
            <a:pPr marL="0" indent="0">
              <a:lnSpc>
                <a:spcPts val="1500"/>
              </a:lnSpc>
              <a:buNone/>
            </a:pPr>
            <a:r>
              <a:rPr lang="en-US" sz="1050" dirty="0">
                <a:solidFill>
                  <a:srgbClr val="6B8CAE"/>
                </a:solidFill>
                <a:latin typeface="Courier New" pitchFamily="34" charset="0"/>
                <a:ea typeface="Courier New" pitchFamily="34" charset="-122"/>
                <a:cs typeface="Courier New" pitchFamily="34" charset="-120"/>
              </a:rPr>
              <a:t># every baseline element is bucketed, then buckets are
# resolved in priority order - not in document order
</a:t>
            </a:r>
            <a:endParaRPr lang="en-US" sz="1050" dirty="0"/>
          </a:p>
          <a:p>
            <a:pPr marL="0" indent="0">
              <a:lnSpc>
                <a:spcPts val="1500"/>
              </a:lnSpc>
              <a:buNone/>
            </a:pPr>
            <a:r>
              <a:rPr lang="en-US" sz="1050" dirty="0">
                <a:solidFill>
                  <a:srgbClr val="FF6A2B"/>
                </a:solidFill>
                <a:latin typeface="Courier New" pitchFamily="34" charset="0"/>
                <a:ea typeface="Courier New" pitchFamily="34" charset="-122"/>
                <a:cs typeface="Courier New" pitchFamily="34" charset="-120"/>
              </a:rPr>
              <a:t>if failed_to_load:
</a:t>
            </a:r>
            <a:endParaRPr lang="en-US" sz="1050" dirty="0"/>
          </a:p>
          <a:p>
            <a:pPr marL="0" indent="0">
              <a:lnSpc>
                <a:spcPts val="1500"/>
              </a:lnSpc>
              <a:buNone/>
            </a:pPr>
            <a:r>
              <a:rPr lang="en-US" sz="1050" dirty="0">
                <a:solidFill>
                  <a:srgbClr val="FFFFFF"/>
                </a:solidFill>
                <a:latin typeface="Courier New" pitchFamily="34" charset="0"/>
                <a:ea typeface="Courier New" pitchFamily="34" charset="-122"/>
                <a:cs typeface="Courier New" pitchFamily="34" charset="-120"/>
              </a:rPr>
              <a:t>    return "broken-image", (
        f"the &lt;img&gt; at ({x},{y}) still occupies its "
        f"{w}x{h} box but decoded to nothing")
</a:t>
            </a:r>
            <a:endParaRPr lang="en-US" sz="1050" dirty="0"/>
          </a:p>
          <a:p>
            <a:pPr marL="0" indent="0">
              <a:lnSpc>
                <a:spcPts val="1500"/>
              </a:lnSpc>
              <a:buNone/>
            </a:pPr>
            <a:r>
              <a:rPr lang="en-US" sz="1050" dirty="0">
                <a:solidFill>
                  <a:srgbClr val="FFFFFF"/>
                </a:solidFill>
                <a:latin typeface="Courier New" pitchFamily="34" charset="0"/>
                <a:ea typeface="Courier New" pitchFamily="34" charset="-122"/>
                <a:cs typeface="Courier New" pitchFamily="34" charset="-120"/>
              </a:rPr>
              <a:t>if missing_generic_strong: return "missing-element", ...
if text_issue:             return "text-issue", ...
if font_changed:           return "font-change", ...
if color_changed:          return "color-regression", ...
</a:t>
            </a:r>
            <a:endParaRPr lang="en-US" sz="1050" dirty="0"/>
          </a:p>
          <a:p>
            <a:pPr marL="0" indent="0">
              <a:lnSpc>
                <a:spcPts val="1500"/>
              </a:lnSpc>
              <a:buNone/>
            </a:pPr>
            <a:r>
              <a:rPr lang="en-US" sz="1050" dirty="0">
                <a:solidFill>
                  <a:srgbClr val="6B8CAE"/>
                </a:solidFill>
                <a:latin typeface="Courier New" pitchFamily="34" charset="0"/>
                <a:ea typeface="Courier New" pitchFamily="34" charset="-122"/>
                <a:cs typeface="Courier New" pitchFamily="34" charset="-120"/>
              </a:rPr>
              <a:t># identity-less "missing" is the noisiest verdict here,
# so it is the fallback rather than the first check
</a:t>
            </a:r>
            <a:endParaRPr lang="en-US" sz="1050" dirty="0"/>
          </a:p>
          <a:p>
            <a:pPr marL="0" indent="0">
              <a:lnSpc>
                <a:spcPts val="1500"/>
              </a:lnSpc>
              <a:buNone/>
            </a:pPr>
            <a:r>
              <a:rPr lang="en-US" sz="1050" dirty="0">
                <a:solidFill>
                  <a:srgbClr val="FF6A2B"/>
                </a:solidFill>
                <a:latin typeface="Courier New" pitchFamily="34" charset="0"/>
                <a:ea typeface="Courier New" pitchFamily="34" charset="-122"/>
                <a:cs typeface="Courier New" pitchFamily="34" charset="-120"/>
              </a:rPr>
              <a:t>if missing_generic_weak:   return "missing-element", ...</a:t>
            </a:r>
            <a:endParaRPr lang="en-US" sz="1050" dirty="0"/>
          </a:p>
        </p:txBody>
      </p:sp>
      <p:sp>
        <p:nvSpPr>
          <p:cNvPr id="7" name="Shape 5"/>
          <p:cNvSpPr/>
          <p:nvPr/>
        </p:nvSpPr>
        <p:spPr>
          <a:xfrm>
            <a:off x="7726680" y="1417320"/>
            <a:ext cx="3904488" cy="4160520"/>
          </a:xfrm>
          <a:prstGeom prst="roundRect">
            <a:avLst>
              <a:gd name="adj" fmla="val 2108"/>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8" name="Text 6"/>
          <p:cNvSpPr/>
          <p:nvPr/>
        </p:nvSpPr>
        <p:spPr>
          <a:xfrm>
            <a:off x="8028432" y="1627632"/>
            <a:ext cx="3291840" cy="320040"/>
          </a:xfrm>
          <a:prstGeom prst="rect">
            <a:avLst/>
          </a:prstGeom>
          <a:noFill/>
          <a:ln/>
        </p:spPr>
        <p:txBody>
          <a:bodyPr wrap="square" lIns="0" tIns="0" rIns="0" bIns="0" rtlCol="0" anchor="ctr"/>
          <a:lstStyle/>
          <a:p>
            <a:pPr marL="0" indent="0">
              <a:buNone/>
            </a:pPr>
            <a:r>
              <a:rPr lang="en-US" sz="1450" b="1" dirty="0">
                <a:solidFill>
                  <a:srgbClr val="0F2742"/>
                </a:solidFill>
                <a:latin typeface="Calibri" pitchFamily="34" charset="0"/>
                <a:ea typeface="Calibri" pitchFamily="34" charset="-122"/>
                <a:cs typeface="Calibri" pitchFamily="34" charset="-120"/>
              </a:rPr>
              <a:t>Why this is the contribution</a:t>
            </a:r>
            <a:endParaRPr lang="en-US" sz="1450" dirty="0"/>
          </a:p>
        </p:txBody>
      </p:sp>
      <p:sp>
        <p:nvSpPr>
          <p:cNvPr id="9" name="Text 7"/>
          <p:cNvSpPr/>
          <p:nvPr/>
        </p:nvSpPr>
        <p:spPr>
          <a:xfrm>
            <a:off x="8028432" y="2029968"/>
            <a:ext cx="3291840" cy="3383280"/>
          </a:xfrm>
          <a:prstGeom prst="rect">
            <a:avLst/>
          </a:prstGeom>
          <a:noFill/>
          <a:ln/>
        </p:spPr>
        <p:txBody>
          <a:bodyPr wrap="square" lIns="0" tIns="0" rIns="0" bIns="0" rtlCol="0" anchor="t"/>
          <a:lstStyle/>
          <a:p>
            <a:pPr marL="0" indent="0">
              <a:buNone/>
            </a:pPr>
            <a:r>
              <a:rPr lang="en-US" sz="1200" dirty="0">
                <a:solidFill>
                  <a:srgbClr val="44566C"/>
                </a:solidFill>
                <a:latin typeface="Calibri" pitchFamily="34" charset="0"/>
                <a:ea typeface="Calibri" pitchFamily="34" charset="-122"/>
                <a:cs typeface="Calibri" pitchFamily="34" charset="-120"/>
              </a:rPr>
              <a:t>It compares real element geometry, tags, fonts and colours from two page loads, so it generalises to a site it has never seen — no training data required.
</a:t>
            </a:r>
            <a:endParaRPr lang="en-US" sz="1200" dirty="0"/>
          </a:p>
          <a:p>
            <a:pPr marL="0" indent="0">
              <a:buNone/>
            </a:pPr>
            <a:r>
              <a:rPr lang="en-US" sz="1200" dirty="0">
                <a:solidFill>
                  <a:srgbClr val="44566C"/>
                </a:solidFill>
                <a:latin typeface="Calibri" pitchFamily="34" charset="0"/>
                <a:ea typeface="Calibri" pitchFamily="34" charset="-122"/>
                <a:cs typeface="Calibri" pitchFamily="34" charset="-120"/>
              </a:rPr>
              <a:t>Scanning in document order picked up whichever side effect came first, not the cause: removing an image reflows everything under it. Bucketing first and resolving by priority fixes that.
</a:t>
            </a:r>
            <a:endParaRPr lang="en-US" sz="1200" dirty="0"/>
          </a:p>
          <a:p>
            <a:pPr marL="0" indent="0">
              <a:buNone/>
            </a:pPr>
            <a:r>
              <a:rPr lang="en-US" sz="1200" b="1" dirty="0">
                <a:solidFill>
                  <a:srgbClr val="0F2742"/>
                </a:solidFill>
                <a:latin typeface="Calibri" pitchFamily="34" charset="0"/>
                <a:ea typeface="Calibri" pitchFamily="34" charset="-122"/>
                <a:cs typeface="Calibri" pitchFamily="34" charset="-120"/>
              </a:rPr>
              <a:t>The second return value is the evidence sentence printed in the report — a claim the reviewer can check against the page, rather than a confidence score.</a:t>
            </a:r>
            <a:endParaRPr lang="en-US" sz="1200" dirty="0"/>
          </a:p>
        </p:txBody>
      </p:sp>
      <p:sp>
        <p:nvSpPr>
          <p:cNvPr id="10" name="Text 8"/>
          <p:cNvSpPr/>
          <p:nvPr/>
        </p:nvSpPr>
        <p:spPr>
          <a:xfrm>
            <a:off x="566928" y="5806440"/>
            <a:ext cx="11064240" cy="411480"/>
          </a:xfrm>
          <a:prstGeom prst="rect">
            <a:avLst/>
          </a:prstGeom>
          <a:noFill/>
          <a:ln/>
        </p:spPr>
        <p:txBody>
          <a:bodyPr wrap="square" lIns="0" tIns="0" rIns="0" bIns="0" rtlCol="0" anchor="ctr"/>
          <a:lstStyle/>
          <a:p>
            <a:pPr marL="0" indent="0">
              <a:buNone/>
            </a:pPr>
            <a:r>
              <a:rPr lang="en-US" sz="1350" i="1" dirty="0">
                <a:solidFill>
                  <a:srgbClr val="0F2742"/>
                </a:solidFill>
                <a:latin typeface="Calibri" pitchFamily="34" charset="0"/>
                <a:ea typeface="Calibri" pitchFamily="34" charset="-122"/>
                <a:cs typeface="Calibri" pitchFamily="34" charset="-120"/>
              </a:rPr>
              <a:t>Remove this function and the same model scores 38.7% instead of 94.8%.</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DOES IT ACTUALLY WORK</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0F2742"/>
                </a:solidFill>
                <a:latin typeface="Cambria" pitchFamily="34" charset="0"/>
                <a:ea typeface="Cambria" pitchFamily="34" charset="-122"/>
                <a:cs typeface="Cambria" pitchFamily="34" charset="-120"/>
              </a:rPr>
              <a:t>Measured, and re-measured on every push</a:t>
            </a:r>
            <a:endParaRPr lang="en-US" sz="3200" dirty="0"/>
          </a:p>
        </p:txBody>
      </p:sp>
      <p:sp>
        <p:nvSpPr>
          <p:cNvPr id="4" name="Shape 2"/>
          <p:cNvSpPr/>
          <p:nvPr/>
        </p:nvSpPr>
        <p:spPr>
          <a:xfrm>
            <a:off x="566928" y="1417320"/>
            <a:ext cx="3538728" cy="1463040"/>
          </a:xfrm>
          <a:prstGeom prst="roundRect">
            <a:avLst>
              <a:gd name="adj" fmla="val 5625"/>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5" name="Text 3"/>
          <p:cNvSpPr/>
          <p:nvPr/>
        </p:nvSpPr>
        <p:spPr>
          <a:xfrm>
            <a:off x="841248" y="1554480"/>
            <a:ext cx="3017520" cy="731520"/>
          </a:xfrm>
          <a:prstGeom prst="rect">
            <a:avLst/>
          </a:prstGeom>
          <a:noFill/>
          <a:ln/>
        </p:spPr>
        <p:txBody>
          <a:bodyPr wrap="square" lIns="0" tIns="0" rIns="0" bIns="0" rtlCol="0" anchor="ctr"/>
          <a:lstStyle/>
          <a:p>
            <a:pPr marL="0" indent="0">
              <a:buNone/>
            </a:pPr>
            <a:r>
              <a:rPr lang="en-US" sz="3600" b="1" dirty="0">
                <a:solidFill>
                  <a:srgbClr val="FF6A2B"/>
                </a:solidFill>
                <a:latin typeface="Cambria" pitchFamily="34" charset="0"/>
                <a:ea typeface="Cambria" pitchFamily="34" charset="-122"/>
                <a:cs typeface="Cambria" pitchFamily="34" charset="-120"/>
              </a:rPr>
              <a:t>81 / 81</a:t>
            </a:r>
            <a:endParaRPr lang="en-US" sz="3600" dirty="0"/>
          </a:p>
        </p:txBody>
      </p:sp>
      <p:sp>
        <p:nvSpPr>
          <p:cNvPr id="6" name="Text 4"/>
          <p:cNvSpPr/>
          <p:nvPr/>
        </p:nvSpPr>
        <p:spPr>
          <a:xfrm>
            <a:off x="859536" y="2304288"/>
            <a:ext cx="3017520" cy="411480"/>
          </a:xfrm>
          <a:prstGeom prst="rect">
            <a:avLst/>
          </a:prstGeom>
          <a:noFill/>
          <a:ln/>
        </p:spPr>
        <p:txBody>
          <a:bodyPr wrap="square" lIns="0" tIns="0" rIns="0" bIns="0" rtlCol="0" anchor="ctr"/>
          <a:lstStyle/>
          <a:p>
            <a:pPr marL="0" indent="0">
              <a:buNone/>
            </a:pPr>
            <a:r>
              <a:rPr lang="en-US" sz="1200" dirty="0">
                <a:solidFill>
                  <a:srgbClr val="44566C"/>
                </a:solidFill>
                <a:latin typeface="Calibri" pitchFamily="34" charset="0"/>
                <a:ea typeface="Calibri" pitchFamily="34" charset="-122"/>
                <a:cs typeface="Calibri" pitchFamily="34" charset="-120"/>
              </a:rPr>
              <a:t>injected defects detected</a:t>
            </a:r>
            <a:endParaRPr lang="en-US" sz="1200" dirty="0"/>
          </a:p>
        </p:txBody>
      </p:sp>
      <p:sp>
        <p:nvSpPr>
          <p:cNvPr id="7" name="Shape 5"/>
          <p:cNvSpPr/>
          <p:nvPr/>
        </p:nvSpPr>
        <p:spPr>
          <a:xfrm>
            <a:off x="4325112" y="1417320"/>
            <a:ext cx="3538728" cy="1463040"/>
          </a:xfrm>
          <a:prstGeom prst="roundRect">
            <a:avLst>
              <a:gd name="adj" fmla="val 5625"/>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8" name="Text 6"/>
          <p:cNvSpPr/>
          <p:nvPr/>
        </p:nvSpPr>
        <p:spPr>
          <a:xfrm>
            <a:off x="4599432" y="1554480"/>
            <a:ext cx="3017520" cy="731520"/>
          </a:xfrm>
          <a:prstGeom prst="rect">
            <a:avLst/>
          </a:prstGeom>
          <a:noFill/>
          <a:ln/>
        </p:spPr>
        <p:txBody>
          <a:bodyPr wrap="square" lIns="0" tIns="0" rIns="0" bIns="0" rtlCol="0" anchor="ctr"/>
          <a:lstStyle/>
          <a:p>
            <a:pPr marL="0" indent="0">
              <a:buNone/>
            </a:pPr>
            <a:r>
              <a:rPr lang="en-US" sz="3600" b="1" dirty="0">
                <a:solidFill>
                  <a:srgbClr val="35608F"/>
                </a:solidFill>
                <a:latin typeface="Cambria" pitchFamily="34" charset="0"/>
                <a:ea typeface="Cambria" pitchFamily="34" charset="-122"/>
                <a:cs typeface="Cambria" pitchFamily="34" charset="-120"/>
              </a:rPr>
              <a:t>0 / 9</a:t>
            </a:r>
            <a:endParaRPr lang="en-US" sz="3600" dirty="0"/>
          </a:p>
        </p:txBody>
      </p:sp>
      <p:sp>
        <p:nvSpPr>
          <p:cNvPr id="9" name="Text 7"/>
          <p:cNvSpPr/>
          <p:nvPr/>
        </p:nvSpPr>
        <p:spPr>
          <a:xfrm>
            <a:off x="4617720" y="2304288"/>
            <a:ext cx="3017520" cy="411480"/>
          </a:xfrm>
          <a:prstGeom prst="rect">
            <a:avLst/>
          </a:prstGeom>
          <a:noFill/>
          <a:ln/>
        </p:spPr>
        <p:txBody>
          <a:bodyPr wrap="square" lIns="0" tIns="0" rIns="0" bIns="0" rtlCol="0" anchor="ctr"/>
          <a:lstStyle/>
          <a:p>
            <a:pPr marL="0" indent="0">
              <a:buNone/>
            </a:pPr>
            <a:r>
              <a:rPr lang="en-US" sz="1200" dirty="0">
                <a:solidFill>
                  <a:srgbClr val="44566C"/>
                </a:solidFill>
                <a:latin typeface="Calibri" pitchFamily="34" charset="0"/>
                <a:ea typeface="Calibri" pitchFamily="34" charset="-122"/>
                <a:cs typeface="Calibri" pitchFamily="34" charset="-120"/>
              </a:rPr>
              <a:t>false alarms on clean controls</a:t>
            </a:r>
            <a:endParaRPr lang="en-US" sz="1200" dirty="0"/>
          </a:p>
        </p:txBody>
      </p:sp>
      <p:sp>
        <p:nvSpPr>
          <p:cNvPr id="10" name="Shape 8"/>
          <p:cNvSpPr/>
          <p:nvPr/>
        </p:nvSpPr>
        <p:spPr>
          <a:xfrm>
            <a:off x="8083296" y="1417320"/>
            <a:ext cx="3538728" cy="1463040"/>
          </a:xfrm>
          <a:prstGeom prst="roundRect">
            <a:avLst>
              <a:gd name="adj" fmla="val 5625"/>
            </a:avLst>
          </a:prstGeom>
          <a:solidFill>
            <a:srgbClr val="FFFFFF"/>
          </a:solidFill>
          <a:ln/>
          <a:effectLst>
            <a:outerShdw blurRad="127000" dist="25400" dir="5400000" algn="bl" rotWithShape="0">
              <a:srgbClr val="8FA3B8">
                <a:alpha val="28000"/>
              </a:srgbClr>
            </a:outerShdw>
          </a:effectLst>
        </p:spPr>
        <p:txBody>
          <a:bodyPr/>
          <a:lstStyle/>
          <a:p>
            <a:endParaRPr lang="en-MY"/>
          </a:p>
        </p:txBody>
      </p:sp>
      <p:sp>
        <p:nvSpPr>
          <p:cNvPr id="11" name="Text 9"/>
          <p:cNvSpPr/>
          <p:nvPr/>
        </p:nvSpPr>
        <p:spPr>
          <a:xfrm>
            <a:off x="8357616" y="1554480"/>
            <a:ext cx="3017520" cy="731520"/>
          </a:xfrm>
          <a:prstGeom prst="rect">
            <a:avLst/>
          </a:prstGeom>
          <a:noFill/>
          <a:ln/>
        </p:spPr>
        <p:txBody>
          <a:bodyPr wrap="square" lIns="0" tIns="0" rIns="0" bIns="0" rtlCol="0" anchor="ctr"/>
          <a:lstStyle/>
          <a:p>
            <a:pPr marL="0" indent="0">
              <a:buNone/>
            </a:pPr>
            <a:r>
              <a:rPr lang="en-US" sz="3600" b="1" dirty="0">
                <a:solidFill>
                  <a:srgbClr val="0F2742"/>
                </a:solidFill>
                <a:latin typeface="Cambria" pitchFamily="34" charset="0"/>
                <a:ea typeface="Cambria" pitchFamily="34" charset="-122"/>
                <a:cs typeface="Cambria" pitchFamily="34" charset="-120"/>
              </a:rPr>
              <a:t>94.80%</a:t>
            </a:r>
            <a:endParaRPr lang="en-US" sz="3600" dirty="0"/>
          </a:p>
        </p:txBody>
      </p:sp>
      <p:sp>
        <p:nvSpPr>
          <p:cNvPr id="12" name="Text 10"/>
          <p:cNvSpPr/>
          <p:nvPr/>
        </p:nvSpPr>
        <p:spPr>
          <a:xfrm>
            <a:off x="8375904" y="2304288"/>
            <a:ext cx="3017520" cy="411480"/>
          </a:xfrm>
          <a:prstGeom prst="rect">
            <a:avLst/>
          </a:prstGeom>
          <a:noFill/>
          <a:ln/>
        </p:spPr>
        <p:txBody>
          <a:bodyPr wrap="square" lIns="0" tIns="0" rIns="0" bIns="0" rtlCol="0" anchor="ctr"/>
          <a:lstStyle/>
          <a:p>
            <a:pPr marL="0" indent="0">
              <a:buNone/>
            </a:pPr>
            <a:r>
              <a:rPr lang="en-US" sz="1200" dirty="0">
                <a:solidFill>
                  <a:srgbClr val="44566C"/>
                </a:solidFill>
                <a:latin typeface="Calibri" pitchFamily="34" charset="0"/>
                <a:ea typeface="Calibri" pitchFamily="34" charset="-122"/>
                <a:cs typeface="Calibri" pitchFamily="34" charset="-120"/>
              </a:rPr>
              <a:t>change type named correctly, n = 500</a:t>
            </a:r>
            <a:endParaRPr lang="en-US" sz="1200" dirty="0"/>
          </a:p>
        </p:txBody>
      </p:sp>
      <p:graphicFrame>
        <p:nvGraphicFramePr>
          <p:cNvPr id="13" name="Chart 0"/>
          <p:cNvGraphicFramePr/>
          <p:nvPr>
            <p:extLst>
              <p:ext uri="{D42A27DB-BD31-4B8C-83A1-F6EECF244321}">
                <p14:modId xmlns:p14="http://schemas.microsoft.com/office/powerpoint/2010/main" val="3913561412"/>
              </p:ext>
            </p:extLst>
          </p:nvPr>
        </p:nvGraphicFramePr>
        <p:xfrm>
          <a:off x="566928" y="3108960"/>
          <a:ext cx="6858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2"/>
          <p:cNvSpPr/>
          <p:nvPr/>
        </p:nvSpPr>
        <p:spPr>
          <a:xfrm>
            <a:off x="8001000" y="3291840"/>
            <a:ext cx="3383280" cy="320040"/>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1A2B"/>
        </a:solidFill>
        <a:effectLst/>
      </p:bgPr>
    </p:bg>
    <p:spTree>
      <p:nvGrpSpPr>
        <p:cNvPr id="1" name=""/>
        <p:cNvGrpSpPr/>
        <p:nvPr/>
      </p:nvGrpSpPr>
      <p:grpSpPr>
        <a:xfrm>
          <a:off x="0" y="0"/>
          <a:ext cx="0" cy="0"/>
          <a:chOff x="0" y="0"/>
          <a:chExt cx="0" cy="0"/>
        </a:xfrm>
      </p:grpSpPr>
      <p:sp>
        <p:nvSpPr>
          <p:cNvPr id="2" name="Text 0"/>
          <p:cNvSpPr/>
          <p:nvPr/>
        </p:nvSpPr>
        <p:spPr>
          <a:xfrm>
            <a:off x="594360" y="137160"/>
            <a:ext cx="8229600" cy="274320"/>
          </a:xfrm>
          <a:prstGeom prst="rect">
            <a:avLst/>
          </a:prstGeom>
          <a:noFill/>
          <a:ln/>
        </p:spPr>
        <p:txBody>
          <a:bodyPr wrap="square" lIns="0" tIns="0" rIns="0" bIns="0" rtlCol="0" anchor="ctr"/>
          <a:lstStyle/>
          <a:p>
            <a:pPr marL="0" indent="0">
              <a:buNone/>
            </a:pPr>
            <a:r>
              <a:rPr lang="en-US" sz="1150" b="1" kern="0" spc="220" dirty="0">
                <a:solidFill>
                  <a:srgbClr val="FF6A2B"/>
                </a:solidFill>
                <a:latin typeface="Calibri" pitchFamily="34" charset="0"/>
                <a:ea typeface="Calibri" pitchFamily="34" charset="-122"/>
                <a:cs typeface="Calibri" pitchFamily="34" charset="-120"/>
              </a:rPr>
              <a:t>LIVE DEMONSTRATION</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Seven minutes inside the tool</a:t>
            </a:r>
            <a:endParaRPr lang="en-US" sz="3200" dirty="0"/>
          </a:p>
        </p:txBody>
      </p:sp>
      <p:sp>
        <p:nvSpPr>
          <p:cNvPr id="4" name="Shape 2"/>
          <p:cNvSpPr/>
          <p:nvPr/>
        </p:nvSpPr>
        <p:spPr>
          <a:xfrm>
            <a:off x="566928" y="1463040"/>
            <a:ext cx="3566160" cy="1828800"/>
          </a:xfrm>
          <a:prstGeom prst="roundRect">
            <a:avLst>
              <a:gd name="adj" fmla="val 4500"/>
            </a:avLst>
          </a:prstGeom>
          <a:solidFill>
            <a:srgbClr val="12293F"/>
          </a:solidFill>
          <a:ln/>
        </p:spPr>
        <p:txBody>
          <a:bodyPr/>
          <a:lstStyle/>
          <a:p>
            <a:endParaRPr lang="en-MY"/>
          </a:p>
        </p:txBody>
      </p:sp>
      <p:sp>
        <p:nvSpPr>
          <p:cNvPr id="5" name="Shape 3"/>
          <p:cNvSpPr/>
          <p:nvPr/>
        </p:nvSpPr>
        <p:spPr>
          <a:xfrm>
            <a:off x="804672" y="1700784"/>
            <a:ext cx="384048" cy="384048"/>
          </a:xfrm>
          <a:prstGeom prst="ellipse">
            <a:avLst/>
          </a:prstGeom>
          <a:solidFill>
            <a:srgbClr val="FF6A2B"/>
          </a:solidFill>
          <a:ln/>
        </p:spPr>
        <p:txBody>
          <a:bodyPr/>
          <a:lstStyle/>
          <a:p>
            <a:endParaRPr lang="en-MY"/>
          </a:p>
        </p:txBody>
      </p:sp>
      <p:sp>
        <p:nvSpPr>
          <p:cNvPr id="6" name="Text 4"/>
          <p:cNvSpPr/>
          <p:nvPr/>
        </p:nvSpPr>
        <p:spPr>
          <a:xfrm>
            <a:off x="804672"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3127248" y="1700784"/>
            <a:ext cx="777240" cy="384048"/>
          </a:xfrm>
          <a:prstGeom prst="rect">
            <a:avLst/>
          </a:prstGeom>
          <a:noFill/>
          <a:ln/>
        </p:spPr>
        <p:txBody>
          <a:bodyPr wrap="square" lIns="0" tIns="0" rIns="0" bIns="0" rtlCol="0" anchor="ctr"/>
          <a:lstStyle/>
          <a:p>
            <a:pPr marL="0" indent="0" algn="r">
              <a:buNone/>
            </a:pPr>
            <a:r>
              <a:rPr lang="en-US" sz="1200" b="1" dirty="0">
                <a:solidFill>
                  <a:srgbClr val="FF6A2B"/>
                </a:solidFill>
                <a:latin typeface="Courier New" pitchFamily="34" charset="0"/>
                <a:ea typeface="Courier New" pitchFamily="34" charset="-122"/>
                <a:cs typeface="Courier New" pitchFamily="34" charset="-120"/>
              </a:rPr>
              <a:t>0:45</a:t>
            </a:r>
            <a:endParaRPr lang="en-US" sz="1200" dirty="0"/>
          </a:p>
        </p:txBody>
      </p:sp>
      <p:sp>
        <p:nvSpPr>
          <p:cNvPr id="8" name="Text 6"/>
          <p:cNvSpPr/>
          <p:nvPr/>
        </p:nvSpPr>
        <p:spPr>
          <a:xfrm>
            <a:off x="804672" y="2212848"/>
            <a:ext cx="310896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Dashboard tour</a:t>
            </a:r>
            <a:endParaRPr lang="en-US" sz="1500" dirty="0"/>
          </a:p>
        </p:txBody>
      </p:sp>
      <p:sp>
        <p:nvSpPr>
          <p:cNvPr id="9" name="Text 7"/>
          <p:cNvSpPr/>
          <p:nvPr/>
        </p:nvSpPr>
        <p:spPr>
          <a:xfrm>
            <a:off x="804672" y="2596896"/>
            <a:ext cx="3108960" cy="594360"/>
          </a:xfrm>
          <a:prstGeom prst="rect">
            <a:avLst/>
          </a:prstGeom>
          <a:noFill/>
          <a:ln/>
        </p:spPr>
        <p:txBody>
          <a:bodyPr wrap="square" lIns="0" tIns="0" rIns="0" bIns="0" rtlCol="0" anchor="t"/>
          <a:lstStyle/>
          <a:p>
            <a:pPr marL="0" indent="0">
              <a:buNone/>
            </a:pPr>
            <a:r>
              <a:rPr lang="en-US" sz="1150" dirty="0">
                <a:solidFill>
                  <a:srgbClr val="9FB5CB"/>
                </a:solidFill>
                <a:latin typeface="Calibri" pitchFamily="34" charset="0"/>
                <a:ea typeface="Calibri" pitchFamily="34" charset="-122"/>
                <a:cs typeface="Calibri" pitchFamily="34" charset="-120"/>
              </a:rPr>
              <a:t>runs, filters, status and severity at a glance</a:t>
            </a:r>
            <a:endParaRPr lang="en-US" sz="1150" dirty="0"/>
          </a:p>
        </p:txBody>
      </p:sp>
      <p:sp>
        <p:nvSpPr>
          <p:cNvPr id="10" name="Shape 8"/>
          <p:cNvSpPr/>
          <p:nvPr/>
        </p:nvSpPr>
        <p:spPr>
          <a:xfrm>
            <a:off x="4407408" y="1463040"/>
            <a:ext cx="3566160" cy="1828800"/>
          </a:xfrm>
          <a:prstGeom prst="roundRect">
            <a:avLst>
              <a:gd name="adj" fmla="val 4500"/>
            </a:avLst>
          </a:prstGeom>
          <a:solidFill>
            <a:srgbClr val="12293F"/>
          </a:solidFill>
          <a:ln/>
        </p:spPr>
        <p:txBody>
          <a:bodyPr/>
          <a:lstStyle/>
          <a:p>
            <a:endParaRPr lang="en-MY"/>
          </a:p>
        </p:txBody>
      </p:sp>
      <p:sp>
        <p:nvSpPr>
          <p:cNvPr id="11" name="Shape 9"/>
          <p:cNvSpPr/>
          <p:nvPr/>
        </p:nvSpPr>
        <p:spPr>
          <a:xfrm>
            <a:off x="4645152" y="1700784"/>
            <a:ext cx="384048" cy="384048"/>
          </a:xfrm>
          <a:prstGeom prst="ellipse">
            <a:avLst/>
          </a:prstGeom>
          <a:solidFill>
            <a:srgbClr val="FF6A2B"/>
          </a:solidFill>
          <a:ln/>
        </p:spPr>
        <p:txBody>
          <a:bodyPr/>
          <a:lstStyle/>
          <a:p>
            <a:endParaRPr lang="en-MY"/>
          </a:p>
        </p:txBody>
      </p:sp>
      <p:sp>
        <p:nvSpPr>
          <p:cNvPr id="12" name="Text 10"/>
          <p:cNvSpPr/>
          <p:nvPr/>
        </p:nvSpPr>
        <p:spPr>
          <a:xfrm>
            <a:off x="4645152"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967728" y="1700784"/>
            <a:ext cx="777240" cy="384048"/>
          </a:xfrm>
          <a:prstGeom prst="rect">
            <a:avLst/>
          </a:prstGeom>
          <a:noFill/>
          <a:ln/>
        </p:spPr>
        <p:txBody>
          <a:bodyPr wrap="square" lIns="0" tIns="0" rIns="0" bIns="0" rtlCol="0" anchor="ctr"/>
          <a:lstStyle/>
          <a:p>
            <a:pPr marL="0" indent="0" algn="r">
              <a:buNone/>
            </a:pPr>
            <a:r>
              <a:rPr lang="en-US" sz="1200" b="1" dirty="0">
                <a:solidFill>
                  <a:srgbClr val="FF6A2B"/>
                </a:solidFill>
                <a:latin typeface="Courier New" pitchFamily="34" charset="0"/>
                <a:ea typeface="Courier New" pitchFamily="34" charset="-122"/>
                <a:cs typeface="Courier New" pitchFamily="34" charset="-120"/>
              </a:rPr>
              <a:t>1:00</a:t>
            </a:r>
            <a:endParaRPr lang="en-US" sz="1200" dirty="0"/>
          </a:p>
        </p:txBody>
      </p:sp>
      <p:sp>
        <p:nvSpPr>
          <p:cNvPr id="14" name="Text 12"/>
          <p:cNvSpPr/>
          <p:nvPr/>
        </p:nvSpPr>
        <p:spPr>
          <a:xfrm>
            <a:off x="4645152" y="2212848"/>
            <a:ext cx="310896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Create a baseline</a:t>
            </a:r>
            <a:endParaRPr lang="en-US" sz="1500" dirty="0"/>
          </a:p>
        </p:txBody>
      </p:sp>
      <p:sp>
        <p:nvSpPr>
          <p:cNvPr id="15" name="Text 13"/>
          <p:cNvSpPr/>
          <p:nvPr/>
        </p:nvSpPr>
        <p:spPr>
          <a:xfrm>
            <a:off x="4645152" y="2596896"/>
            <a:ext cx="3108960" cy="594360"/>
          </a:xfrm>
          <a:prstGeom prst="rect">
            <a:avLst/>
          </a:prstGeom>
          <a:noFill/>
          <a:ln/>
        </p:spPr>
        <p:txBody>
          <a:bodyPr wrap="square" lIns="0" tIns="0" rIns="0" bIns="0" rtlCol="0" anchor="t"/>
          <a:lstStyle/>
          <a:p>
            <a:pPr marL="0" indent="0">
              <a:buNone/>
            </a:pPr>
            <a:r>
              <a:rPr lang="en-US" sz="1150" dirty="0">
                <a:solidFill>
                  <a:srgbClr val="9FB5CB"/>
                </a:solidFill>
                <a:latin typeface="Calibri" pitchFamily="34" charset="0"/>
                <a:ea typeface="Calibri" pitchFamily="34" charset="-122"/>
                <a:cs typeface="Calibri" pitchFamily="34" charset="-120"/>
              </a:rPr>
              <a:t>from a URL, with language and device pinned</a:t>
            </a:r>
            <a:endParaRPr lang="en-US" sz="1150" dirty="0"/>
          </a:p>
        </p:txBody>
      </p:sp>
      <p:sp>
        <p:nvSpPr>
          <p:cNvPr id="16" name="Shape 14"/>
          <p:cNvSpPr/>
          <p:nvPr/>
        </p:nvSpPr>
        <p:spPr>
          <a:xfrm>
            <a:off x="8247888" y="1463040"/>
            <a:ext cx="3566160" cy="1828800"/>
          </a:xfrm>
          <a:prstGeom prst="roundRect">
            <a:avLst>
              <a:gd name="adj" fmla="val 4500"/>
            </a:avLst>
          </a:prstGeom>
          <a:solidFill>
            <a:srgbClr val="12293F"/>
          </a:solidFill>
          <a:ln/>
        </p:spPr>
        <p:txBody>
          <a:bodyPr/>
          <a:lstStyle/>
          <a:p>
            <a:endParaRPr lang="en-MY"/>
          </a:p>
        </p:txBody>
      </p:sp>
      <p:sp>
        <p:nvSpPr>
          <p:cNvPr id="17" name="Shape 15"/>
          <p:cNvSpPr/>
          <p:nvPr/>
        </p:nvSpPr>
        <p:spPr>
          <a:xfrm>
            <a:off x="8485632" y="1700784"/>
            <a:ext cx="384048" cy="384048"/>
          </a:xfrm>
          <a:prstGeom prst="ellipse">
            <a:avLst/>
          </a:prstGeom>
          <a:solidFill>
            <a:srgbClr val="FF6A2B"/>
          </a:solidFill>
          <a:ln/>
        </p:spPr>
        <p:txBody>
          <a:bodyPr/>
          <a:lstStyle/>
          <a:p>
            <a:endParaRPr lang="en-MY"/>
          </a:p>
        </p:txBody>
      </p:sp>
      <p:sp>
        <p:nvSpPr>
          <p:cNvPr id="18" name="Text 16"/>
          <p:cNvSpPr/>
          <p:nvPr/>
        </p:nvSpPr>
        <p:spPr>
          <a:xfrm>
            <a:off x="8485632" y="1700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0808208" y="1700784"/>
            <a:ext cx="777240" cy="384048"/>
          </a:xfrm>
          <a:prstGeom prst="rect">
            <a:avLst/>
          </a:prstGeom>
          <a:noFill/>
          <a:ln/>
        </p:spPr>
        <p:txBody>
          <a:bodyPr wrap="square" lIns="0" tIns="0" rIns="0" bIns="0" rtlCol="0" anchor="ctr"/>
          <a:lstStyle/>
          <a:p>
            <a:pPr marL="0" indent="0" algn="r">
              <a:buNone/>
            </a:pPr>
            <a:r>
              <a:rPr lang="en-US" sz="1200" b="1" dirty="0">
                <a:solidFill>
                  <a:srgbClr val="FF6A2B"/>
                </a:solidFill>
                <a:latin typeface="Courier New" pitchFamily="34" charset="0"/>
                <a:ea typeface="Courier New" pitchFamily="34" charset="-122"/>
                <a:cs typeface="Courier New" pitchFamily="34" charset="-120"/>
              </a:rPr>
              <a:t>1:00</a:t>
            </a:r>
            <a:endParaRPr lang="en-US" sz="1200" dirty="0"/>
          </a:p>
        </p:txBody>
      </p:sp>
      <p:sp>
        <p:nvSpPr>
          <p:cNvPr id="20" name="Text 18"/>
          <p:cNvSpPr/>
          <p:nvPr/>
        </p:nvSpPr>
        <p:spPr>
          <a:xfrm>
            <a:off x="8485632" y="2212848"/>
            <a:ext cx="310896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Run the comparison</a:t>
            </a:r>
            <a:endParaRPr lang="en-US" sz="1500" dirty="0"/>
          </a:p>
        </p:txBody>
      </p:sp>
      <p:sp>
        <p:nvSpPr>
          <p:cNvPr id="21" name="Text 19"/>
          <p:cNvSpPr/>
          <p:nvPr/>
        </p:nvSpPr>
        <p:spPr>
          <a:xfrm>
            <a:off x="8485632" y="2596896"/>
            <a:ext cx="3108960" cy="594360"/>
          </a:xfrm>
          <a:prstGeom prst="rect">
            <a:avLst/>
          </a:prstGeom>
          <a:noFill/>
          <a:ln/>
        </p:spPr>
        <p:txBody>
          <a:bodyPr wrap="square" lIns="0" tIns="0" rIns="0" bIns="0" rtlCol="0" anchor="t"/>
          <a:lstStyle/>
          <a:p>
            <a:pPr marL="0" indent="0">
              <a:buNone/>
            </a:pPr>
            <a:r>
              <a:rPr lang="en-US" sz="1150" dirty="0">
                <a:solidFill>
                  <a:srgbClr val="9FB5CB"/>
                </a:solidFill>
                <a:latin typeface="Calibri" pitchFamily="34" charset="0"/>
                <a:ea typeface="Calibri" pitchFamily="34" charset="-122"/>
                <a:cs typeface="Calibri" pitchFamily="34" charset="-120"/>
              </a:rPr>
              <a:t>against the same page carrying an injected defect</a:t>
            </a:r>
            <a:endParaRPr lang="en-US" sz="1150" dirty="0"/>
          </a:p>
        </p:txBody>
      </p:sp>
      <p:sp>
        <p:nvSpPr>
          <p:cNvPr id="22" name="Shape 20"/>
          <p:cNvSpPr/>
          <p:nvPr/>
        </p:nvSpPr>
        <p:spPr>
          <a:xfrm>
            <a:off x="566928" y="3566160"/>
            <a:ext cx="3566160" cy="1828800"/>
          </a:xfrm>
          <a:prstGeom prst="roundRect">
            <a:avLst>
              <a:gd name="adj" fmla="val 4500"/>
            </a:avLst>
          </a:prstGeom>
          <a:solidFill>
            <a:srgbClr val="12293F"/>
          </a:solidFill>
          <a:ln/>
        </p:spPr>
        <p:txBody>
          <a:bodyPr/>
          <a:lstStyle/>
          <a:p>
            <a:endParaRPr lang="en-MY"/>
          </a:p>
        </p:txBody>
      </p:sp>
      <p:sp>
        <p:nvSpPr>
          <p:cNvPr id="23" name="Shape 21"/>
          <p:cNvSpPr/>
          <p:nvPr/>
        </p:nvSpPr>
        <p:spPr>
          <a:xfrm>
            <a:off x="804672" y="3803904"/>
            <a:ext cx="384048" cy="384048"/>
          </a:xfrm>
          <a:prstGeom prst="ellipse">
            <a:avLst/>
          </a:prstGeom>
          <a:solidFill>
            <a:srgbClr val="FF6A2B"/>
          </a:solidFill>
          <a:ln/>
        </p:spPr>
        <p:txBody>
          <a:bodyPr/>
          <a:lstStyle/>
          <a:p>
            <a:endParaRPr lang="en-MY"/>
          </a:p>
        </p:txBody>
      </p:sp>
      <p:sp>
        <p:nvSpPr>
          <p:cNvPr id="24" name="Text 22"/>
          <p:cNvSpPr/>
          <p:nvPr/>
        </p:nvSpPr>
        <p:spPr>
          <a:xfrm>
            <a:off x="804672" y="38039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3127248" y="3803904"/>
            <a:ext cx="777240" cy="384048"/>
          </a:xfrm>
          <a:prstGeom prst="rect">
            <a:avLst/>
          </a:prstGeom>
          <a:noFill/>
          <a:ln/>
        </p:spPr>
        <p:txBody>
          <a:bodyPr wrap="square" lIns="0" tIns="0" rIns="0" bIns="0" rtlCol="0" anchor="ctr"/>
          <a:lstStyle/>
          <a:p>
            <a:pPr marL="0" indent="0" algn="r">
              <a:buNone/>
            </a:pPr>
            <a:r>
              <a:rPr lang="en-US" sz="1200" b="1" dirty="0">
                <a:solidFill>
                  <a:srgbClr val="FF6A2B"/>
                </a:solidFill>
                <a:latin typeface="Courier New" pitchFamily="34" charset="0"/>
                <a:ea typeface="Courier New" pitchFamily="34" charset="-122"/>
                <a:cs typeface="Courier New" pitchFamily="34" charset="-120"/>
              </a:rPr>
              <a:t>1:15</a:t>
            </a:r>
            <a:endParaRPr lang="en-US" sz="1200" dirty="0"/>
          </a:p>
        </p:txBody>
      </p:sp>
      <p:sp>
        <p:nvSpPr>
          <p:cNvPr id="26" name="Text 24"/>
          <p:cNvSpPr/>
          <p:nvPr/>
        </p:nvSpPr>
        <p:spPr>
          <a:xfrm>
            <a:off x="804672" y="4315968"/>
            <a:ext cx="310896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Read the verdict</a:t>
            </a:r>
            <a:endParaRPr lang="en-US" sz="1500" dirty="0"/>
          </a:p>
        </p:txBody>
      </p:sp>
      <p:sp>
        <p:nvSpPr>
          <p:cNvPr id="27" name="Text 25"/>
          <p:cNvSpPr/>
          <p:nvPr/>
        </p:nvSpPr>
        <p:spPr>
          <a:xfrm>
            <a:off x="804672" y="4700016"/>
            <a:ext cx="3108960" cy="594360"/>
          </a:xfrm>
          <a:prstGeom prst="rect">
            <a:avLst/>
          </a:prstGeom>
          <a:noFill/>
          <a:ln/>
        </p:spPr>
        <p:txBody>
          <a:bodyPr wrap="square" lIns="0" tIns="0" rIns="0" bIns="0" rtlCol="0" anchor="t"/>
          <a:lstStyle/>
          <a:p>
            <a:pPr marL="0" indent="0">
              <a:buNone/>
            </a:pPr>
            <a:r>
              <a:rPr lang="en-US" sz="1150" dirty="0">
                <a:solidFill>
                  <a:srgbClr val="9FB5CB"/>
                </a:solidFill>
                <a:latin typeface="Calibri" pitchFamily="34" charset="0"/>
                <a:ea typeface="Calibri" pitchFamily="34" charset="-122"/>
                <a:cs typeface="Calibri" pitchFamily="34" charset="-120"/>
              </a:rPr>
              <a:t>overlay, severity, named class, and the DOM evidence sentence</a:t>
            </a:r>
            <a:endParaRPr lang="en-US" sz="1150" dirty="0"/>
          </a:p>
        </p:txBody>
      </p:sp>
      <p:sp>
        <p:nvSpPr>
          <p:cNvPr id="28" name="Shape 26"/>
          <p:cNvSpPr/>
          <p:nvPr/>
        </p:nvSpPr>
        <p:spPr>
          <a:xfrm>
            <a:off x="4407408" y="3566160"/>
            <a:ext cx="3566160" cy="1828800"/>
          </a:xfrm>
          <a:prstGeom prst="roundRect">
            <a:avLst>
              <a:gd name="adj" fmla="val 4500"/>
            </a:avLst>
          </a:prstGeom>
          <a:solidFill>
            <a:srgbClr val="12293F"/>
          </a:solidFill>
          <a:ln/>
        </p:spPr>
        <p:txBody>
          <a:bodyPr/>
          <a:lstStyle/>
          <a:p>
            <a:endParaRPr lang="en-MY"/>
          </a:p>
        </p:txBody>
      </p:sp>
      <p:sp>
        <p:nvSpPr>
          <p:cNvPr id="29" name="Shape 27"/>
          <p:cNvSpPr/>
          <p:nvPr/>
        </p:nvSpPr>
        <p:spPr>
          <a:xfrm>
            <a:off x="4645152" y="3803904"/>
            <a:ext cx="384048" cy="384048"/>
          </a:xfrm>
          <a:prstGeom prst="ellipse">
            <a:avLst/>
          </a:prstGeom>
          <a:solidFill>
            <a:srgbClr val="FF6A2B"/>
          </a:solidFill>
          <a:ln/>
        </p:spPr>
        <p:txBody>
          <a:bodyPr/>
          <a:lstStyle/>
          <a:p>
            <a:endParaRPr lang="en-MY"/>
          </a:p>
        </p:txBody>
      </p:sp>
      <p:sp>
        <p:nvSpPr>
          <p:cNvPr id="30" name="Text 28"/>
          <p:cNvSpPr/>
          <p:nvPr/>
        </p:nvSpPr>
        <p:spPr>
          <a:xfrm>
            <a:off x="4645152" y="38039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6967728" y="3803904"/>
            <a:ext cx="777240" cy="384048"/>
          </a:xfrm>
          <a:prstGeom prst="rect">
            <a:avLst/>
          </a:prstGeom>
          <a:noFill/>
          <a:ln/>
        </p:spPr>
        <p:txBody>
          <a:bodyPr wrap="square" lIns="0" tIns="0" rIns="0" bIns="0" rtlCol="0" anchor="ctr"/>
          <a:lstStyle/>
          <a:p>
            <a:pPr marL="0" indent="0" algn="r">
              <a:buNone/>
            </a:pPr>
            <a:r>
              <a:rPr lang="en-US" sz="1200" b="1" dirty="0">
                <a:solidFill>
                  <a:srgbClr val="FF6A2B"/>
                </a:solidFill>
                <a:latin typeface="Courier New" pitchFamily="34" charset="0"/>
                <a:ea typeface="Courier New" pitchFamily="34" charset="-122"/>
                <a:cs typeface="Courier New" pitchFamily="34" charset="-120"/>
              </a:rPr>
              <a:t>1:00</a:t>
            </a:r>
            <a:endParaRPr lang="en-US" sz="1200" dirty="0"/>
          </a:p>
        </p:txBody>
      </p:sp>
      <p:sp>
        <p:nvSpPr>
          <p:cNvPr id="32" name="Text 30"/>
          <p:cNvSpPr/>
          <p:nvPr/>
        </p:nvSpPr>
        <p:spPr>
          <a:xfrm>
            <a:off x="4645152" y="4315968"/>
            <a:ext cx="310896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Ignore region, then approve</a:t>
            </a:r>
            <a:endParaRPr lang="en-US" sz="1500" dirty="0"/>
          </a:p>
        </p:txBody>
      </p:sp>
      <p:sp>
        <p:nvSpPr>
          <p:cNvPr id="33" name="Text 31"/>
          <p:cNvSpPr/>
          <p:nvPr/>
        </p:nvSpPr>
        <p:spPr>
          <a:xfrm>
            <a:off x="4645152" y="4700016"/>
            <a:ext cx="3108960" cy="594360"/>
          </a:xfrm>
          <a:prstGeom prst="rect">
            <a:avLst/>
          </a:prstGeom>
          <a:noFill/>
          <a:ln/>
        </p:spPr>
        <p:txBody>
          <a:bodyPr wrap="square" lIns="0" tIns="0" rIns="0" bIns="0" rtlCol="0" anchor="t"/>
          <a:lstStyle/>
          <a:p>
            <a:pPr marL="0" indent="0">
              <a:buNone/>
            </a:pPr>
            <a:r>
              <a:rPr lang="en-US" sz="1150" dirty="0">
                <a:solidFill>
                  <a:srgbClr val="9FB5CB"/>
                </a:solidFill>
                <a:latin typeface="Calibri" pitchFamily="34" charset="0"/>
                <a:ea typeface="Calibri" pitchFamily="34" charset="-122"/>
                <a:cs typeface="Calibri" pitchFamily="34" charset="-120"/>
              </a:rPr>
              <a:t>draw over the dynamic block, re-run, approve — written back to the report</a:t>
            </a:r>
            <a:endParaRPr lang="en-US" sz="1150" dirty="0"/>
          </a:p>
        </p:txBody>
      </p:sp>
      <p:sp>
        <p:nvSpPr>
          <p:cNvPr id="34" name="Shape 32"/>
          <p:cNvSpPr/>
          <p:nvPr/>
        </p:nvSpPr>
        <p:spPr>
          <a:xfrm>
            <a:off x="8247888" y="3566160"/>
            <a:ext cx="3566160" cy="1828800"/>
          </a:xfrm>
          <a:prstGeom prst="roundRect">
            <a:avLst>
              <a:gd name="adj" fmla="val 4500"/>
            </a:avLst>
          </a:prstGeom>
          <a:solidFill>
            <a:srgbClr val="12293F"/>
          </a:solidFill>
          <a:ln/>
        </p:spPr>
        <p:txBody>
          <a:bodyPr/>
          <a:lstStyle/>
          <a:p>
            <a:endParaRPr lang="en-MY"/>
          </a:p>
        </p:txBody>
      </p:sp>
      <p:sp>
        <p:nvSpPr>
          <p:cNvPr id="35" name="Shape 33"/>
          <p:cNvSpPr/>
          <p:nvPr/>
        </p:nvSpPr>
        <p:spPr>
          <a:xfrm>
            <a:off x="8485632" y="3803904"/>
            <a:ext cx="384048" cy="384048"/>
          </a:xfrm>
          <a:prstGeom prst="ellipse">
            <a:avLst/>
          </a:prstGeom>
          <a:solidFill>
            <a:srgbClr val="FF6A2B"/>
          </a:solidFill>
          <a:ln/>
        </p:spPr>
        <p:txBody>
          <a:bodyPr/>
          <a:lstStyle/>
          <a:p>
            <a:endParaRPr lang="en-MY"/>
          </a:p>
        </p:txBody>
      </p:sp>
      <p:sp>
        <p:nvSpPr>
          <p:cNvPr id="36" name="Text 34"/>
          <p:cNvSpPr/>
          <p:nvPr/>
        </p:nvSpPr>
        <p:spPr>
          <a:xfrm>
            <a:off x="8485632" y="38039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10808208" y="3803904"/>
            <a:ext cx="777240" cy="384048"/>
          </a:xfrm>
          <a:prstGeom prst="rect">
            <a:avLst/>
          </a:prstGeom>
          <a:noFill/>
          <a:ln/>
        </p:spPr>
        <p:txBody>
          <a:bodyPr wrap="square" lIns="0" tIns="0" rIns="0" bIns="0" rtlCol="0" anchor="ctr"/>
          <a:lstStyle/>
          <a:p>
            <a:pPr marL="0" indent="0" algn="r">
              <a:buNone/>
            </a:pPr>
            <a:r>
              <a:rPr lang="en-US" sz="1200" b="1" dirty="0">
                <a:solidFill>
                  <a:srgbClr val="FF6A2B"/>
                </a:solidFill>
                <a:latin typeface="Courier New" pitchFamily="34" charset="0"/>
                <a:ea typeface="Courier New" pitchFamily="34" charset="-122"/>
                <a:cs typeface="Courier New" pitchFamily="34" charset="-120"/>
              </a:rPr>
              <a:t>2:00</a:t>
            </a:r>
            <a:endParaRPr lang="en-US" sz="1200" dirty="0"/>
          </a:p>
        </p:txBody>
      </p:sp>
      <p:sp>
        <p:nvSpPr>
          <p:cNvPr id="38" name="Text 36"/>
          <p:cNvSpPr/>
          <p:nvPr/>
        </p:nvSpPr>
        <p:spPr>
          <a:xfrm>
            <a:off x="8485632" y="4315968"/>
            <a:ext cx="310896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The code and the CI gate</a:t>
            </a:r>
            <a:endParaRPr lang="en-US" sz="1500" dirty="0"/>
          </a:p>
        </p:txBody>
      </p:sp>
      <p:sp>
        <p:nvSpPr>
          <p:cNvPr id="39" name="Text 37"/>
          <p:cNvSpPr/>
          <p:nvPr/>
        </p:nvSpPr>
        <p:spPr>
          <a:xfrm>
            <a:off x="8485632" y="4700016"/>
            <a:ext cx="3108960" cy="594360"/>
          </a:xfrm>
          <a:prstGeom prst="rect">
            <a:avLst/>
          </a:prstGeom>
          <a:noFill/>
          <a:ln/>
        </p:spPr>
        <p:txBody>
          <a:bodyPr wrap="square" lIns="0" tIns="0" rIns="0" bIns="0" rtlCol="0" anchor="t"/>
          <a:lstStyle/>
          <a:p>
            <a:pPr marL="0" indent="0">
              <a:buNone/>
            </a:pPr>
            <a:r>
              <a:rPr lang="en-US" sz="1150" dirty="0">
                <a:solidFill>
                  <a:srgbClr val="9FB5CB"/>
                </a:solidFill>
                <a:latin typeface="Calibri" pitchFamily="34" charset="0"/>
                <a:ea typeface="Calibri" pitchFamily="34" charset="-122"/>
                <a:cs typeface="Calibri" pitchFamily="34" charset="-120"/>
              </a:rPr>
              <a:t>the three files in the editor, then the build that fails on one miss</a:t>
            </a:r>
            <a:endParaRPr lang="en-US" sz="1150" dirty="0"/>
          </a:p>
        </p:txBody>
      </p:sp>
      <p:sp>
        <p:nvSpPr>
          <p:cNvPr id="40" name="Text 38"/>
          <p:cNvSpPr/>
          <p:nvPr/>
        </p:nvSpPr>
        <p:spPr>
          <a:xfrm>
            <a:off x="566928" y="5715000"/>
            <a:ext cx="5486400" cy="457200"/>
          </a:xfrm>
          <a:prstGeom prst="rect">
            <a:avLst/>
          </a:prstGeom>
          <a:noFill/>
          <a:ln/>
        </p:spPr>
        <p:txBody>
          <a:bodyPr wrap="square" lIns="0" tIns="0" rIns="0" bIns="0" rtlCol="0" anchor="ctr"/>
          <a:lstStyle/>
          <a:p>
            <a:pPr marL="0" indent="0">
              <a:buNone/>
            </a:pPr>
            <a:r>
              <a:rPr lang="en-US" sz="1400" b="1" dirty="0">
                <a:solidFill>
                  <a:srgbClr val="FF6A2B"/>
                </a:solidFill>
                <a:latin typeface="Courier New" pitchFamily="34" charset="0"/>
                <a:ea typeface="Courier New" pitchFamily="34" charset="-122"/>
                <a:cs typeface="Courier New" pitchFamily="34" charset="-120"/>
              </a:rPr>
              <a:t>http://127.0.0.1:8130/</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1A2B"/>
        </a:solidFill>
        <a:effectLst/>
      </p:bgPr>
    </p:bg>
    <p:spTree>
      <p:nvGrpSpPr>
        <p:cNvPr id="1" name=""/>
        <p:cNvGrpSpPr/>
        <p:nvPr/>
      </p:nvGrpSpPr>
      <p:grpSpPr>
        <a:xfrm>
          <a:off x="0" y="0"/>
          <a:ext cx="0" cy="0"/>
          <a:chOff x="0" y="0"/>
          <a:chExt cx="0" cy="0"/>
        </a:xfrm>
      </p:grpSpPr>
      <p:sp>
        <p:nvSpPr>
          <p:cNvPr id="2" name="Text 0"/>
          <p:cNvSpPr/>
          <p:nvPr/>
        </p:nvSpPr>
        <p:spPr>
          <a:xfrm>
            <a:off x="658368" y="1554480"/>
            <a:ext cx="6858000" cy="9144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3" name="Text 1"/>
          <p:cNvSpPr/>
          <p:nvPr/>
        </p:nvSpPr>
        <p:spPr>
          <a:xfrm>
            <a:off x="685800" y="2542032"/>
            <a:ext cx="6858000" cy="457200"/>
          </a:xfrm>
          <a:prstGeom prst="rect">
            <a:avLst/>
          </a:prstGeom>
          <a:noFill/>
          <a:ln/>
        </p:spPr>
        <p:txBody>
          <a:bodyPr wrap="square" lIns="0" tIns="0" rIns="0" bIns="0" rtlCol="0" anchor="ctr"/>
          <a:lstStyle/>
          <a:p>
            <a:pPr marL="0" indent="0">
              <a:buNone/>
            </a:pPr>
            <a:r>
              <a:rPr lang="en-US" sz="1700" dirty="0">
                <a:solidFill>
                  <a:srgbClr val="AFC3D8"/>
                </a:solidFill>
                <a:latin typeface="Calibri" pitchFamily="34" charset="0"/>
                <a:ea typeface="Calibri" pitchFamily="34" charset="-122"/>
                <a:cs typeface="Calibri" pitchFamily="34" charset="-120"/>
              </a:rPr>
              <a:t>Questions welcome.</a:t>
            </a:r>
            <a:endParaRPr lang="en-US" sz="1700" dirty="0"/>
          </a:p>
        </p:txBody>
      </p:sp>
      <p:sp>
        <p:nvSpPr>
          <p:cNvPr id="4" name="Text 2"/>
          <p:cNvSpPr/>
          <p:nvPr/>
        </p:nvSpPr>
        <p:spPr>
          <a:xfrm>
            <a:off x="685800" y="3520440"/>
            <a:ext cx="2194560" cy="457200"/>
          </a:xfrm>
          <a:prstGeom prst="rect">
            <a:avLst/>
          </a:prstGeom>
          <a:noFill/>
          <a:ln/>
        </p:spPr>
        <p:txBody>
          <a:bodyPr wrap="square" lIns="0" tIns="0" rIns="0" bIns="0" rtlCol="0" anchor="ctr"/>
          <a:lstStyle/>
          <a:p>
            <a:pPr marL="0" indent="0">
              <a:buNone/>
            </a:pPr>
            <a:r>
              <a:rPr lang="en-US" sz="1900" b="1" dirty="0">
                <a:solidFill>
                  <a:srgbClr val="FF6A2B"/>
                </a:solidFill>
                <a:latin typeface="Cambria" pitchFamily="34" charset="0"/>
                <a:ea typeface="Cambria" pitchFamily="34" charset="-122"/>
                <a:cs typeface="Cambria" pitchFamily="34" charset="-120"/>
              </a:rPr>
              <a:t>The buyer</a:t>
            </a:r>
            <a:endParaRPr lang="en-US" sz="1900" dirty="0"/>
          </a:p>
        </p:txBody>
      </p:sp>
      <p:sp>
        <p:nvSpPr>
          <p:cNvPr id="5" name="Text 3"/>
          <p:cNvSpPr/>
          <p:nvPr/>
        </p:nvSpPr>
        <p:spPr>
          <a:xfrm>
            <a:off x="3017520" y="3575304"/>
            <a:ext cx="4754880" cy="411480"/>
          </a:xfrm>
          <a:prstGeom prst="rect">
            <a:avLst/>
          </a:prstGeom>
          <a:noFill/>
          <a:ln/>
        </p:spPr>
        <p:txBody>
          <a:bodyPr wrap="square" lIns="0" tIns="0" rIns="0" bIns="0" rtlCol="0" anchor="ctr"/>
          <a:lstStyle/>
          <a:p>
            <a:pPr marL="0" indent="0">
              <a:buNone/>
            </a:pPr>
            <a:r>
              <a:rPr lang="en-US" sz="1400" dirty="0">
                <a:solidFill>
                  <a:srgbClr val="AFC3D8"/>
                </a:solidFill>
                <a:latin typeface="Calibri" pitchFamily="34" charset="0"/>
                <a:ea typeface="Calibri" pitchFamily="34" charset="-122"/>
                <a:cs typeface="Calibri" pitchFamily="34" charset="-120"/>
              </a:rPr>
              <a:t>teams shipping weekly, self-hosting, multi-language</a:t>
            </a:r>
            <a:endParaRPr lang="en-US" sz="1400" dirty="0"/>
          </a:p>
        </p:txBody>
      </p:sp>
      <p:sp>
        <p:nvSpPr>
          <p:cNvPr id="6" name="Text 4"/>
          <p:cNvSpPr/>
          <p:nvPr/>
        </p:nvSpPr>
        <p:spPr>
          <a:xfrm>
            <a:off x="685800" y="4297680"/>
            <a:ext cx="2194560" cy="457200"/>
          </a:xfrm>
          <a:prstGeom prst="rect">
            <a:avLst/>
          </a:prstGeom>
          <a:noFill/>
          <a:ln/>
        </p:spPr>
        <p:txBody>
          <a:bodyPr wrap="square" lIns="0" tIns="0" rIns="0" bIns="0" rtlCol="0" anchor="ctr"/>
          <a:lstStyle/>
          <a:p>
            <a:pPr marL="0" indent="0">
              <a:buNone/>
            </a:pPr>
            <a:r>
              <a:rPr lang="en-US" sz="1900" b="1" dirty="0">
                <a:solidFill>
                  <a:srgbClr val="FF6A2B"/>
                </a:solidFill>
                <a:latin typeface="Cambria" pitchFamily="34" charset="0"/>
                <a:ea typeface="Cambria" pitchFamily="34" charset="-122"/>
                <a:cs typeface="Cambria" pitchFamily="34" charset="-120"/>
              </a:rPr>
              <a:t>The edge</a:t>
            </a:r>
            <a:endParaRPr lang="en-US" sz="1900" dirty="0"/>
          </a:p>
        </p:txBody>
      </p:sp>
      <p:sp>
        <p:nvSpPr>
          <p:cNvPr id="7" name="Text 5"/>
          <p:cNvSpPr/>
          <p:nvPr/>
        </p:nvSpPr>
        <p:spPr>
          <a:xfrm>
            <a:off x="3017520" y="4352544"/>
            <a:ext cx="4754880" cy="411480"/>
          </a:xfrm>
          <a:prstGeom prst="rect">
            <a:avLst/>
          </a:prstGeom>
          <a:noFill/>
          <a:ln/>
        </p:spPr>
        <p:txBody>
          <a:bodyPr wrap="square" lIns="0" tIns="0" rIns="0" bIns="0" rtlCol="0" anchor="ctr"/>
          <a:lstStyle/>
          <a:p>
            <a:pPr marL="0" indent="0">
              <a:buNone/>
            </a:pPr>
            <a:r>
              <a:rPr lang="en-US" sz="1400" dirty="0">
                <a:solidFill>
                  <a:srgbClr val="AFC3D8"/>
                </a:solidFill>
                <a:latin typeface="Calibri" pitchFamily="34" charset="0"/>
                <a:ea typeface="Calibri" pitchFamily="34" charset="-122"/>
                <a:cs typeface="Calibri" pitchFamily="34" charset="-120"/>
              </a:rPr>
              <a:t>it names the defect, and it runs on their machines</a:t>
            </a:r>
            <a:endParaRPr lang="en-US" sz="1400" dirty="0"/>
          </a:p>
        </p:txBody>
      </p:sp>
      <p:sp>
        <p:nvSpPr>
          <p:cNvPr id="8" name="Text 6"/>
          <p:cNvSpPr/>
          <p:nvPr/>
        </p:nvSpPr>
        <p:spPr>
          <a:xfrm>
            <a:off x="685800" y="5074920"/>
            <a:ext cx="2194560" cy="457200"/>
          </a:xfrm>
          <a:prstGeom prst="rect">
            <a:avLst/>
          </a:prstGeom>
          <a:noFill/>
          <a:ln/>
        </p:spPr>
        <p:txBody>
          <a:bodyPr wrap="square" lIns="0" tIns="0" rIns="0" bIns="0" rtlCol="0" anchor="ctr"/>
          <a:lstStyle/>
          <a:p>
            <a:pPr marL="0" indent="0">
              <a:buNone/>
            </a:pPr>
            <a:r>
              <a:rPr lang="en-US" sz="1900" b="1" dirty="0">
                <a:solidFill>
                  <a:srgbClr val="FF6A2B"/>
                </a:solidFill>
                <a:latin typeface="Cambria" pitchFamily="34" charset="0"/>
                <a:ea typeface="Cambria" pitchFamily="34" charset="-122"/>
                <a:cs typeface="Cambria" pitchFamily="34" charset="-120"/>
              </a:rPr>
              <a:t>The proof</a:t>
            </a:r>
            <a:endParaRPr lang="en-US" sz="1900" dirty="0"/>
          </a:p>
        </p:txBody>
      </p:sp>
      <p:sp>
        <p:nvSpPr>
          <p:cNvPr id="9" name="Text 7"/>
          <p:cNvSpPr/>
          <p:nvPr/>
        </p:nvSpPr>
        <p:spPr>
          <a:xfrm>
            <a:off x="3017520" y="5129784"/>
            <a:ext cx="4754880" cy="411480"/>
          </a:xfrm>
          <a:prstGeom prst="rect">
            <a:avLst/>
          </a:prstGeom>
          <a:noFill/>
          <a:ln/>
        </p:spPr>
        <p:txBody>
          <a:bodyPr wrap="square" lIns="0" tIns="0" rIns="0" bIns="0" rtlCol="0" anchor="ctr"/>
          <a:lstStyle/>
          <a:p>
            <a:pPr marL="0" indent="0">
              <a:buNone/>
            </a:pPr>
            <a:r>
              <a:rPr lang="en-US" sz="1400" dirty="0">
                <a:solidFill>
                  <a:srgbClr val="AFC3D8"/>
                </a:solidFill>
                <a:latin typeface="Calibri" pitchFamily="34" charset="0"/>
                <a:ea typeface="Calibri" pitchFamily="34" charset="-122"/>
                <a:cs typeface="Calibri" pitchFamily="34" charset="-120"/>
              </a:rPr>
              <a:t>81/81 detected, 94.80% named, re-run on every push</a:t>
            </a:r>
            <a:endParaRPr lang="en-US" sz="1400" dirty="0"/>
          </a:p>
        </p:txBody>
      </p:sp>
      <p:sp>
        <p:nvSpPr>
          <p:cNvPr id="10" name="Shape 8"/>
          <p:cNvSpPr/>
          <p:nvPr/>
        </p:nvSpPr>
        <p:spPr>
          <a:xfrm>
            <a:off x="8229600" y="1554480"/>
            <a:ext cx="3291840" cy="4343400"/>
          </a:xfrm>
          <a:prstGeom prst="roundRect">
            <a:avLst>
              <a:gd name="adj" fmla="val 2500"/>
            </a:avLst>
          </a:prstGeom>
          <a:solidFill>
            <a:srgbClr val="12293F"/>
          </a:solidFill>
          <a:ln/>
        </p:spPr>
        <p:txBody>
          <a:bodyPr/>
          <a:lstStyle/>
          <a:p>
            <a:endParaRPr lang="en-MY"/>
          </a:p>
        </p:txBody>
      </p:sp>
      <p:sp>
        <p:nvSpPr>
          <p:cNvPr id="11" name="Text 9"/>
          <p:cNvSpPr/>
          <p:nvPr/>
        </p:nvSpPr>
        <p:spPr>
          <a:xfrm>
            <a:off x="8549640" y="1874520"/>
            <a:ext cx="2743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Tan Kia Yen</a:t>
            </a:r>
            <a:endParaRPr lang="en-US" sz="1600" dirty="0"/>
          </a:p>
        </p:txBody>
      </p:sp>
      <p:sp>
        <p:nvSpPr>
          <p:cNvPr id="12" name="Text 10"/>
          <p:cNvSpPr/>
          <p:nvPr/>
        </p:nvSpPr>
        <p:spPr>
          <a:xfrm>
            <a:off x="8549640" y="2286000"/>
            <a:ext cx="2743200" cy="548640"/>
          </a:xfrm>
          <a:prstGeom prst="rect">
            <a:avLst/>
          </a:prstGeom>
          <a:noFill/>
          <a:ln/>
        </p:spPr>
        <p:txBody>
          <a:bodyPr wrap="square" lIns="0" tIns="0" rIns="0" bIns="0" rtlCol="0" anchor="ctr"/>
          <a:lstStyle/>
          <a:p>
            <a:pPr marL="0" indent="0">
              <a:buNone/>
            </a:pPr>
            <a:r>
              <a:rPr lang="en-US" sz="1300" dirty="0">
                <a:solidFill>
                  <a:srgbClr val="9FB5CB"/>
                </a:solidFill>
                <a:latin typeface="Calibri" pitchFamily="34" charset="0"/>
                <a:ea typeface="Calibri" pitchFamily="34" charset="-122"/>
                <a:cs typeface="Calibri" pitchFamily="34" charset="-120"/>
              </a:rPr>
              <a:t>Visual Regression Workbench</a:t>
            </a:r>
            <a:endParaRPr lang="en-US" sz="1300" dirty="0"/>
          </a:p>
        </p:txBody>
      </p:sp>
      <p:sp>
        <p:nvSpPr>
          <p:cNvPr id="13" name="Text 11"/>
          <p:cNvSpPr/>
          <p:nvPr/>
        </p:nvSpPr>
        <p:spPr>
          <a:xfrm>
            <a:off x="8549640" y="2880360"/>
            <a:ext cx="2743200" cy="2743200"/>
          </a:xfrm>
          <a:prstGeom prst="rect">
            <a:avLst/>
          </a:prstGeom>
          <a:noFill/>
          <a:ln/>
        </p:spPr>
        <p:txBody>
          <a:bodyPr wrap="square" lIns="0" tIns="0" rIns="0" bIns="0" rtlCol="0" anchor="t"/>
          <a:lstStyle/>
          <a:p>
            <a:pPr marL="0" indent="0">
              <a:buNone/>
            </a:pPr>
            <a:r>
              <a:rPr lang="en-US" sz="1150" b="1" dirty="0">
                <a:solidFill>
                  <a:srgbClr val="FF6A2B"/>
                </a:solidFill>
                <a:latin typeface="Calibri" pitchFamily="34" charset="0"/>
                <a:ea typeface="Calibri" pitchFamily="34" charset="-122"/>
                <a:cs typeface="Calibri" pitchFamily="34" charset="-120"/>
              </a:rPr>
              <a:t>Try it
</a:t>
            </a:r>
            <a:endParaRPr lang="en-US" sz="1150" dirty="0"/>
          </a:p>
          <a:p>
            <a:pPr marL="0" indent="0">
              <a:buNone/>
            </a:pPr>
            <a:r>
              <a:rPr lang="en-US" sz="1100" dirty="0">
                <a:solidFill>
                  <a:srgbClr val="9FB5CB"/>
                </a:solidFill>
                <a:latin typeface="Courier New" pitchFamily="34" charset="0"/>
                <a:ea typeface="Courier New" pitchFamily="34" charset="-122"/>
                <a:cs typeface="Courier New" pitchFamily="34" charset="-120"/>
              </a:rPr>
              <a:t>docker-compose up --build
</a:t>
            </a:r>
            <a:endParaRPr lang="en-US" sz="1150" dirty="0"/>
          </a:p>
          <a:p>
            <a:pPr marL="0" indent="0">
              <a:buNone/>
            </a:pPr>
            <a:r>
              <a:rPr lang="en-US" sz="1150" b="1" dirty="0">
                <a:solidFill>
                  <a:srgbClr val="FF6A2B"/>
                </a:solidFill>
                <a:latin typeface="Calibri" pitchFamily="34" charset="0"/>
                <a:ea typeface="Calibri" pitchFamily="34" charset="-122"/>
                <a:cs typeface="Calibri" pitchFamily="34" charset="-120"/>
              </a:rPr>
              <a:t>Reproduce the number
</a:t>
            </a:r>
            <a:endParaRPr lang="en-US" sz="1150" dirty="0"/>
          </a:p>
          <a:p>
            <a:pPr marL="0" indent="0">
              <a:buNone/>
            </a:pPr>
            <a:r>
              <a:rPr lang="en-US" sz="1100" dirty="0">
                <a:solidFill>
                  <a:srgbClr val="9FB5CB"/>
                </a:solidFill>
                <a:latin typeface="Courier New" pitchFamily="34" charset="0"/>
                <a:ea typeface="Courier New" pitchFamily="34" charset="-122"/>
                <a:cs typeface="Courier New" pitchFamily="34" charset="-120"/>
              </a:rPr>
              <a:t>python scripts/live_eval_multiseed.py</a:t>
            </a:r>
            <a:endParaRPr lang="en-US" sz="1150" dirty="0"/>
          </a:p>
          <a:p>
            <a:pPr marL="0" indent="0">
              <a:buNone/>
            </a:pPr>
            <a:r>
              <a:rPr lang="en-US" sz="1100" dirty="0">
                <a:solidFill>
                  <a:srgbClr val="9FB5CB"/>
                </a:solidFill>
                <a:latin typeface="Courier New" pitchFamily="34" charset="0"/>
                <a:ea typeface="Courier New" pitchFamily="34" charset="-122"/>
                <a:cs typeface="Courier New" pitchFamily="34" charset="-120"/>
              </a:rPr>
              <a:t>  --seeds 10 --trials 50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3256</Words>
  <Application>Microsoft Office PowerPoint</Application>
  <PresentationFormat>Widescreen</PresentationFormat>
  <Paragraphs>226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Regression Workbench — A6 Presentation</dc:title>
  <dc:subject>PptxGenJS Presentation</dc:subject>
  <dc:creator>Tan Kia Yen</dc:creator>
  <cp:lastModifiedBy>0207077 TAN KIA YEN</cp:lastModifiedBy>
  <cp:revision>3</cp:revision>
  <dcterms:created xsi:type="dcterms:W3CDTF">2026-08-13T09:54:56Z</dcterms:created>
  <dcterms:modified xsi:type="dcterms:W3CDTF">2026-08-13T11:24:00Z</dcterms:modified>
</cp:coreProperties>
</file>
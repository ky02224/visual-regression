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21387816" cy="30275784"/>
  <p:notesSz cx="30275784" cy="2138781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2.png"/><Relationship Id="rId9" Type="http://schemas.openxmlformats.org/officeDocument/2006/relationships/image" Target="../media/image-1-3.png"/><Relationship Id="rId10" Type="http://schemas.openxmlformats.org/officeDocument/2006/relationships/image" Target="../media/image-1-4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387816" cy="4041648"/>
          </a:xfrm>
          <a:prstGeom prst="rect">
            <a:avLst/>
          </a:prstGeom>
          <a:solidFill>
            <a:srgbClr val="10294A"/>
          </a:solidFill>
          <a:ln/>
        </p:spPr>
      </p:sp>
      <p:pic>
        <p:nvPicPr>
          <p:cNvPr id="3" name="Image 0" descr="/sessions/beautiful-determined-bell/mnt/outputs/assets/UOWMalaysiaLogo2022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475488"/>
            <a:ext cx="5120640" cy="1127819"/>
          </a:xfrm>
          <a:prstGeom prst="rect">
            <a:avLst/>
          </a:prstGeom>
        </p:spPr>
      </p:pic>
      <p:pic>
        <p:nvPicPr>
          <p:cNvPr id="4" name="Image 1" descr="/sessions/beautiful-determined-bell/mnt/outputs/assets/sdg0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8384" y="384048"/>
            <a:ext cx="1207008" cy="1207008"/>
          </a:xfrm>
          <a:prstGeom prst="rect">
            <a:avLst/>
          </a:prstGeom>
        </p:spPr>
      </p:pic>
      <p:pic>
        <p:nvPicPr>
          <p:cNvPr id="5" name="Image 2" descr="/sessions/beautiful-determined-bell/mnt/outputs/assets/sdg0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05120" y="384048"/>
            <a:ext cx="1207008" cy="1207008"/>
          </a:xfrm>
          <a:prstGeom prst="rect">
            <a:avLst/>
          </a:prstGeom>
        </p:spPr>
      </p:pic>
      <p:pic>
        <p:nvPicPr>
          <p:cNvPr id="6" name="Image 3" descr="/sessions/beautiful-determined-bell/mnt/outputs/assets/sdg1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21856" y="384048"/>
            <a:ext cx="1207008" cy="1207008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685800" y="1700784"/>
            <a:ext cx="2001621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AI-Based Visual Regression Testing for Web Applications</a:t>
            </a:r>
            <a:endParaRPr lang="en-US" sz="5200" dirty="0"/>
          </a:p>
        </p:txBody>
      </p:sp>
      <p:sp>
        <p:nvSpPr>
          <p:cNvPr id="8" name="Text 2"/>
          <p:cNvSpPr/>
          <p:nvPr/>
        </p:nvSpPr>
        <p:spPr>
          <a:xfrm>
            <a:off x="685800" y="2761488"/>
            <a:ext cx="20016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i="1" dirty="0">
                <a:solidFill>
                  <a:srgbClr val="A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and classifying unintended UI changes across browsers, devices and locales</a:t>
            </a:r>
            <a:endParaRPr lang="en-US" sz="2700" dirty="0"/>
          </a:p>
        </p:txBody>
      </p:sp>
      <p:sp>
        <p:nvSpPr>
          <p:cNvPr id="9" name="Text 3"/>
          <p:cNvSpPr/>
          <p:nvPr/>
        </p:nvSpPr>
        <p:spPr>
          <a:xfrm>
            <a:off x="685800" y="3310128"/>
            <a:ext cx="20016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D6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 Kia Yen   ·   0207077   ·   Final Year Project, Bachelor of Computer Science   ·   Supervisor: Dr. Nor Rahayu Binti Ngatirin   ·   UOW Malaysia</a:t>
            </a:r>
            <a:endParaRPr lang="en-US" sz="2100" dirty="0"/>
          </a:p>
        </p:txBody>
      </p:sp>
      <p:sp>
        <p:nvSpPr>
          <p:cNvPr id="10" name="Shape 4"/>
          <p:cNvSpPr/>
          <p:nvPr/>
        </p:nvSpPr>
        <p:spPr>
          <a:xfrm>
            <a:off x="685800" y="4425696"/>
            <a:ext cx="6416040" cy="6468778"/>
          </a:xfrm>
          <a:prstGeom prst="roundRect">
            <a:avLst>
              <a:gd name="adj" fmla="val 1425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sx="100000" sy="100000" kx="0" ky="0" algn="bl" rotWithShape="0" blurRad="114300" dist="25400" dir="5400000">
              <a:srgbClr val="8FA0B5">
                <a:alpha val="28000"/>
              </a:srgbClr>
            </a:outerShdw>
          </a:effectLst>
        </p:spPr>
      </p:sp>
      <p:sp>
        <p:nvSpPr>
          <p:cNvPr id="11" name="Shape 5"/>
          <p:cNvSpPr/>
          <p:nvPr/>
        </p:nvSpPr>
        <p:spPr>
          <a:xfrm>
            <a:off x="1051560" y="4700016"/>
            <a:ext cx="603504" cy="603504"/>
          </a:xfrm>
          <a:prstGeom prst="roundRect">
            <a:avLst>
              <a:gd name="adj" fmla="val 24242"/>
            </a:avLst>
          </a:prstGeom>
          <a:solidFill>
            <a:srgbClr val="10294A"/>
          </a:solidFill>
          <a:ln w="12700">
            <a:solidFill>
              <a:srgbClr val="10294A"/>
            </a:solidFill>
            <a:prstDash val="solid"/>
          </a:ln>
        </p:spPr>
      </p:sp>
      <p:sp>
        <p:nvSpPr>
          <p:cNvPr id="12" name="Text 6"/>
          <p:cNvSpPr/>
          <p:nvPr/>
        </p:nvSpPr>
        <p:spPr>
          <a:xfrm>
            <a:off x="1051560" y="470001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13" name="Text 7"/>
          <p:cNvSpPr/>
          <p:nvPr/>
        </p:nvSpPr>
        <p:spPr>
          <a:xfrm>
            <a:off x="1856232" y="4663440"/>
            <a:ext cx="48798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Aims</a:t>
            </a:r>
            <a:endParaRPr lang="en-US" sz="2800" dirty="0"/>
          </a:p>
        </p:txBody>
      </p:sp>
      <p:sp>
        <p:nvSpPr>
          <p:cNvPr id="14" name="Text 8"/>
          <p:cNvSpPr/>
          <p:nvPr/>
        </p:nvSpPr>
        <p:spPr>
          <a:xfrm>
            <a:off x="1051560" y="5431536"/>
            <a:ext cx="5684520" cy="136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6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 regression is a change to a web page that nobody meant to make: a button that vanishes after a CSS refactor, text that overflows only in Malay, a chart that renders blank on a phone. The functional tests still pass — the page is broken anyway.</a:t>
            </a:r>
            <a:endParaRPr lang="en-US" sz="1660" dirty="0"/>
          </a:p>
        </p:txBody>
      </p:sp>
      <p:sp>
        <p:nvSpPr>
          <p:cNvPr id="15" name="Text 9"/>
          <p:cNvSpPr/>
          <p:nvPr/>
        </p:nvSpPr>
        <p:spPr>
          <a:xfrm>
            <a:off x="1051560" y="6966111"/>
            <a:ext cx="5684520" cy="1095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6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Regression Workbench captures a page, compares it against an approved reference image, and classifies what changed, so a reviewer only opens the changes worth opening.</a:t>
            </a:r>
            <a:endParaRPr lang="en-US" sz="1660" dirty="0"/>
          </a:p>
        </p:txBody>
      </p:sp>
      <p:sp>
        <p:nvSpPr>
          <p:cNvPr id="16" name="Text 10"/>
          <p:cNvSpPr/>
          <p:nvPr/>
        </p:nvSpPr>
        <p:spPr>
          <a:xfrm>
            <a:off x="1051560" y="8226690"/>
            <a:ext cx="5684520" cy="273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6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Aims</a:t>
            </a:r>
            <a:endParaRPr lang="en-US" sz="1660" dirty="0"/>
          </a:p>
        </p:txBody>
      </p:sp>
      <p:sp>
        <p:nvSpPr>
          <p:cNvPr id="17" name="Text 11"/>
          <p:cNvSpPr/>
          <p:nvPr/>
        </p:nvSpPr>
        <p:spPr>
          <a:xfrm>
            <a:off x="1051560" y="8665278"/>
            <a:ext cx="5684520" cy="191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66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unintended UI changes across browsers, devices and locales, automatically.</a:t>
            </a:r>
            <a:endParaRPr lang="en-US" sz="166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66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kind of change instead of only flagging pixels, so triage is not guesswork.</a:t>
            </a:r>
            <a:endParaRPr lang="en-US" sz="166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66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it as free, self-hosted software any team, student or NGO can run on a laptop.</a:t>
            </a:r>
            <a:endParaRPr lang="en-US" sz="1660" dirty="0"/>
          </a:p>
        </p:txBody>
      </p:sp>
      <p:sp>
        <p:nvSpPr>
          <p:cNvPr id="18" name="Shape 12"/>
          <p:cNvSpPr/>
          <p:nvPr/>
        </p:nvSpPr>
        <p:spPr>
          <a:xfrm>
            <a:off x="685800" y="11482571"/>
            <a:ext cx="6416040" cy="5518449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sx="100000" sy="100000" kx="0" ky="0" algn="bl" rotWithShape="0" blurRad="114300" dist="25400" dir="5400000">
              <a:srgbClr val="8FA0B5">
                <a:alpha val="28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1051560" y="11756891"/>
            <a:ext cx="603504" cy="603504"/>
          </a:xfrm>
          <a:prstGeom prst="roundRect">
            <a:avLst>
              <a:gd name="adj" fmla="val 24242"/>
            </a:avLst>
          </a:prstGeom>
          <a:solidFill>
            <a:srgbClr val="10294A"/>
          </a:solidFill>
          <a:ln w="12700">
            <a:solidFill>
              <a:srgbClr val="10294A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1051560" y="11756891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21" name="Text 15"/>
          <p:cNvSpPr/>
          <p:nvPr/>
        </p:nvSpPr>
        <p:spPr>
          <a:xfrm>
            <a:off x="1856232" y="11720315"/>
            <a:ext cx="48798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22" name="Text 16"/>
          <p:cNvSpPr/>
          <p:nvPr/>
        </p:nvSpPr>
        <p:spPr>
          <a:xfrm>
            <a:off x="1051560" y="12488411"/>
            <a:ext cx="5684520" cy="4201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66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checking does not scale. 3 pages × 3 locales × 3 devices is 27 screens to inspect by eye every release. It gets skipped.</a:t>
            </a:r>
            <a:endParaRPr lang="en-US" sz="166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66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Pixel-only tools cry wolf. Anti-aliasing, font hinting and animation produce diffs that mean nothing. Reviewers stop looking, then switch the check off.</a:t>
            </a:r>
            <a:endParaRPr lang="en-US" sz="166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66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platforms are out of reach. Percy, Applitools and Chromatic charge per snapshot and upload screenshots to a third-party cloud — a blocker for student teams, small companies, and anyone with data-residency rules.</a:t>
            </a:r>
            <a:endParaRPr lang="en-US" sz="166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66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layouts that break most are tested least. Non-English text and small viewports are where truncation, overlap and clipping appear first.</a:t>
            </a:r>
            <a:endParaRPr lang="en-US" sz="1660" dirty="0"/>
          </a:p>
        </p:txBody>
      </p:sp>
      <p:sp>
        <p:nvSpPr>
          <p:cNvPr id="23" name="Shape 17"/>
          <p:cNvSpPr/>
          <p:nvPr/>
        </p:nvSpPr>
        <p:spPr>
          <a:xfrm>
            <a:off x="685800" y="17589116"/>
            <a:ext cx="6416040" cy="3600472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sx="100000" sy="100000" kx="0" ky="0" algn="bl" rotWithShape="0" blurRad="114300" dist="25400" dir="5400000">
              <a:srgbClr val="8FA0B5">
                <a:alpha val="2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1051560" y="17863436"/>
            <a:ext cx="603504" cy="603504"/>
          </a:xfrm>
          <a:prstGeom prst="roundRect">
            <a:avLst>
              <a:gd name="adj" fmla="val 24242"/>
            </a:avLst>
          </a:prstGeom>
          <a:solidFill>
            <a:srgbClr val="10294A"/>
          </a:solidFill>
          <a:ln w="12700">
            <a:solidFill>
              <a:srgbClr val="10294A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1051560" y="1786343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6" name="Text 20"/>
          <p:cNvSpPr/>
          <p:nvPr/>
        </p:nvSpPr>
        <p:spPr>
          <a:xfrm>
            <a:off x="1856232" y="17826860"/>
            <a:ext cx="48798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2800" dirty="0"/>
          </a:p>
        </p:txBody>
      </p:sp>
      <p:sp>
        <p:nvSpPr>
          <p:cNvPr id="27" name="Text 21"/>
          <p:cNvSpPr/>
          <p:nvPr/>
        </p:nvSpPr>
        <p:spPr>
          <a:xfrm>
            <a:off x="1051560" y="18594956"/>
            <a:ext cx="5684520" cy="228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66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engineers and frontend developers in small and medium teams.</a:t>
            </a:r>
            <a:endParaRPr lang="en-US" sz="166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66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owners who approve or block a deployment.</a:t>
            </a:r>
            <a:endParaRPr lang="en-US" sz="166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66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project teams with no QA budget and no licence.</a:t>
            </a:r>
            <a:endParaRPr lang="en-US" sz="166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66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Public-sector and NGO web teams serving multilingual audiences who cannot send screenshots off-site.</a:t>
            </a:r>
            <a:endParaRPr lang="en-US" sz="1660" dirty="0"/>
          </a:p>
        </p:txBody>
      </p:sp>
      <p:sp>
        <p:nvSpPr>
          <p:cNvPr id="28" name="Shape 22"/>
          <p:cNvSpPr/>
          <p:nvPr/>
        </p:nvSpPr>
        <p:spPr>
          <a:xfrm>
            <a:off x="685800" y="21777685"/>
            <a:ext cx="6416040" cy="7071635"/>
          </a:xfrm>
          <a:prstGeom prst="roundRect">
            <a:avLst>
              <a:gd name="adj" fmla="val 1425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sx="100000" sy="100000" kx="0" ky="0" algn="bl" rotWithShape="0" blurRad="114300" dist="25400" dir="5400000">
              <a:srgbClr val="8FA0B5">
                <a:alpha val="2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051560" y="22052005"/>
            <a:ext cx="603504" cy="603504"/>
          </a:xfrm>
          <a:prstGeom prst="roundRect">
            <a:avLst>
              <a:gd name="adj" fmla="val 24242"/>
            </a:avLst>
          </a:prstGeom>
          <a:solidFill>
            <a:srgbClr val="10294A"/>
          </a:solidFill>
          <a:ln w="12700">
            <a:solidFill>
              <a:srgbClr val="10294A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1051560" y="22052005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31" name="Text 25"/>
          <p:cNvSpPr/>
          <p:nvPr/>
        </p:nvSpPr>
        <p:spPr>
          <a:xfrm>
            <a:off x="1856232" y="22015429"/>
            <a:ext cx="48798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Features</a:t>
            </a:r>
            <a:endParaRPr lang="en-US" sz="2800" dirty="0"/>
          </a:p>
        </p:txBody>
      </p:sp>
      <p:sp>
        <p:nvSpPr>
          <p:cNvPr id="32" name="Text 26"/>
          <p:cNvSpPr/>
          <p:nvPr/>
        </p:nvSpPr>
        <p:spPr>
          <a:xfrm>
            <a:off x="1051560" y="22783525"/>
            <a:ext cx="5684520" cy="5754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66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for runs, baselines, reports and approvals, with live updates.</a:t>
            </a:r>
            <a:endParaRPr lang="en-US" sz="166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66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versioning — old versions archived, rollback in one click.</a:t>
            </a:r>
            <a:endParaRPr lang="en-US" sz="166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66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Locale, timezone and device-aware capture (en-US, ms-MY, zh-CN; desktop and phone).</a:t>
            </a:r>
            <a:endParaRPr lang="en-US" sz="166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66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DOM sidecar rides with every screenshot, giving structural comparison rather than pixel arithmetic.</a:t>
            </a:r>
            <a:endParaRPr lang="en-US" sz="166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66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change classification: missing element, layout shift, text issue, colour regression, broken image.</a:t>
            </a:r>
            <a:endParaRPr lang="en-US" sz="166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66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SDK drop-in — one line: visualSnapshot(page, "homepage").</a:t>
            </a:r>
            <a:endParaRPr lang="en-US" sz="166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66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control: admin / developer / viewer.</a:t>
            </a:r>
            <a:endParaRPr lang="en-US" sz="166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66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report, JSON, JUnit output and GitHub commit-status checks.</a:t>
            </a:r>
            <a:endParaRPr lang="en-US" sz="166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66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by default or PostgreSQL; deployed with docker-compose up.</a:t>
            </a:r>
            <a:endParaRPr lang="en-US" sz="1660" dirty="0"/>
          </a:p>
        </p:txBody>
      </p:sp>
      <p:sp>
        <p:nvSpPr>
          <p:cNvPr id="33" name="Shape 27"/>
          <p:cNvSpPr/>
          <p:nvPr/>
        </p:nvSpPr>
        <p:spPr>
          <a:xfrm>
            <a:off x="7485888" y="4425696"/>
            <a:ext cx="6416040" cy="5756193"/>
          </a:xfrm>
          <a:prstGeom prst="roundRect">
            <a:avLst>
              <a:gd name="adj" fmla="val 1589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sx="100000" sy="100000" kx="0" ky="0" algn="bl" rotWithShape="0" blurRad="114300" dist="25400" dir="5400000">
              <a:srgbClr val="8FA0B5">
                <a:alpha val="28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7851648" y="4700016"/>
            <a:ext cx="603504" cy="603504"/>
          </a:xfrm>
          <a:prstGeom prst="roundRect">
            <a:avLst>
              <a:gd name="adj" fmla="val 24242"/>
            </a:avLst>
          </a:prstGeom>
          <a:solidFill>
            <a:srgbClr val="10294A"/>
          </a:solidFill>
          <a:ln w="12700">
            <a:solidFill>
              <a:srgbClr val="10294A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7851648" y="470001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36" name="Text 30"/>
          <p:cNvSpPr/>
          <p:nvPr/>
        </p:nvSpPr>
        <p:spPr>
          <a:xfrm>
            <a:off x="8656320" y="4663440"/>
            <a:ext cx="48798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800" dirty="0"/>
          </a:p>
        </p:txBody>
      </p:sp>
      <p:sp>
        <p:nvSpPr>
          <p:cNvPr id="37" name="Text 31"/>
          <p:cNvSpPr/>
          <p:nvPr/>
        </p:nvSpPr>
        <p:spPr>
          <a:xfrm>
            <a:off x="7851648" y="5431536"/>
            <a:ext cx="5684520" cy="821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6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FastAPI, Playwright capture, PyTorch (ResNet50 Siamese) with OpenCV/SSIM, a React dashboard, SQLite or PostgreSQL. Every component is open source.</a:t>
            </a:r>
            <a:endParaRPr lang="en-US" sz="1660" dirty="0"/>
          </a:p>
        </p:txBody>
      </p:sp>
      <p:sp>
        <p:nvSpPr>
          <p:cNvPr id="38" name="Text 32"/>
          <p:cNvSpPr/>
          <p:nvPr/>
        </p:nvSpPr>
        <p:spPr>
          <a:xfrm>
            <a:off x="7851648" y="6418118"/>
            <a:ext cx="5684520" cy="273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6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— measured, not asserted</a:t>
            </a:r>
            <a:endParaRPr lang="en-US" sz="1660" dirty="0"/>
          </a:p>
        </p:txBody>
      </p:sp>
      <p:sp>
        <p:nvSpPr>
          <p:cNvPr id="39" name="Text 33"/>
          <p:cNvSpPr/>
          <p:nvPr/>
        </p:nvSpPr>
        <p:spPr>
          <a:xfrm>
            <a:off x="7851648" y="6856706"/>
            <a:ext cx="5684520" cy="3014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66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Detection: baselines captured from the clean demo pages, then every page reloaded with ?defect=&lt;mode&gt; — 9 defect types × 9 cases = 81 defective plus 9 clean controls. Ground truth comes from the injected mode, never from the model.</a:t>
            </a:r>
            <a:endParaRPr lang="en-US" sz="166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66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500 trials over 10 random seeds on real third-party pages with injected DOM mutations, with a 95% confidence interval.</a:t>
            </a:r>
            <a:endParaRPr lang="en-US" sz="166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66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here is re-checked by CI on each push; the build fails on any miss or false alarm.</a:t>
            </a:r>
            <a:endParaRPr lang="en-US" sz="1660" dirty="0"/>
          </a:p>
        </p:txBody>
      </p:sp>
      <p:sp>
        <p:nvSpPr>
          <p:cNvPr id="40" name="Shape 34"/>
          <p:cNvSpPr/>
          <p:nvPr/>
        </p:nvSpPr>
        <p:spPr>
          <a:xfrm>
            <a:off x="7485888" y="10474497"/>
            <a:ext cx="6416040" cy="5690974"/>
          </a:xfrm>
          <a:prstGeom prst="roundRect">
            <a:avLst>
              <a:gd name="adj" fmla="val 1607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sx="100000" sy="100000" kx="0" ky="0" algn="bl" rotWithShape="0" blurRad="114300" dist="25400" dir="5400000">
              <a:srgbClr val="8FA0B5">
                <a:alpha val="28000"/>
              </a:srgbClr>
            </a:outerShdw>
          </a:effectLst>
        </p:spPr>
      </p:sp>
      <p:sp>
        <p:nvSpPr>
          <p:cNvPr id="41" name="Shape 35"/>
          <p:cNvSpPr/>
          <p:nvPr/>
        </p:nvSpPr>
        <p:spPr>
          <a:xfrm>
            <a:off x="7851648" y="10748817"/>
            <a:ext cx="603504" cy="603504"/>
          </a:xfrm>
          <a:prstGeom prst="roundRect">
            <a:avLst>
              <a:gd name="adj" fmla="val 24242"/>
            </a:avLst>
          </a:prstGeom>
          <a:solidFill>
            <a:srgbClr val="10294A"/>
          </a:solidFill>
          <a:ln w="12700">
            <a:solidFill>
              <a:srgbClr val="10294A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7851648" y="10748817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43" name="Text 37"/>
          <p:cNvSpPr/>
          <p:nvPr/>
        </p:nvSpPr>
        <p:spPr>
          <a:xfrm>
            <a:off x="8656320" y="10712241"/>
            <a:ext cx="48798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Workflow</a:t>
            </a:r>
            <a:endParaRPr lang="en-US" sz="2800" dirty="0"/>
          </a:p>
        </p:txBody>
      </p:sp>
      <p:pic>
        <p:nvPicPr>
          <p:cNvPr id="44" name="Image 4" descr="/sessions/beautiful-determined-bell/mnt/outputs/assets/architectur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3761" y="11480337"/>
            <a:ext cx="5400294" cy="4374238"/>
          </a:xfrm>
          <a:prstGeom prst="rect">
            <a:avLst/>
          </a:prstGeom>
        </p:spPr>
      </p:pic>
      <p:sp>
        <p:nvSpPr>
          <p:cNvPr id="45" name="Shape 38"/>
          <p:cNvSpPr/>
          <p:nvPr/>
        </p:nvSpPr>
        <p:spPr>
          <a:xfrm>
            <a:off x="7485888" y="16458079"/>
            <a:ext cx="6416040" cy="12391241"/>
          </a:xfrm>
          <a:prstGeom prst="roundRect">
            <a:avLst>
              <a:gd name="adj" fmla="val 1425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sx="100000" sy="100000" kx="0" ky="0" algn="bl" rotWithShape="0" blurRad="114300" dist="25400" dir="5400000">
              <a:srgbClr val="8FA0B5">
                <a:alpha val="28000"/>
              </a:srgbClr>
            </a:outerShdw>
          </a:effectLst>
        </p:spPr>
      </p:sp>
      <p:sp>
        <p:nvSpPr>
          <p:cNvPr id="46" name="Shape 39"/>
          <p:cNvSpPr/>
          <p:nvPr/>
        </p:nvSpPr>
        <p:spPr>
          <a:xfrm>
            <a:off x="7851648" y="16732399"/>
            <a:ext cx="603504" cy="603504"/>
          </a:xfrm>
          <a:prstGeom prst="roundRect">
            <a:avLst>
              <a:gd name="adj" fmla="val 24242"/>
            </a:avLst>
          </a:prstGeom>
          <a:solidFill>
            <a:srgbClr val="10294A"/>
          </a:solidFill>
          <a:ln w="12700">
            <a:solidFill>
              <a:srgbClr val="10294A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7851648" y="16732399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400" dirty="0"/>
          </a:p>
        </p:txBody>
      </p:sp>
      <p:sp>
        <p:nvSpPr>
          <p:cNvPr id="48" name="Text 41"/>
          <p:cNvSpPr/>
          <p:nvPr/>
        </p:nvSpPr>
        <p:spPr>
          <a:xfrm>
            <a:off x="8656320" y="16695823"/>
            <a:ext cx="48798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&amp; Results</a:t>
            </a:r>
            <a:endParaRPr lang="en-US" sz="2800" dirty="0"/>
          </a:p>
        </p:txBody>
      </p:sp>
      <p:sp>
        <p:nvSpPr>
          <p:cNvPr id="49" name="Shape 42"/>
          <p:cNvSpPr/>
          <p:nvPr/>
        </p:nvSpPr>
        <p:spPr>
          <a:xfrm>
            <a:off x="7851648" y="17463919"/>
            <a:ext cx="1318260" cy="1335024"/>
          </a:xfrm>
          <a:prstGeom prst="roundRect">
            <a:avLst>
              <a:gd name="adj" fmla="val 6936"/>
            </a:avLst>
          </a:prstGeom>
          <a:solidFill>
            <a:srgbClr val="10294A"/>
          </a:solidFill>
          <a:ln w="12700">
            <a:solidFill>
              <a:srgbClr val="10294A"/>
            </a:solidFill>
            <a:prstDash val="solid"/>
          </a:ln>
        </p:spPr>
      </p:sp>
      <p:sp>
        <p:nvSpPr>
          <p:cNvPr id="50" name="Text 43"/>
          <p:cNvSpPr/>
          <p:nvPr/>
        </p:nvSpPr>
        <p:spPr>
          <a:xfrm>
            <a:off x="7851648" y="17573647"/>
            <a:ext cx="13182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D69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81/81</a:t>
            </a:r>
            <a:endParaRPr lang="en-US" sz="3200" dirty="0"/>
          </a:p>
        </p:txBody>
      </p:sp>
      <p:sp>
        <p:nvSpPr>
          <p:cNvPr id="51" name="Text 44"/>
          <p:cNvSpPr/>
          <p:nvPr/>
        </p:nvSpPr>
        <p:spPr>
          <a:xfrm>
            <a:off x="7851648" y="18232015"/>
            <a:ext cx="13182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D6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detected</a:t>
            </a:r>
            <a:endParaRPr lang="en-US" sz="1450" dirty="0"/>
          </a:p>
        </p:txBody>
      </p:sp>
      <p:sp>
        <p:nvSpPr>
          <p:cNvPr id="52" name="Shape 45"/>
          <p:cNvSpPr/>
          <p:nvPr/>
        </p:nvSpPr>
        <p:spPr>
          <a:xfrm>
            <a:off x="9307068" y="17463919"/>
            <a:ext cx="1318260" cy="1335024"/>
          </a:xfrm>
          <a:prstGeom prst="roundRect">
            <a:avLst>
              <a:gd name="adj" fmla="val 6936"/>
            </a:avLst>
          </a:prstGeom>
          <a:solidFill>
            <a:srgbClr val="10294A"/>
          </a:solidFill>
          <a:ln w="12700">
            <a:solidFill>
              <a:srgbClr val="10294A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9307068" y="17573647"/>
            <a:ext cx="13182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D69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0/9</a:t>
            </a:r>
            <a:endParaRPr lang="en-US" sz="3200" dirty="0"/>
          </a:p>
        </p:txBody>
      </p:sp>
      <p:sp>
        <p:nvSpPr>
          <p:cNvPr id="54" name="Text 47"/>
          <p:cNvSpPr/>
          <p:nvPr/>
        </p:nvSpPr>
        <p:spPr>
          <a:xfrm>
            <a:off x="9307068" y="18232015"/>
            <a:ext cx="13182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D6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</a:t>
            </a:r>
            <a:endParaRPr lang="en-US" sz="1450" dirty="0"/>
          </a:p>
        </p:txBody>
      </p:sp>
      <p:sp>
        <p:nvSpPr>
          <p:cNvPr id="55" name="Shape 48"/>
          <p:cNvSpPr/>
          <p:nvPr/>
        </p:nvSpPr>
        <p:spPr>
          <a:xfrm>
            <a:off x="10762488" y="17463919"/>
            <a:ext cx="1318260" cy="1335024"/>
          </a:xfrm>
          <a:prstGeom prst="roundRect">
            <a:avLst>
              <a:gd name="adj" fmla="val 6936"/>
            </a:avLst>
          </a:prstGeom>
          <a:solidFill>
            <a:srgbClr val="10294A"/>
          </a:solidFill>
          <a:ln w="12700">
            <a:solidFill>
              <a:srgbClr val="10294A"/>
            </a:solidFill>
            <a:prstDash val="solid"/>
          </a:ln>
        </p:spPr>
      </p:sp>
      <p:sp>
        <p:nvSpPr>
          <p:cNvPr id="56" name="Text 49"/>
          <p:cNvSpPr/>
          <p:nvPr/>
        </p:nvSpPr>
        <p:spPr>
          <a:xfrm>
            <a:off x="10762488" y="17573647"/>
            <a:ext cx="13182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D69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95.00%</a:t>
            </a:r>
            <a:endParaRPr lang="en-US" sz="3200" dirty="0"/>
          </a:p>
        </p:txBody>
      </p:sp>
      <p:sp>
        <p:nvSpPr>
          <p:cNvPr id="57" name="Text 50"/>
          <p:cNvSpPr/>
          <p:nvPr/>
        </p:nvSpPr>
        <p:spPr>
          <a:xfrm>
            <a:off x="10762488" y="18232015"/>
            <a:ext cx="13182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D6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450" dirty="0"/>
          </a:p>
        </p:txBody>
      </p:sp>
      <p:sp>
        <p:nvSpPr>
          <p:cNvPr id="58" name="Shape 51"/>
          <p:cNvSpPr/>
          <p:nvPr/>
        </p:nvSpPr>
        <p:spPr>
          <a:xfrm>
            <a:off x="12217908" y="17463919"/>
            <a:ext cx="1318260" cy="1335024"/>
          </a:xfrm>
          <a:prstGeom prst="roundRect">
            <a:avLst>
              <a:gd name="adj" fmla="val 6936"/>
            </a:avLst>
          </a:prstGeom>
          <a:solidFill>
            <a:srgbClr val="10294A"/>
          </a:solidFill>
          <a:ln w="12700">
            <a:solidFill>
              <a:srgbClr val="10294A"/>
            </a:solidFill>
            <a:prstDash val="solid"/>
          </a:ln>
        </p:spPr>
      </p:sp>
      <p:sp>
        <p:nvSpPr>
          <p:cNvPr id="59" name="Text 52"/>
          <p:cNvSpPr/>
          <p:nvPr/>
        </p:nvSpPr>
        <p:spPr>
          <a:xfrm>
            <a:off x="12217908" y="17573647"/>
            <a:ext cx="13182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D69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1,044</a:t>
            </a:r>
            <a:endParaRPr lang="en-US" sz="3200" dirty="0"/>
          </a:p>
        </p:txBody>
      </p:sp>
      <p:sp>
        <p:nvSpPr>
          <p:cNvPr id="60" name="Text 53"/>
          <p:cNvSpPr/>
          <p:nvPr/>
        </p:nvSpPr>
        <p:spPr>
          <a:xfrm>
            <a:off x="12217908" y="18232015"/>
            <a:ext cx="13182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D6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450" dirty="0"/>
          </a:p>
        </p:txBody>
      </p:sp>
      <p:sp>
        <p:nvSpPr>
          <p:cNvPr id="61" name="Text 54"/>
          <p:cNvSpPr/>
          <p:nvPr/>
        </p:nvSpPr>
        <p:spPr>
          <a:xfrm>
            <a:off x="7851648" y="18963535"/>
            <a:ext cx="5684520" cy="68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83" dirty="0">
                <a:solidFill>
                  <a:srgbClr val="46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recall on all nine injected defect types — missing CTA, shifted card, theme shift, text truncation, overlay obstruction, broken image, misaligned fields, unreadable text, z-index issue.</a:t>
            </a:r>
            <a:endParaRPr lang="en-US" sz="1383" dirty="0"/>
          </a:p>
        </p:txBody>
      </p:sp>
      <p:pic>
        <p:nvPicPr>
          <p:cNvPr id="62" name="Image 5" descr="/sessions/beautiful-determined-bell/mnt/outputs/assets/chart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3761" y="19813118"/>
            <a:ext cx="5400294" cy="2894694"/>
          </a:xfrm>
          <a:prstGeom prst="rect">
            <a:avLst/>
          </a:prstGeom>
        </p:spPr>
      </p:pic>
      <p:pic>
        <p:nvPicPr>
          <p:cNvPr id="63" name="Image 6" descr="/sessions/beautiful-determined-bell/mnt/outputs/assets/triptych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93761" y="22872405"/>
            <a:ext cx="5400294" cy="3510191"/>
          </a:xfrm>
          <a:prstGeom prst="rect">
            <a:avLst/>
          </a:prstGeom>
        </p:spPr>
      </p:pic>
      <p:sp>
        <p:nvSpPr>
          <p:cNvPr id="64" name="Text 55"/>
          <p:cNvSpPr/>
          <p:nvPr/>
        </p:nvSpPr>
        <p:spPr>
          <a:xfrm>
            <a:off x="7851648" y="26547188"/>
            <a:ext cx="5684520" cy="68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83" dirty="0">
                <a:solidFill>
                  <a:srgbClr val="46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Above: the metrics row was removed. Pixel diff 6.14% over one 1392 × 343 px region; labelled missing-element at 0.97 confidence; severity high; run fails.</a:t>
            </a:r>
            <a:endParaRPr lang="en-US" sz="1383" dirty="0"/>
          </a:p>
        </p:txBody>
      </p:sp>
      <p:sp>
        <p:nvSpPr>
          <p:cNvPr id="65" name="Text 56"/>
          <p:cNvSpPr/>
          <p:nvPr/>
        </p:nvSpPr>
        <p:spPr>
          <a:xfrm>
            <a:off x="7851648" y="27396771"/>
            <a:ext cx="5684520" cy="1141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83" dirty="0">
                <a:solidFill>
                  <a:srgbClr val="46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Honestly reported: 15 of the 25 residual errors fall between label pairs describing one event from two angles — a removal reflows what sits below it, an overflow is also a layout change. Treating those as interchangeable scores 98.00%; the strict 95.00% stays the headline.</a:t>
            </a:r>
            <a:endParaRPr lang="en-US" sz="1383" dirty="0"/>
          </a:p>
        </p:txBody>
      </p:sp>
      <p:sp>
        <p:nvSpPr>
          <p:cNvPr id="66" name="Shape 57"/>
          <p:cNvSpPr/>
          <p:nvPr/>
        </p:nvSpPr>
        <p:spPr>
          <a:xfrm>
            <a:off x="14285976" y="4425696"/>
            <a:ext cx="6416040" cy="8232701"/>
          </a:xfrm>
          <a:prstGeom prst="roundRect">
            <a:avLst>
              <a:gd name="adj" fmla="val 1425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sx="100000" sy="100000" kx="0" ky="0" algn="bl" rotWithShape="0" blurRad="114300" dist="25400" dir="5400000">
              <a:srgbClr val="8FA0B5">
                <a:alpha val="28000"/>
              </a:srgbClr>
            </a:outerShdw>
          </a:effectLst>
        </p:spPr>
      </p:sp>
      <p:sp>
        <p:nvSpPr>
          <p:cNvPr id="67" name="Shape 58"/>
          <p:cNvSpPr/>
          <p:nvPr/>
        </p:nvSpPr>
        <p:spPr>
          <a:xfrm>
            <a:off x="14651736" y="4700016"/>
            <a:ext cx="603504" cy="603504"/>
          </a:xfrm>
          <a:prstGeom prst="roundRect">
            <a:avLst>
              <a:gd name="adj" fmla="val 24242"/>
            </a:avLst>
          </a:prstGeom>
          <a:solidFill>
            <a:srgbClr val="10294A"/>
          </a:solidFill>
          <a:ln w="12700">
            <a:solidFill>
              <a:srgbClr val="10294A"/>
            </a:solidFill>
            <a:prstDash val="solid"/>
          </a:ln>
        </p:spPr>
      </p:sp>
      <p:sp>
        <p:nvSpPr>
          <p:cNvPr id="68" name="Text 59"/>
          <p:cNvSpPr/>
          <p:nvPr/>
        </p:nvSpPr>
        <p:spPr>
          <a:xfrm>
            <a:off x="14651736" y="470001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400" dirty="0"/>
          </a:p>
        </p:txBody>
      </p:sp>
      <p:sp>
        <p:nvSpPr>
          <p:cNvPr id="69" name="Text 60"/>
          <p:cNvSpPr/>
          <p:nvPr/>
        </p:nvSpPr>
        <p:spPr>
          <a:xfrm>
            <a:off x="15456408" y="4663440"/>
            <a:ext cx="48798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Alignment</a:t>
            </a:r>
            <a:endParaRPr lang="en-US" sz="2800" dirty="0"/>
          </a:p>
        </p:txBody>
      </p:sp>
      <p:pic>
        <p:nvPicPr>
          <p:cNvPr id="70" name="Image 7" descr="/sessions/beautiful-determined-bell/mnt/outputs/assets/sdg09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651736" y="5431536"/>
            <a:ext cx="1371600" cy="1371600"/>
          </a:xfrm>
          <a:prstGeom prst="rect">
            <a:avLst/>
          </a:prstGeom>
        </p:spPr>
      </p:pic>
      <p:sp>
        <p:nvSpPr>
          <p:cNvPr id="71" name="Text 61"/>
          <p:cNvSpPr/>
          <p:nvPr/>
        </p:nvSpPr>
        <p:spPr>
          <a:xfrm>
            <a:off x="16224504" y="5385816"/>
            <a:ext cx="4111752" cy="5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52" b="1" dirty="0">
                <a:solidFill>
                  <a:srgbClr val="10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9 — Industry, Innovation and Infrastructure  (primary)</a:t>
            </a:r>
            <a:endParaRPr lang="en-US" sz="1752" dirty="0"/>
          </a:p>
        </p:txBody>
      </p:sp>
      <p:sp>
        <p:nvSpPr>
          <p:cNvPr id="72" name="Text 62"/>
          <p:cNvSpPr/>
          <p:nvPr/>
        </p:nvSpPr>
        <p:spPr>
          <a:xfrm>
            <a:off x="16224504" y="5920515"/>
            <a:ext cx="4111752" cy="1973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613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interfaces are how people now reach banking, healthcare, enrolment and government services; a broken interface is an outage for the person who cannot finish the task. Targets 9.1 and 9.5 — this puts measured, automated release quality within reach of teams that cannot buy it.</a:t>
            </a:r>
            <a:endParaRPr lang="en-US" sz="1613" dirty="0"/>
          </a:p>
        </p:txBody>
      </p:sp>
      <p:pic>
        <p:nvPicPr>
          <p:cNvPr id="73" name="Image 8" descr="/sessions/beautiful-determined-bell/mnt/outputs/assets/sdg04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651736" y="8058107"/>
            <a:ext cx="1371600" cy="1371600"/>
          </a:xfrm>
          <a:prstGeom prst="rect">
            <a:avLst/>
          </a:prstGeom>
        </p:spPr>
      </p:pic>
      <p:sp>
        <p:nvSpPr>
          <p:cNvPr id="74" name="Text 63"/>
          <p:cNvSpPr/>
          <p:nvPr/>
        </p:nvSpPr>
        <p:spPr>
          <a:xfrm>
            <a:off x="16224504" y="8012387"/>
            <a:ext cx="4111752" cy="5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52" b="1" dirty="0">
                <a:solidFill>
                  <a:srgbClr val="10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4 — Quality Education</a:t>
            </a:r>
            <a:endParaRPr lang="en-US" sz="1752" dirty="0"/>
          </a:p>
        </p:txBody>
      </p:sp>
      <p:sp>
        <p:nvSpPr>
          <p:cNvPr id="75" name="Text 64"/>
          <p:cNvSpPr/>
          <p:nvPr/>
        </p:nvSpPr>
        <p:spPr>
          <a:xfrm>
            <a:off x="16224504" y="8547086"/>
            <a:ext cx="4111752" cy="1440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613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self-hosted, and documented with decision records that explain why each choice was made. Target 4.4 — students practise industry release engineering on real tooling instead of reading about it.</a:t>
            </a:r>
            <a:endParaRPr lang="en-US" sz="1613" dirty="0"/>
          </a:p>
        </p:txBody>
      </p:sp>
      <p:pic>
        <p:nvPicPr>
          <p:cNvPr id="76" name="Image 9" descr="/sessions/beautiful-determined-bell/mnt/outputs/assets/sdg10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651736" y="10151907"/>
            <a:ext cx="1371600" cy="1371600"/>
          </a:xfrm>
          <a:prstGeom prst="rect">
            <a:avLst/>
          </a:prstGeom>
        </p:spPr>
      </p:pic>
      <p:sp>
        <p:nvSpPr>
          <p:cNvPr id="77" name="Text 65"/>
          <p:cNvSpPr/>
          <p:nvPr/>
        </p:nvSpPr>
        <p:spPr>
          <a:xfrm>
            <a:off x="16224504" y="10106187"/>
            <a:ext cx="4111752" cy="5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52" b="1" dirty="0">
                <a:solidFill>
                  <a:srgbClr val="10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10 — Reduced Inequalities</a:t>
            </a:r>
            <a:endParaRPr lang="en-US" sz="1752" dirty="0"/>
          </a:p>
        </p:txBody>
      </p:sp>
      <p:sp>
        <p:nvSpPr>
          <p:cNvPr id="78" name="Text 66"/>
          <p:cNvSpPr/>
          <p:nvPr/>
        </p:nvSpPr>
        <p:spPr>
          <a:xfrm>
            <a:off x="16224504" y="10640886"/>
            <a:ext cx="4111752" cy="1706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613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is locale, timezone and device aware, and was evaluated in English, Malay and Chinese on desktop and phone — so layouts used by non-English speakers and low-end devices get the same scrutiny as the English desktop view.</a:t>
            </a:r>
            <a:endParaRPr lang="en-US" sz="1613" dirty="0"/>
          </a:p>
        </p:txBody>
      </p:sp>
      <p:sp>
        <p:nvSpPr>
          <p:cNvPr id="79" name="Shape 67"/>
          <p:cNvSpPr/>
          <p:nvPr/>
        </p:nvSpPr>
        <p:spPr>
          <a:xfrm>
            <a:off x="14285976" y="13389917"/>
            <a:ext cx="6416040" cy="6797315"/>
          </a:xfrm>
          <a:prstGeom prst="roundRect">
            <a:avLst>
              <a:gd name="adj" fmla="val 1425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sx="100000" sy="100000" kx="0" ky="0" algn="bl" rotWithShape="0" blurRad="114300" dist="25400" dir="5400000">
              <a:srgbClr val="8FA0B5">
                <a:alpha val="28000"/>
              </a:srgbClr>
            </a:outerShdw>
          </a:effectLst>
        </p:spPr>
      </p:sp>
      <p:sp>
        <p:nvSpPr>
          <p:cNvPr id="80" name="Shape 68"/>
          <p:cNvSpPr/>
          <p:nvPr/>
        </p:nvSpPr>
        <p:spPr>
          <a:xfrm>
            <a:off x="14651736" y="13664237"/>
            <a:ext cx="603504" cy="603504"/>
          </a:xfrm>
          <a:prstGeom prst="roundRect">
            <a:avLst>
              <a:gd name="adj" fmla="val 24242"/>
            </a:avLst>
          </a:prstGeom>
          <a:solidFill>
            <a:srgbClr val="10294A"/>
          </a:solidFill>
          <a:ln w="12700">
            <a:solidFill>
              <a:srgbClr val="10294A"/>
            </a:solidFill>
            <a:prstDash val="solid"/>
          </a:ln>
        </p:spPr>
      </p:sp>
      <p:sp>
        <p:nvSpPr>
          <p:cNvPr id="81" name="Text 69"/>
          <p:cNvSpPr/>
          <p:nvPr/>
        </p:nvSpPr>
        <p:spPr>
          <a:xfrm>
            <a:off x="14651736" y="13664237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400" dirty="0"/>
          </a:p>
        </p:txBody>
      </p:sp>
      <p:sp>
        <p:nvSpPr>
          <p:cNvPr id="82" name="Text 70"/>
          <p:cNvSpPr/>
          <p:nvPr/>
        </p:nvSpPr>
        <p:spPr>
          <a:xfrm>
            <a:off x="15456408" y="13627661"/>
            <a:ext cx="48798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Impact, Benefit &amp; Feasibility</a:t>
            </a:r>
            <a:endParaRPr lang="en-US" sz="2800" dirty="0"/>
          </a:p>
        </p:txBody>
      </p:sp>
      <p:sp>
        <p:nvSpPr>
          <p:cNvPr id="83" name="Text 71"/>
          <p:cNvSpPr/>
          <p:nvPr/>
        </p:nvSpPr>
        <p:spPr>
          <a:xfrm>
            <a:off x="14651736" y="14395757"/>
            <a:ext cx="5684520" cy="5480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66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effort collapses. Across 90 benchmark screens the reviewer opens only what is flagged, and 0 false alarms means no wasted triage.</a:t>
            </a:r>
            <a:endParaRPr lang="en-US" sz="166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66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catches what functional tests miss — all nine defect types, including ones that raise no console error and break no assertion.</a:t>
            </a:r>
            <a:endParaRPr lang="en-US" sz="166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66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licence cost, and no data leaves the organisation: screenshots stay on the team's own machine or server.</a:t>
            </a:r>
            <a:endParaRPr lang="en-US" sz="166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66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to run. CPU-only inference, no GPU; SQLite on a laptop, PostgreSQL when a team needs it; docker-compose up is the whole deployment.</a:t>
            </a:r>
            <a:endParaRPr lang="en-US" sz="166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66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degrades safely. With no model present it falls back to pixel comparison and keeps detecting, so adoption never waits on training a model.</a:t>
            </a:r>
            <a:endParaRPr lang="en-US" sz="166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66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Replicable anywhere — every component is open source, so any institution can stand up its own instance at no cost.</a:t>
            </a:r>
            <a:endParaRPr lang="en-US" sz="1660" dirty="0"/>
          </a:p>
        </p:txBody>
      </p:sp>
      <p:sp>
        <p:nvSpPr>
          <p:cNvPr id="84" name="Shape 72"/>
          <p:cNvSpPr/>
          <p:nvPr/>
        </p:nvSpPr>
        <p:spPr>
          <a:xfrm>
            <a:off x="14285976" y="20918752"/>
            <a:ext cx="6416040" cy="6121629"/>
          </a:xfrm>
          <a:prstGeom prst="roundRect">
            <a:avLst>
              <a:gd name="adj" fmla="val 1494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sx="100000" sy="100000" kx="0" ky="0" algn="bl" rotWithShape="0" blurRad="114300" dist="25400" dir="5400000">
              <a:srgbClr val="8FA0B5">
                <a:alpha val="28000"/>
              </a:srgbClr>
            </a:outerShdw>
          </a:effectLst>
        </p:spPr>
      </p:sp>
      <p:sp>
        <p:nvSpPr>
          <p:cNvPr id="85" name="Shape 73"/>
          <p:cNvSpPr/>
          <p:nvPr/>
        </p:nvSpPr>
        <p:spPr>
          <a:xfrm>
            <a:off x="14651736" y="21193072"/>
            <a:ext cx="603504" cy="603504"/>
          </a:xfrm>
          <a:prstGeom prst="roundRect">
            <a:avLst>
              <a:gd name="adj" fmla="val 24242"/>
            </a:avLst>
          </a:prstGeom>
          <a:solidFill>
            <a:srgbClr val="10294A"/>
          </a:solidFill>
          <a:ln w="12700">
            <a:solidFill>
              <a:srgbClr val="10294A"/>
            </a:solidFill>
            <a:prstDash val="solid"/>
          </a:ln>
        </p:spPr>
      </p:sp>
      <p:sp>
        <p:nvSpPr>
          <p:cNvPr id="86" name="Text 74"/>
          <p:cNvSpPr/>
          <p:nvPr/>
        </p:nvSpPr>
        <p:spPr>
          <a:xfrm>
            <a:off x="14651736" y="2119307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400" dirty="0"/>
          </a:p>
        </p:txBody>
      </p:sp>
      <p:sp>
        <p:nvSpPr>
          <p:cNvPr id="87" name="Text 75"/>
          <p:cNvSpPr/>
          <p:nvPr/>
        </p:nvSpPr>
        <p:spPr>
          <a:xfrm>
            <a:off x="15456408" y="21156496"/>
            <a:ext cx="48798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Recommendations</a:t>
            </a:r>
            <a:endParaRPr lang="en-US" sz="2800" dirty="0"/>
          </a:p>
        </p:txBody>
      </p:sp>
      <p:sp>
        <p:nvSpPr>
          <p:cNvPr id="88" name="Text 76"/>
          <p:cNvSpPr/>
          <p:nvPr/>
        </p:nvSpPr>
        <p:spPr>
          <a:xfrm>
            <a:off x="14651736" y="21924592"/>
            <a:ext cx="5684520" cy="1643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6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is effectively solved on this benchmark — 81 of 81 defects caught, no false alarms — and classification stands at 95.00% with a stated confidence interval. The two are reported separately on purpose: they fail for different reasons, and one combined figure would hide which half is weak.</a:t>
            </a:r>
            <a:endParaRPr lang="en-US" sz="1660" dirty="0"/>
          </a:p>
        </p:txBody>
      </p:sp>
      <p:sp>
        <p:nvSpPr>
          <p:cNvPr id="89" name="Text 77"/>
          <p:cNvSpPr/>
          <p:nvPr/>
        </p:nvSpPr>
        <p:spPr>
          <a:xfrm>
            <a:off x="14651736" y="23733163"/>
            <a:ext cx="5684520" cy="273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6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next work</a:t>
            </a:r>
            <a:endParaRPr lang="en-US" sz="1660" dirty="0"/>
          </a:p>
        </p:txBody>
      </p:sp>
      <p:sp>
        <p:nvSpPr>
          <p:cNvPr id="90" name="Text 78"/>
          <p:cNvSpPr/>
          <p:nvPr/>
        </p:nvSpPr>
        <p:spPr>
          <a:xfrm>
            <a:off x="14651736" y="24171752"/>
            <a:ext cx="5684520" cy="2557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66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10 residual errors outside the overlapping label pairs and refine the change taxonomy.</a:t>
            </a:r>
            <a:endParaRPr lang="en-US" sz="166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66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benchmark from the demo portal to production sites at scale.</a:t>
            </a:r>
            <a:endParaRPr lang="en-US" sz="166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66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accessibility checks — contrast ratio, focus order — alongside the visual diff.</a:t>
            </a:r>
            <a:endParaRPr lang="en-US" sz="166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66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 shared community instance so student teams get visual QA with no setup at all.</a:t>
            </a:r>
            <a:endParaRPr lang="en-US" sz="1660" dirty="0"/>
          </a:p>
        </p:txBody>
      </p:sp>
      <p:sp>
        <p:nvSpPr>
          <p:cNvPr id="91" name="Shape 79"/>
          <p:cNvSpPr/>
          <p:nvPr/>
        </p:nvSpPr>
        <p:spPr>
          <a:xfrm>
            <a:off x="0" y="29160216"/>
            <a:ext cx="21387816" cy="1115568"/>
          </a:xfrm>
          <a:prstGeom prst="rect">
            <a:avLst/>
          </a:prstGeom>
          <a:solidFill>
            <a:srgbClr val="10294A"/>
          </a:solidFill>
          <a:ln/>
        </p:spPr>
      </p:sp>
      <p:sp>
        <p:nvSpPr>
          <p:cNvPr id="92" name="Text 80"/>
          <p:cNvSpPr/>
          <p:nvPr/>
        </p:nvSpPr>
        <p:spPr>
          <a:xfrm>
            <a:off x="685800" y="29269944"/>
            <a:ext cx="20016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7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 ·  United Nations (2015) Transforming our world: the 2030 Agenda for Sustainable Development, A/RES/70/1.  ·  He, K. et al. (2016) Deep Residual Learning for Image Recognition, CVPR.  ·  Wang, Z. et al. (2004) Image Quality Assessment: From Error Visibility to Structural Similarity, IEEE TIP.  ·  Deka, B. et al. (2017) Rico: A Mobile App Dataset for Building Data-Driven Design Applications, UIST.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7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Playwright, FastAPI, PyTorch, OpenCV and React, all open source.   ·   Contact: Tan Kia Yen, kiayentan6@gmail.com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7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icons based on the United Nations Sustainable Development Goals (un.org/sustainabledevelopment). The content of this publication has not been approved by the United Nations and does not reflect the views of the United Nations or its officials or Member States.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2026-08-06T02:42:49Z</dcterms:created>
  <dcterms:modified xsi:type="dcterms:W3CDTF">2026-08-06T02:42:49Z</dcterms:modified>
</cp:coreProperties>
</file>
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742"/>
                </a:solidFill>
                <a:latin typeface="Calibri"/>
              </a:defRPr>
            </a:pPr>
            <a:r>
              <a:rPr sz="1300" b="0" i="0" u="none" strike="noStrike">
                <a:solidFill>
                  <a:srgbClr val="0F2742"/>
                </a:solidFill>
                <a:latin typeface="Calibri"/>
              </a:rPr>
              <a:t>Ablation — pooled accuracy (%)</a:t>
            </a:r>
          </a:p>
        </c:rich>
      </c:tx>
      <c:layout/>
      <c:overlay val="0"/>
    </c:title>
    <c:autoTitleDeleted val="0"/>
    <c:plotArea>
      <c:layout/>
      <c:barChart>
        <c:barDir val="bar"/>
        <c:grouping val="clustered"/>
        <c:varyColors val="0"/>
        <c:ser>
          <c:idx val="0"/>
          <c:order val="0"/>
          <c:tx>
            <c:strRef>
              <c:f>Sheet1!$B$1</c:f>
              <c:strCache>
                <c:ptCount val="1"/>
                <c:pt idx="0">
                  <c:v>Pooled accuracy</c:v>
                </c:pt>
              </c:strCache>
            </c:strRef>
          </c:tx>
          <c:spPr>
            <a:solidFill>
              <a:srgbClr val="35608F"/>
            </a:solidFill>
            <a:effectLst/>
          </c:spPr>
          <c:invertIfNegative val="0"/>
          <c:dLbls>
            <c:numFmt formatCode="0.0" sourceLinked="0"/>
            <c:txPr>
              <a:bodyPr/>
              <a:lstStyle/>
              <a:p>
                <a:pPr>
                  <a:defRPr b="0" i="0" strike="noStrike" sz="1100" u="none">
                    <a:solidFill>
                      <a:srgbClr val="44566C"/>
                    </a:solidFill>
                    <a:latin typeface="Arial"/>
                  </a:defRPr>
                </a:pPr>
              </a:p>
            </c:txPr>
            <c:showLegendKey val="0"/>
            <c:showVal val="1"/>
            <c:showCatName val="0"/>
            <c:showSerName val="0"/>
            <c:showPercent val="0"/>
            <c:showBubbleSize val="0"/>
            <c:showLeaderLines val="0"/>
          </c:dLbls>
          <c:dPt>
            <c:idx val="0"/>
            <c:invertIfNegative val="0"/>
            <c:bubble3D val="0"/>
            <c:spPr>
              <a:solidFill>
                <a:srgbClr val="35608F"/>
              </a:solidFill>
              <a:effectLst/>
            </c:spPr>
          </c:dPt>
          <c:dPt>
            <c:idx val="1"/>
            <c:invertIfNegative val="0"/>
            <c:bubble3D val="0"/>
            <c:spPr>
              <a:solidFill>
                <a:srgbClr val="35608F"/>
              </a:solidFill>
              <a:effectLst/>
            </c:spPr>
          </c:dPt>
          <c:dPt>
            <c:idx val="2"/>
            <c:invertIfNegative val="0"/>
            <c:bubble3D val="0"/>
            <c:spPr>
              <a:solidFill>
                <a:srgbClr val="35608F"/>
              </a:solidFill>
              <a:effectLst/>
            </c:spPr>
          </c:dPt>
          <c:dPt>
            <c:idx val="3"/>
            <c:invertIfNegative val="0"/>
            <c:bubble3D val="0"/>
            <c:spPr>
              <a:solidFill>
                <a:srgbClr val="E8298F"/>
              </a:solidFill>
              <a:effectLst/>
            </c:spPr>
          </c:dPt>
          <c:cat>
            <c:multiLvlStrRef>
              <c:f>Sheet1!$A$2:$A$5</c:f>
              <c:multiLvlStrCache>
                <c:ptCount val="4"/>
                <c:lvl>
                  <c:pt idx="0">
                    <c:v>Full system</c:v>
                  </c:pt>
                  <c:pt idx="1">
                    <c:v>Pixel features removed</c:v>
                  </c:pt>
                  <c:pt idx="2">
                    <c:v>DOM features removed</c:v>
                  </c:pt>
                  <c:pt idx="3">
                    <c:v>DOM engine removed</c:v>
                  </c:pt>
                </c:lvl>
              </c:multiLvlStrCache>
            </c:multiLvlStrRef>
          </c:cat>
          <c:val>
            <c:numRef>
              <c:f>Sheet1!$B$2:$B$5</c:f>
              <c:numCache>
                <c:formatCode>General</c:formatCode>
                <c:ptCount val="4"/>
                <c:pt idx="0">
                  <c:v>94.8</c:v>
                </c:pt>
                <c:pt idx="1">
                  <c:v>94.67</c:v>
                </c:pt>
                <c:pt idx="2">
                  <c:v>94</c:v>
                </c:pt>
                <c:pt idx="3">
                  <c:v>38.67</c:v>
                </c:pt>
              </c:numCache>
            </c:numRef>
          </c:val>
        </c:ser>
        <c:dLbls>
          <c:numFmt formatCode="0.0" sourceLinked="0"/>
          <c:txPr>
            <a:bodyPr/>
            <a:lstStyle/>
            <a:p>
              <a:pPr>
                <a:defRPr b="0" i="0" strike="noStrike" sz="1100" u="none">
                  <a:solidFill>
                    <a:srgbClr val="44566C"/>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F2742"/>
                </a:solidFill>
                <a:latin typeface="Calibri"/>
              </a:defRPr>
            </a:pPr>
            <a:endParaRPr lang="en-US"/>
          </a:p>
        </c:txPr>
        <c:crossAx val="2094734552"/>
        <c:crosses val="autoZero"/>
        <c:auto val="1"/>
        <c:lblAlgn val="ctr"/>
        <c:noMultiLvlLbl val="1"/>
      </c:catAx>
      <c:valAx>
        <c:axId val="2094734552"/>
        <c:scaling>
          <c:orientation val="minMax"/>
          <c:max val="105"/>
          <c:min val="0"/>
        </c:scaling>
        <c:delete val="0"/>
        <c:axPos val="b"/>
        <c:majorGridlines>
          <c:spPr>
            <a:ln w="12700" cap="flat">
              <a:solidFill>
                <a:srgbClr val="DCE3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4566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Hi, I'm Tan Kia Yen, and this is the Visual Regression Workbench - a testing platform that catches unintended changes to a website's appearance and names them. First the product pitch, then how it was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[0:15-0:55] Meet the client. Northstar Ops is a forty-person software company. They release every Thursday, serve their portal in English, Malay and Chinese, and are not allowed to send customer screens to an outside cloud. Before every release someone opens 180 screens by hand - thirty pages, three languages, two devices - looking for anything wrong. That is half an engineer's Thursday. And it still fails: last month a promo banner that never loaded reached production, and a customer reported it first. Every test passed, because nothing in their pipeline looks at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[0:55-1:40] Who is this for? Primarily in-house QA teams at companies with ten to two hundred developers - big enough to ship weekly, too small to absorb a subscription that scales with snapshot volume. The niche we own is narrower: products served in several languages, and teams not permitted to send screens off-site. Language and device are part of a baseline's identity here, and self-hosting is the default. Today they buy Percy, Chromatic or Applitools. Percy and Chromatic are free to five thousand snapshots a month then charge by volume; Applitools will not publish a price. All three are cloud-only, and all three hand back a pixel difference a human still has to interpret.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[1:40-2:18] Four things make a team switch. It names the defect - not "2.7% of pixels changed" but which element went missing and where, so the reviewer acts without opening the page. It stays trustworthy, because structural confirmation stops dynamic content from crying wolf, and false alarms are why teams mute these suites. It speaks their languages, so a Malay page is never compared against an English one. And it runs on their machines with one command. Half a day of clicking becomes a short list of named defects.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[2:18-3:05] The mix is aimed at that buyer. The product is a platform, and the Playwright SDK is the wedge - one line inside a suite they already run. Price is the lever: self-hosted and free, so the bill stops scaling with snapshot volume, which is the cost that made them look. Place is GitHub and a Docker image, so adopting it needs no procurement. Promotion is developer-led - the ablation write-up is the lead content, the re-runnable benchmark is the proof. People is one maintainer, so the docs and decision records carry first-line support. Process is fifteen minutes to a first result. Evidence is a public CI badge and an HTML report for every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[3:05-3:15] That was the pitch. The rest is for a technical audience: what it is made of, the code that does the work, and the evidence that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[3:15-3:55] Every technology here answers a requirement. Playwright, because capture must be repeatable across three engines and must pin locale, timezone and device - a capture that drifts makes every later comparison meaningless. OpenCV for detection, because that half must be deterministic and inspectable, and the answer needs to be a bounded region. A ResNet50 siamese head, because the task is literally comparing two images, and pre-training makes it trainable on a labelled set this size. And Docker, because Chromium renders text differently on every platform - so baselines are captured inside the project's own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[3:55-4:35] Three things about the process. Anything that would look arbitrary later is written down as a decision record - why detection and classification are separate metrics, why baselines are committed but models are not. The DOM capture script lives on the server and the SDK fetches it, so the two can never drift. And the ablation drove real code changes: it exposed four inference paths zero-padding the pixel columns, meaning the model was trained on evidence it never received in production. Around eleven hundred tests and a benchmark that fails on one miss gate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[4:35-5:15] Here is what separates this from a pixel differ. On the left, the decision function. A CNN score is a guess, so it is gated behind pixel corroboration - otherwise developers get nagged by false failures and stop trusting the build. But a DOM-diff verdict is not a guess, so it bypasses that gate. Without this line, a removed element covering very few pixels silently passes. On the right is the whole client-side integration: one call, uploading the DOM alongside the screenshot. Image-only would leave structural comparison nothing to work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[5:15-5:55] This is the function the ablation points at. It compares real element geometry, tags, fonts and colours from two page loads, so it generalises to a site it has never seen - no training data needed. The ordering is the interesting part. Scanning in document order picked up whichever side effect came first, not the cause - removing an image reflows everything below it. So elements are bucketed, then resolved by priority, with identity-less "missing" last because it is the noisiest verdict. And the second return value is the evidence sentence printed in the report - a claim the reviewer can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[5:55-6:35] Detection and classification are scored separately, because they fail differently. Detection: eighty-one of eighty-one injected defects caught, zero false alarms on nine clean controls. Classification: 94.8% over five hundred trials on real pages, confidence interval 92.85 to 96.75. The ablation shows where that comes from - removing either feature group moves accuracy under a point, but removing the DOM engine drops it to 38.7, with colour, text and font at zero recall. The structural comparison is the contribution, not the network. Weakest class is missing-element at 87.7%, and that is where the remaining work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[6:35-6:45] Now let me show you the tool doing the client's Thursday, and then the code and the CI gate behind it. [SWITCH TO SCREEN RECORDING - dashboard on port 8130, demo portal in the next tab, VS Code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demo, 0:15] To close: the buyer ships weekly, must self-host, and serves more than one language. The edge is that it names the defect instead of reporting a percentage. The proof is 81 of 81 detected and 94.8% named correctly, re-measured on every push.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A2B"/>
        </a:solidFill>
      </p:bgPr>
    </p:bg>
    <p:spTree>
      <p:nvGrpSpPr>
        <p:cNvPr id="1" name=""/>
        <p:cNvGrpSpPr/>
        <p:nvPr/>
      </p:nvGrpSpPr>
      <p:grpSpPr>
        <a:xfrm>
          <a:off x="0" y="0"/>
          <a:ext cx="0" cy="0"/>
          <a:chOff x="0" y="0"/>
          <a:chExt cx="0" cy="0"/>
        </a:xfrm>
      </p:grpSpPr>
      <p:sp>
        <p:nvSpPr>
          <p:cNvPr id="2" name="Shape 0"/>
          <p:cNvSpPr/>
          <p:nvPr/>
        </p:nvSpPr>
        <p:spPr>
          <a:xfrm>
            <a:off x="8549640" y="1188720"/>
            <a:ext cx="2880360" cy="1600200"/>
          </a:xfrm>
          <a:prstGeom prst="roundRect">
            <a:avLst>
              <a:gd name="adj" fmla="val 4571"/>
            </a:avLst>
          </a:prstGeom>
          <a:solidFill>
            <a:srgbClr val="091A2B"/>
          </a:solidFill>
          <a:ln w="19050">
            <a:solidFill>
              <a:srgbClr val="35608F"/>
            </a:solidFill>
            <a:prstDash val="solid"/>
          </a:ln>
        </p:spPr>
      </p:sp>
      <p:sp>
        <p:nvSpPr>
          <p:cNvPr id="3" name="Text 1"/>
          <p:cNvSpPr/>
          <p:nvPr/>
        </p:nvSpPr>
        <p:spPr>
          <a:xfrm>
            <a:off x="8549640" y="1188720"/>
            <a:ext cx="2880360" cy="1600200"/>
          </a:xfrm>
          <a:prstGeom prst="rect">
            <a:avLst/>
          </a:prstGeom>
          <a:noFill/>
          <a:ln/>
        </p:spPr>
        <p:txBody>
          <a:bodyPr wrap="square" lIns="0" tIns="0" rIns="0" bIns="0" rtlCol="0" anchor="ctr"/>
          <a:lstStyle/>
          <a:p>
            <a:pPr algn="ctr" indent="0" marL="0">
              <a:buNone/>
            </a:pPr>
            <a:r>
              <a:rPr lang="en-US" sz="1100" b="1" spc="200" kern="0" dirty="0">
                <a:solidFill>
                  <a:srgbClr val="6B8CAE"/>
                </a:solidFill>
                <a:latin typeface="Calibri" pitchFamily="34" charset="0"/>
                <a:ea typeface="Calibri" pitchFamily="34" charset="-122"/>
                <a:cs typeface="Calibri" pitchFamily="34" charset="-120"/>
              </a:rPr>
              <a:t>BASELINE</a:t>
            </a:r>
            <a:endParaRPr lang="en-US" sz="1100" dirty="0"/>
          </a:p>
        </p:txBody>
      </p:sp>
      <p:sp>
        <p:nvSpPr>
          <p:cNvPr id="4" name="Shape 2"/>
          <p:cNvSpPr/>
          <p:nvPr/>
        </p:nvSpPr>
        <p:spPr>
          <a:xfrm>
            <a:off x="8275320" y="2788920"/>
            <a:ext cx="2880360" cy="1600200"/>
          </a:xfrm>
          <a:prstGeom prst="roundRect">
            <a:avLst>
              <a:gd name="adj" fmla="val 4571"/>
            </a:avLst>
          </a:prstGeom>
          <a:solidFill>
            <a:srgbClr val="091A2B"/>
          </a:solidFill>
          <a:ln w="19050">
            <a:solidFill>
              <a:srgbClr val="6B8CAE"/>
            </a:solidFill>
            <a:prstDash val="solid"/>
          </a:ln>
        </p:spPr>
      </p:sp>
      <p:sp>
        <p:nvSpPr>
          <p:cNvPr id="5" name="Text 3"/>
          <p:cNvSpPr/>
          <p:nvPr/>
        </p:nvSpPr>
        <p:spPr>
          <a:xfrm>
            <a:off x="8275320" y="2788920"/>
            <a:ext cx="2880360" cy="1600200"/>
          </a:xfrm>
          <a:prstGeom prst="rect">
            <a:avLst/>
          </a:prstGeom>
          <a:noFill/>
          <a:ln/>
        </p:spPr>
        <p:txBody>
          <a:bodyPr wrap="square" lIns="0" tIns="0" rIns="0" bIns="0" rtlCol="0" anchor="ctr"/>
          <a:lstStyle/>
          <a:p>
            <a:pPr algn="ctr" indent="0" marL="0">
              <a:buNone/>
            </a:pPr>
            <a:r>
              <a:rPr lang="en-US" sz="1100" b="1" spc="200" kern="0" dirty="0">
                <a:solidFill>
                  <a:srgbClr val="6B8CAE"/>
                </a:solidFill>
                <a:latin typeface="Calibri" pitchFamily="34" charset="0"/>
                <a:ea typeface="Calibri" pitchFamily="34" charset="-122"/>
                <a:cs typeface="Calibri" pitchFamily="34" charset="-120"/>
              </a:rPr>
              <a:t>CURRENT</a:t>
            </a:r>
            <a:endParaRPr lang="en-US" sz="1100" dirty="0"/>
          </a:p>
        </p:txBody>
      </p:sp>
      <p:sp>
        <p:nvSpPr>
          <p:cNvPr id="6" name="Shape 4"/>
          <p:cNvSpPr/>
          <p:nvPr/>
        </p:nvSpPr>
        <p:spPr>
          <a:xfrm>
            <a:off x="8001000" y="4389120"/>
            <a:ext cx="2880360" cy="1600200"/>
          </a:xfrm>
          <a:prstGeom prst="roundRect">
            <a:avLst>
              <a:gd name="adj" fmla="val 4571"/>
            </a:avLst>
          </a:prstGeom>
          <a:solidFill>
            <a:srgbClr val="1B0F22"/>
          </a:solidFill>
          <a:ln w="25400">
            <a:solidFill>
              <a:srgbClr val="E8298F"/>
            </a:solidFill>
            <a:prstDash val="solid"/>
          </a:ln>
        </p:spPr>
      </p:sp>
      <p:sp>
        <p:nvSpPr>
          <p:cNvPr id="7" name="Text 5"/>
          <p:cNvSpPr/>
          <p:nvPr/>
        </p:nvSpPr>
        <p:spPr>
          <a:xfrm>
            <a:off x="8001000" y="4389120"/>
            <a:ext cx="2880360" cy="1600200"/>
          </a:xfrm>
          <a:prstGeom prst="rect">
            <a:avLst/>
          </a:prstGeom>
          <a:noFill/>
          <a:ln/>
        </p:spPr>
        <p:txBody>
          <a:bodyPr wrap="square" lIns="0" tIns="0" rIns="0" bIns="0" rtlCol="0" anchor="ctr"/>
          <a:lstStyle/>
          <a:p>
            <a:pPr algn="ctr" indent="0" marL="0">
              <a:buNone/>
            </a:pPr>
            <a:r>
              <a:rPr lang="en-US" sz="1100" b="1" spc="200" kern="0" dirty="0">
                <a:solidFill>
                  <a:srgbClr val="E8298F"/>
                </a:solidFill>
                <a:latin typeface="Calibri" pitchFamily="34" charset="0"/>
                <a:ea typeface="Calibri" pitchFamily="34" charset="-122"/>
                <a:cs typeface="Calibri" pitchFamily="34" charset="-120"/>
              </a:rPr>
              <a:t>DIFF  →  CLASSIFY</a:t>
            </a:r>
            <a:endParaRPr lang="en-US" sz="1100" dirty="0"/>
          </a:p>
        </p:txBody>
      </p:sp>
      <p:sp>
        <p:nvSpPr>
          <p:cNvPr id="8" name="Shape 6"/>
          <p:cNvSpPr/>
          <p:nvPr/>
        </p:nvSpPr>
        <p:spPr>
          <a:xfrm>
            <a:off x="685800" y="1234440"/>
            <a:ext cx="2331720" cy="329184"/>
          </a:xfrm>
          <a:prstGeom prst="roundRect">
            <a:avLst>
              <a:gd name="adj" fmla="val 50000"/>
            </a:avLst>
          </a:prstGeom>
          <a:solidFill>
            <a:srgbClr val="FF6A2B"/>
          </a:solidFill>
          <a:ln/>
        </p:spPr>
      </p:sp>
      <p:sp>
        <p:nvSpPr>
          <p:cNvPr id="9" name="Text 7"/>
          <p:cNvSpPr/>
          <p:nvPr/>
        </p:nvSpPr>
        <p:spPr>
          <a:xfrm>
            <a:off x="685800" y="1234440"/>
            <a:ext cx="2331720" cy="329184"/>
          </a:xfrm>
          <a:prstGeom prst="rect">
            <a:avLst/>
          </a:prstGeom>
          <a:noFill/>
          <a:ln/>
        </p:spPr>
        <p:txBody>
          <a:bodyPr wrap="square" lIns="0" tIns="0" rIns="0" bIns="0" rtlCol="0" anchor="ctr"/>
          <a:lstStyle/>
          <a:p>
            <a:pPr algn="ctr" indent="0" marL="0">
              <a:buNone/>
            </a:pPr>
            <a:r>
              <a:rPr lang="en-US" sz="1050" b="1" spc="140" kern="0" dirty="0">
                <a:solidFill>
                  <a:srgbClr val="FFFFFF"/>
                </a:solidFill>
                <a:latin typeface="Calibri" pitchFamily="34" charset="0"/>
                <a:ea typeface="Calibri" pitchFamily="34" charset="-122"/>
                <a:cs typeface="Calibri" pitchFamily="34" charset="-120"/>
              </a:rPr>
              <a:t>FINAL YEAR PROJECT</a:t>
            </a:r>
            <a:endParaRPr lang="en-US" sz="1050" dirty="0"/>
          </a:p>
        </p:txBody>
      </p:sp>
      <p:sp>
        <p:nvSpPr>
          <p:cNvPr id="10" name="Text 8"/>
          <p:cNvSpPr/>
          <p:nvPr/>
        </p:nvSpPr>
        <p:spPr>
          <a:xfrm>
            <a:off x="658368" y="1874520"/>
            <a:ext cx="7040880" cy="1828800"/>
          </a:xfrm>
          <a:prstGeom prst="rect">
            <a:avLst/>
          </a:prstGeom>
          <a:noFill/>
          <a:ln/>
        </p:spPr>
        <p:txBody>
          <a:bodyPr wrap="square" lIns="0" tIns="0" rIns="0" bIns="0" rtlCol="0" anchor="ctr"/>
          <a:lstStyle/>
          <a:p>
            <a:pPr indent="0" marL="0">
              <a:lnSpc>
                <a:spcPts val="4600"/>
              </a:lnSpc>
              <a:buNone/>
            </a:pPr>
            <a:r>
              <a:rPr lang="en-US" sz="4400" b="1" dirty="0">
                <a:solidFill>
                  <a:srgbClr val="FFFFFF"/>
                </a:solidFill>
                <a:latin typeface="Cambria" pitchFamily="34" charset="0"/>
                <a:ea typeface="Cambria" pitchFamily="34" charset="-122"/>
                <a:cs typeface="Cambria" pitchFamily="34" charset="-120"/>
              </a:rPr>
              <a:t>Visual Regression</a:t>
            </a:r>
            <a:endParaRPr lang="en-US" sz="4400" dirty="0"/>
          </a:p>
          <a:p>
            <a:pPr indent="0" marL="0">
              <a:lnSpc>
                <a:spcPts val="4600"/>
              </a:lnSpc>
              <a:buNone/>
            </a:pPr>
            <a:r>
              <a:rPr lang="en-US" sz="4400" b="1" dirty="0">
                <a:solidFill>
                  <a:srgbClr val="FFFFFF"/>
                </a:solidFill>
                <a:latin typeface="Cambria" pitchFamily="34" charset="0"/>
                <a:ea typeface="Cambria" pitchFamily="34" charset="-122"/>
                <a:cs typeface="Cambria" pitchFamily="34" charset="-120"/>
              </a:rPr>
              <a:t>Workbench</a:t>
            </a:r>
            <a:endParaRPr lang="en-US" sz="4400" dirty="0"/>
          </a:p>
        </p:txBody>
      </p:sp>
      <p:sp>
        <p:nvSpPr>
          <p:cNvPr id="11" name="Text 9"/>
          <p:cNvSpPr/>
          <p:nvPr/>
        </p:nvSpPr>
        <p:spPr>
          <a:xfrm>
            <a:off x="685800" y="3794760"/>
            <a:ext cx="6858000" cy="822960"/>
          </a:xfrm>
          <a:prstGeom prst="rect">
            <a:avLst/>
          </a:prstGeom>
          <a:noFill/>
          <a:ln/>
        </p:spPr>
        <p:txBody>
          <a:bodyPr wrap="square" lIns="0" tIns="0" rIns="0" bIns="0" rtlCol="0" anchor="ctr"/>
          <a:lstStyle/>
          <a:p>
            <a:pPr indent="0" marL="0">
              <a:buNone/>
            </a:pPr>
            <a:r>
              <a:rPr lang="en-US" sz="1700" dirty="0">
                <a:solidFill>
                  <a:srgbClr val="AFC3D8"/>
                </a:solidFill>
                <a:latin typeface="Calibri" pitchFamily="34" charset="0"/>
                <a:ea typeface="Calibri" pitchFamily="34" charset="-122"/>
                <a:cs typeface="Calibri" pitchFamily="34" charset="-120"/>
              </a:rPr>
              <a:t>Visual testing that tells you what broke — not just that something did</a:t>
            </a:r>
            <a:endParaRPr lang="en-US" sz="1700" dirty="0"/>
          </a:p>
        </p:txBody>
      </p:sp>
      <p:sp>
        <p:nvSpPr>
          <p:cNvPr id="12" name="Text 10"/>
          <p:cNvSpPr/>
          <p:nvPr/>
        </p:nvSpPr>
        <p:spPr>
          <a:xfrm>
            <a:off x="685800" y="5623560"/>
            <a:ext cx="69494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Tan Kia Yen</a:t>
            </a:r>
            <a:pPr indent="0" marL="0">
              <a:buNone/>
            </a:pPr>
            <a:r>
              <a:rPr lang="en-US" sz="1300" dirty="0">
                <a:solidFill>
                  <a:srgbClr val="6B8CAE"/>
                </a:solidFill>
                <a:latin typeface="Calibri" pitchFamily="34" charset="0"/>
                <a:ea typeface="Calibri" pitchFamily="34" charset="-122"/>
                <a:cs typeface="Calibri" pitchFamily="34" charset="-120"/>
              </a:rPr>
              <a:t>     A6 Marketing &amp; Technical Presentation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4F9"/>
        </a:solidFill>
      </p:bgPr>
    </p:bg>
    <p:spTree>
      <p:nvGrpSpPr>
        <p:cNvPr id="1" name=""/>
        <p:cNvGrpSpPr/>
        <p:nvPr/>
      </p:nvGrpSpPr>
      <p:grpSpPr>
        <a:xfrm>
          <a:off x="0" y="0"/>
          <a:ext cx="0" cy="0"/>
          <a:chOff x="0" y="0"/>
          <a:chExt cx="0" cy="0"/>
        </a:xfrm>
      </p:grpSpPr>
      <p:sp>
        <p:nvSpPr>
          <p:cNvPr id="2" name="Text 0"/>
          <p:cNvSpPr/>
          <p:nvPr/>
        </p:nvSpPr>
        <p:spPr>
          <a:xfrm>
            <a:off x="594360" y="137160"/>
            <a:ext cx="8229600" cy="274320"/>
          </a:xfrm>
          <a:prstGeom prst="rect">
            <a:avLst/>
          </a:prstGeom>
          <a:noFill/>
          <a:ln/>
        </p:spPr>
        <p:txBody>
          <a:bodyPr wrap="square" lIns="0" tIns="0" rIns="0" bIns="0" rtlCol="0" anchor="ctr"/>
          <a:lstStyle/>
          <a:p>
            <a:pPr indent="0" marL="0">
              <a:buNone/>
            </a:pPr>
            <a:r>
              <a:rPr lang="en-US" sz="1150" b="1" spc="220" kern="0" dirty="0">
                <a:solidFill>
                  <a:srgbClr val="FF6A2B"/>
                </a:solidFill>
                <a:latin typeface="Calibri" pitchFamily="34" charset="0"/>
                <a:ea typeface="Calibri" pitchFamily="34" charset="-122"/>
                <a:cs typeface="Calibri" pitchFamily="34" charset="-120"/>
              </a:rPr>
              <a:t>THE CLIENT AND THE ISSUE</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200" b="1" dirty="0">
                <a:solidFill>
                  <a:srgbClr val="0F2742"/>
                </a:solidFill>
                <a:latin typeface="Cambria" pitchFamily="34" charset="0"/>
                <a:ea typeface="Cambria" pitchFamily="34" charset="-122"/>
                <a:cs typeface="Cambria" pitchFamily="34" charset="-120"/>
              </a:rPr>
              <a:t>Shipping every week, checking every page by eye</a:t>
            </a:r>
            <a:endParaRPr lang="en-US" sz="3200" dirty="0"/>
          </a:p>
        </p:txBody>
      </p:sp>
      <p:sp>
        <p:nvSpPr>
          <p:cNvPr id="4" name="Shape 2"/>
          <p:cNvSpPr/>
          <p:nvPr/>
        </p:nvSpPr>
        <p:spPr>
          <a:xfrm>
            <a:off x="566928" y="1463040"/>
            <a:ext cx="4663440" cy="4206240"/>
          </a:xfrm>
          <a:prstGeom prst="roundRect">
            <a:avLst>
              <a:gd name="adj" fmla="val 1957"/>
            </a:avLst>
          </a:prstGeom>
          <a:solidFill>
            <a:srgbClr val="0F2742"/>
          </a:solidFill>
          <a:ln/>
          <a:effectLst>
            <a:outerShdw sx="100000" sy="100000" kx="0" ky="0" algn="bl" rotWithShape="0" blurRad="127000" dist="25400" dir="5400000">
              <a:srgbClr val="8FA3B8">
                <a:alpha val="28000"/>
              </a:srgbClr>
            </a:outerShdw>
          </a:effectLst>
        </p:spPr>
      </p:sp>
      <p:sp>
        <p:nvSpPr>
          <p:cNvPr id="5" name="Text 3"/>
          <p:cNvSpPr/>
          <p:nvPr/>
        </p:nvSpPr>
        <p:spPr>
          <a:xfrm>
            <a:off x="868680" y="1691640"/>
            <a:ext cx="4023360" cy="274320"/>
          </a:xfrm>
          <a:prstGeom prst="rect">
            <a:avLst/>
          </a:prstGeom>
          <a:noFill/>
          <a:ln/>
        </p:spPr>
        <p:txBody>
          <a:bodyPr wrap="square" lIns="0" tIns="0" rIns="0" bIns="0" rtlCol="0" anchor="ctr"/>
          <a:lstStyle/>
          <a:p>
            <a:pPr indent="0" marL="0">
              <a:buNone/>
            </a:pPr>
            <a:r>
              <a:rPr lang="en-US" sz="1100" b="1" spc="160" kern="0" dirty="0">
                <a:solidFill>
                  <a:srgbClr val="FF6A2B"/>
                </a:solidFill>
                <a:latin typeface="Calibri" pitchFamily="34" charset="0"/>
                <a:ea typeface="Calibri" pitchFamily="34" charset="-122"/>
                <a:cs typeface="Calibri" pitchFamily="34" charset="-120"/>
              </a:rPr>
              <a:t>CLIENT PROFILE</a:t>
            </a:r>
            <a:endParaRPr lang="en-US" sz="1100" dirty="0"/>
          </a:p>
        </p:txBody>
      </p:sp>
      <p:sp>
        <p:nvSpPr>
          <p:cNvPr id="6" name="Text 4"/>
          <p:cNvSpPr/>
          <p:nvPr/>
        </p:nvSpPr>
        <p:spPr>
          <a:xfrm>
            <a:off x="868680" y="2011680"/>
            <a:ext cx="402336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Northstar Ops</a:t>
            </a:r>
            <a:endParaRPr lang="en-US" sz="2600" dirty="0"/>
          </a:p>
        </p:txBody>
      </p:sp>
      <p:sp>
        <p:nvSpPr>
          <p:cNvPr id="7" name="Text 5"/>
          <p:cNvSpPr/>
          <p:nvPr/>
        </p:nvSpPr>
        <p:spPr>
          <a:xfrm>
            <a:off x="868680" y="2606040"/>
            <a:ext cx="4023360" cy="2743200"/>
          </a:xfrm>
          <a:prstGeom prst="rect">
            <a:avLst/>
          </a:prstGeom>
          <a:noFill/>
          <a:ln/>
        </p:spPr>
        <p:txBody>
          <a:bodyPr wrap="square" lIns="0" tIns="0" rIns="0" bIns="0" rtlCol="0" anchor="t"/>
          <a:lstStyle/>
          <a:p>
            <a:pPr indent="0" marL="0">
              <a:lnSpc>
                <a:spcPts val="2100"/>
              </a:lnSpc>
              <a:buNone/>
            </a:pPr>
            <a:r>
              <a:rPr lang="en-US" sz="1350" dirty="0">
                <a:solidFill>
                  <a:srgbClr val="FFFFFF"/>
                </a:solidFill>
                <a:latin typeface="Calibri" pitchFamily="34" charset="0"/>
                <a:ea typeface="Calibri" pitchFamily="34" charset="-122"/>
                <a:cs typeface="Calibri" pitchFamily="34" charset="-120"/>
              </a:rPr>
              <a:t>B2B SaaS, 40 staff, 3 QA engineers
</a:t>
            </a:r>
            <a:endParaRPr lang="en-US" sz="1350" dirty="0"/>
          </a:p>
          <a:p>
            <a:pPr indent="0" marL="0">
              <a:lnSpc>
                <a:spcPts val="2100"/>
              </a:lnSpc>
              <a:buNone/>
            </a:pPr>
            <a:r>
              <a:rPr lang="en-US" sz="1300" dirty="0">
                <a:solidFill>
                  <a:srgbClr val="9FB5CB"/>
                </a:solidFill>
                <a:latin typeface="Calibri" pitchFamily="34" charset="0"/>
                <a:ea typeface="Calibri" pitchFamily="34" charset="-122"/>
                <a:cs typeface="Calibri" pitchFamily="34" charset="-120"/>
              </a:rPr>
              <a:t>Releases to the web every Thursday
</a:t>
            </a:r>
            <a:endParaRPr lang="en-US" sz="1350" dirty="0"/>
          </a:p>
          <a:p>
            <a:pPr indent="0" marL="0">
              <a:lnSpc>
                <a:spcPts val="2100"/>
              </a:lnSpc>
              <a:buNone/>
            </a:pPr>
            <a:r>
              <a:rPr lang="en-US" sz="1300" dirty="0">
                <a:solidFill>
                  <a:srgbClr val="9FB5CB"/>
                </a:solidFill>
                <a:latin typeface="Calibri" pitchFamily="34" charset="0"/>
                <a:ea typeface="Calibri" pitchFamily="34" charset="-122"/>
                <a:cs typeface="Calibri" pitchFamily="34" charset="-120"/>
              </a:rPr>
              <a:t>Customer portal served in English, Malay and Chinese
</a:t>
            </a:r>
            <a:endParaRPr lang="en-US" sz="1350" dirty="0"/>
          </a:p>
          <a:p>
            <a:pPr indent="0" marL="0">
              <a:lnSpc>
                <a:spcPts val="2100"/>
              </a:lnSpc>
              <a:buNone/>
            </a:pPr>
            <a:r>
              <a:rPr lang="en-US" sz="1300" dirty="0">
                <a:solidFill>
                  <a:srgbClr val="9FB5CB"/>
                </a:solidFill>
                <a:latin typeface="Calibri" pitchFamily="34" charset="0"/>
                <a:ea typeface="Calibri" pitchFamily="34" charset="-122"/>
                <a:cs typeface="Calibri" pitchFamily="34" charset="-120"/>
              </a:rPr>
              <a:t>Already runs Playwright tests in GitHub Actions
</a:t>
            </a:r>
            <a:endParaRPr lang="en-US" sz="1350" dirty="0"/>
          </a:p>
          <a:p>
            <a:pPr indent="0" marL="0">
              <a:lnSpc>
                <a:spcPts val="2100"/>
              </a:lnSpc>
              <a:buNone/>
            </a:pPr>
            <a:r>
              <a:rPr lang="en-US" sz="1300" dirty="0">
                <a:solidFill>
                  <a:srgbClr val="9FB5CB"/>
                </a:solidFill>
                <a:latin typeface="Calibri" pitchFamily="34" charset="0"/>
                <a:ea typeface="Calibri" pitchFamily="34" charset="-122"/>
                <a:cs typeface="Calibri" pitchFamily="34" charset="-120"/>
              </a:rPr>
              <a:t>Cannot send customer screens to a third-party cloud</a:t>
            </a:r>
            <a:endParaRPr lang="en-US" sz="1350" dirty="0"/>
          </a:p>
        </p:txBody>
      </p:sp>
      <p:sp>
        <p:nvSpPr>
          <p:cNvPr id="8" name="Shape 6"/>
          <p:cNvSpPr/>
          <p:nvPr/>
        </p:nvSpPr>
        <p:spPr>
          <a:xfrm>
            <a:off x="5532120" y="1463040"/>
            <a:ext cx="6089904" cy="1298448"/>
          </a:xfrm>
          <a:prstGeom prst="roundRect">
            <a:avLst>
              <a:gd name="adj" fmla="val 6338"/>
            </a:avLst>
          </a:prstGeom>
          <a:solidFill>
            <a:srgbClr val="FFFFFF"/>
          </a:solidFill>
          <a:ln/>
          <a:effectLst>
            <a:outerShdw sx="100000" sy="100000" kx="0" ky="0" algn="bl" rotWithShape="0" blurRad="127000" dist="25400" dir="5400000">
              <a:srgbClr val="8FA3B8">
                <a:alpha val="28000"/>
              </a:srgbClr>
            </a:outerShdw>
          </a:effectLst>
        </p:spPr>
      </p:sp>
      <p:sp>
        <p:nvSpPr>
          <p:cNvPr id="9" name="Text 7"/>
          <p:cNvSpPr/>
          <p:nvPr/>
        </p:nvSpPr>
        <p:spPr>
          <a:xfrm>
            <a:off x="5833872" y="1627632"/>
            <a:ext cx="1828800" cy="914400"/>
          </a:xfrm>
          <a:prstGeom prst="rect">
            <a:avLst/>
          </a:prstGeom>
          <a:noFill/>
          <a:ln/>
        </p:spPr>
        <p:txBody>
          <a:bodyPr wrap="square" lIns="0" tIns="0" rIns="0" bIns="0" rtlCol="0" anchor="ctr"/>
          <a:lstStyle/>
          <a:p>
            <a:pPr indent="0" marL="0">
              <a:buNone/>
            </a:pPr>
            <a:r>
              <a:rPr lang="en-US" sz="2600" b="1" dirty="0">
                <a:solidFill>
                  <a:srgbClr val="FF6A2B"/>
                </a:solidFill>
                <a:latin typeface="Cambria" pitchFamily="34" charset="0"/>
                <a:ea typeface="Cambria" pitchFamily="34" charset="-122"/>
                <a:cs typeface="Cambria" pitchFamily="34" charset="-120"/>
              </a:rPr>
              <a:t>180</a:t>
            </a:r>
            <a:endParaRPr lang="en-US" sz="2600" dirty="0"/>
          </a:p>
        </p:txBody>
      </p:sp>
      <p:sp>
        <p:nvSpPr>
          <p:cNvPr id="10" name="Text 8"/>
          <p:cNvSpPr/>
          <p:nvPr/>
        </p:nvSpPr>
        <p:spPr>
          <a:xfrm>
            <a:off x="7772400" y="1719072"/>
            <a:ext cx="3611880" cy="868680"/>
          </a:xfrm>
          <a:prstGeom prst="rect">
            <a:avLst/>
          </a:prstGeom>
          <a:noFill/>
          <a:ln/>
        </p:spPr>
        <p:txBody>
          <a:bodyPr wrap="square" lIns="0" tIns="0" rIns="0" bIns="0" rtlCol="0" anchor="ctr"/>
          <a:lstStyle/>
          <a:p>
            <a:pPr indent="0" marL="0">
              <a:buNone/>
            </a:pPr>
            <a:r>
              <a:rPr lang="en-US" sz="1250" dirty="0">
                <a:solidFill>
                  <a:srgbClr val="44566C"/>
                </a:solidFill>
                <a:latin typeface="Calibri" pitchFamily="34" charset="0"/>
                <a:ea typeface="Calibri" pitchFamily="34" charset="-122"/>
                <a:cs typeface="Calibri" pitchFamily="34" charset="-120"/>
              </a:rPr>
              <a:t>screens to review before every release</a:t>
            </a:r>
            <a:endParaRPr lang="en-US" sz="1250" dirty="0"/>
          </a:p>
          <a:p>
            <a:pPr indent="0" marL="0">
              <a:buNone/>
            </a:pPr>
            <a:r>
              <a:rPr lang="en-US" sz="1250" dirty="0">
                <a:solidFill>
                  <a:srgbClr val="44566C"/>
                </a:solidFill>
                <a:latin typeface="Calibri" pitchFamily="34" charset="0"/>
                <a:ea typeface="Calibri" pitchFamily="34" charset="-122"/>
                <a:cs typeface="Calibri" pitchFamily="34" charset="-120"/>
              </a:rPr>
              <a:t>30 pages × 3 languages × 2 devices</a:t>
            </a:r>
            <a:endParaRPr lang="en-US" sz="1250" dirty="0"/>
          </a:p>
        </p:txBody>
      </p:sp>
      <p:sp>
        <p:nvSpPr>
          <p:cNvPr id="11" name="Shape 9"/>
          <p:cNvSpPr/>
          <p:nvPr/>
        </p:nvSpPr>
        <p:spPr>
          <a:xfrm>
            <a:off x="5532120" y="2916936"/>
            <a:ext cx="6089904" cy="1298448"/>
          </a:xfrm>
          <a:prstGeom prst="roundRect">
            <a:avLst>
              <a:gd name="adj" fmla="val 6338"/>
            </a:avLst>
          </a:prstGeom>
          <a:solidFill>
            <a:srgbClr val="FFFFFF"/>
          </a:solidFill>
          <a:ln/>
          <a:effectLst>
            <a:outerShdw sx="100000" sy="100000" kx="0" ky="0" algn="bl" rotWithShape="0" blurRad="127000" dist="25400" dir="5400000">
              <a:srgbClr val="8FA3B8">
                <a:alpha val="28000"/>
              </a:srgbClr>
            </a:outerShdw>
          </a:effectLst>
        </p:spPr>
      </p:sp>
      <p:sp>
        <p:nvSpPr>
          <p:cNvPr id="12" name="Text 10"/>
          <p:cNvSpPr/>
          <p:nvPr/>
        </p:nvSpPr>
        <p:spPr>
          <a:xfrm>
            <a:off x="5833872" y="3081528"/>
            <a:ext cx="1828800" cy="914400"/>
          </a:xfrm>
          <a:prstGeom prst="rect">
            <a:avLst/>
          </a:prstGeom>
          <a:noFill/>
          <a:ln/>
        </p:spPr>
        <p:txBody>
          <a:bodyPr wrap="square" lIns="0" tIns="0" rIns="0" bIns="0" rtlCol="0" anchor="ctr"/>
          <a:lstStyle/>
          <a:p>
            <a:pPr indent="0" marL="0">
              <a:buNone/>
            </a:pPr>
            <a:r>
              <a:rPr lang="en-US" sz="2600" b="1" dirty="0">
                <a:solidFill>
                  <a:srgbClr val="35608F"/>
                </a:solidFill>
                <a:latin typeface="Cambria" pitchFamily="34" charset="0"/>
                <a:ea typeface="Cambria" pitchFamily="34" charset="-122"/>
                <a:cs typeface="Cambria" pitchFamily="34" charset="-120"/>
              </a:rPr>
              <a:t>~4 hrs</a:t>
            </a:r>
            <a:endParaRPr lang="en-US" sz="2600" dirty="0"/>
          </a:p>
        </p:txBody>
      </p:sp>
      <p:sp>
        <p:nvSpPr>
          <p:cNvPr id="13" name="Text 11"/>
          <p:cNvSpPr/>
          <p:nvPr/>
        </p:nvSpPr>
        <p:spPr>
          <a:xfrm>
            <a:off x="7772400" y="3172968"/>
            <a:ext cx="3611880" cy="868680"/>
          </a:xfrm>
          <a:prstGeom prst="rect">
            <a:avLst/>
          </a:prstGeom>
          <a:noFill/>
          <a:ln/>
        </p:spPr>
        <p:txBody>
          <a:bodyPr wrap="square" lIns="0" tIns="0" rIns="0" bIns="0" rtlCol="0" anchor="ctr"/>
          <a:lstStyle/>
          <a:p>
            <a:pPr indent="0" marL="0">
              <a:buNone/>
            </a:pPr>
            <a:r>
              <a:rPr lang="en-US" sz="1250" dirty="0">
                <a:solidFill>
                  <a:srgbClr val="44566C"/>
                </a:solidFill>
                <a:latin typeface="Calibri" pitchFamily="34" charset="0"/>
                <a:ea typeface="Calibri" pitchFamily="34" charset="-122"/>
                <a:cs typeface="Calibri" pitchFamily="34" charset="-120"/>
              </a:rPr>
              <a:t>of an engineer's Thursday spent clicking</a:t>
            </a:r>
            <a:endParaRPr lang="en-US" sz="1250" dirty="0"/>
          </a:p>
          <a:p>
            <a:pPr indent="0" marL="0">
              <a:buNone/>
            </a:pPr>
            <a:r>
              <a:rPr lang="en-US" sz="1250" dirty="0">
                <a:solidFill>
                  <a:srgbClr val="44566C"/>
                </a:solidFill>
                <a:latin typeface="Calibri" pitchFamily="34" charset="0"/>
                <a:ea typeface="Calibri" pitchFamily="34" charset="-122"/>
                <a:cs typeface="Calibri" pitchFamily="34" charset="-120"/>
              </a:rPr>
              <a:t>through pages looking for something odd</a:t>
            </a:r>
            <a:endParaRPr lang="en-US" sz="1250" dirty="0"/>
          </a:p>
        </p:txBody>
      </p:sp>
      <p:sp>
        <p:nvSpPr>
          <p:cNvPr id="14" name="Shape 12"/>
          <p:cNvSpPr/>
          <p:nvPr/>
        </p:nvSpPr>
        <p:spPr>
          <a:xfrm>
            <a:off x="5532120" y="4370832"/>
            <a:ext cx="6089904" cy="1298448"/>
          </a:xfrm>
          <a:prstGeom prst="roundRect">
            <a:avLst>
              <a:gd name="adj" fmla="val 6338"/>
            </a:avLst>
          </a:prstGeom>
          <a:solidFill>
            <a:srgbClr val="FFFFFF"/>
          </a:solidFill>
          <a:ln/>
          <a:effectLst>
            <a:outerShdw sx="100000" sy="100000" kx="0" ky="0" algn="bl" rotWithShape="0" blurRad="127000" dist="25400" dir="5400000">
              <a:srgbClr val="8FA3B8">
                <a:alpha val="28000"/>
              </a:srgbClr>
            </a:outerShdw>
          </a:effectLst>
        </p:spPr>
      </p:sp>
      <p:sp>
        <p:nvSpPr>
          <p:cNvPr id="15" name="Text 13"/>
          <p:cNvSpPr/>
          <p:nvPr/>
        </p:nvSpPr>
        <p:spPr>
          <a:xfrm>
            <a:off x="5833872" y="4535424"/>
            <a:ext cx="1828800" cy="914400"/>
          </a:xfrm>
          <a:prstGeom prst="rect">
            <a:avLst/>
          </a:prstGeom>
          <a:noFill/>
          <a:ln/>
        </p:spPr>
        <p:txBody>
          <a:bodyPr wrap="square" lIns="0" tIns="0" rIns="0" bIns="0" rtlCol="0" anchor="ctr"/>
          <a:lstStyle/>
          <a:p>
            <a:pPr indent="0" marL="0">
              <a:buNone/>
            </a:pPr>
            <a:r>
              <a:rPr lang="en-US" sz="2600" b="1" dirty="0">
                <a:solidFill>
                  <a:srgbClr val="E8298F"/>
                </a:solidFill>
                <a:latin typeface="Cambria" pitchFamily="34" charset="0"/>
                <a:ea typeface="Cambria" pitchFamily="34" charset="-122"/>
                <a:cs typeface="Cambria" pitchFamily="34" charset="-120"/>
              </a:rPr>
              <a:t>Still missed</a:t>
            </a:r>
            <a:endParaRPr lang="en-US" sz="2600" dirty="0"/>
          </a:p>
        </p:txBody>
      </p:sp>
      <p:sp>
        <p:nvSpPr>
          <p:cNvPr id="16" name="Text 14"/>
          <p:cNvSpPr/>
          <p:nvPr/>
        </p:nvSpPr>
        <p:spPr>
          <a:xfrm>
            <a:off x="7772400" y="4626864"/>
            <a:ext cx="3611880" cy="868680"/>
          </a:xfrm>
          <a:prstGeom prst="rect">
            <a:avLst/>
          </a:prstGeom>
          <a:noFill/>
          <a:ln/>
        </p:spPr>
        <p:txBody>
          <a:bodyPr wrap="square" lIns="0" tIns="0" rIns="0" bIns="0" rtlCol="0" anchor="ctr"/>
          <a:lstStyle/>
          <a:p>
            <a:pPr indent="0" marL="0">
              <a:buNone/>
            </a:pPr>
            <a:r>
              <a:rPr lang="en-US" sz="1250" dirty="0">
                <a:solidFill>
                  <a:srgbClr val="44566C"/>
                </a:solidFill>
                <a:latin typeface="Calibri" pitchFamily="34" charset="0"/>
                <a:ea typeface="Calibri" pitchFamily="34" charset="-122"/>
                <a:cs typeface="Calibri" pitchFamily="34" charset="-120"/>
              </a:rPr>
              <a:t>a promo banner that failed to load reached</a:t>
            </a:r>
            <a:endParaRPr lang="en-US" sz="1250" dirty="0"/>
          </a:p>
          <a:p>
            <a:pPr indent="0" marL="0">
              <a:buNone/>
            </a:pPr>
            <a:r>
              <a:rPr lang="en-US" sz="1250" dirty="0">
                <a:solidFill>
                  <a:srgbClr val="44566C"/>
                </a:solidFill>
                <a:latin typeface="Calibri" pitchFamily="34" charset="0"/>
                <a:ea typeface="Calibri" pitchFamily="34" charset="-122"/>
                <a:cs typeface="Calibri" pitchFamily="34" charset="-120"/>
              </a:rPr>
              <a:t>production and was reported by a customer</a:t>
            </a:r>
            <a:endParaRPr lang="en-US" sz="1250" dirty="0"/>
          </a:p>
        </p:txBody>
      </p:sp>
      <p:sp>
        <p:nvSpPr>
          <p:cNvPr id="17" name="Text 15"/>
          <p:cNvSpPr/>
          <p:nvPr/>
        </p:nvSpPr>
        <p:spPr>
          <a:xfrm>
            <a:off x="566928" y="5897880"/>
            <a:ext cx="11064240" cy="457200"/>
          </a:xfrm>
          <a:prstGeom prst="rect">
            <a:avLst/>
          </a:prstGeom>
          <a:noFill/>
          <a:ln/>
        </p:spPr>
        <p:txBody>
          <a:bodyPr wrap="square" lIns="0" tIns="0" rIns="0" bIns="0" rtlCol="0" anchor="ctr"/>
          <a:lstStyle/>
          <a:p>
            <a:pPr indent="0" marL="0">
              <a:buNone/>
            </a:pPr>
            <a:r>
              <a:rPr lang="en-US" sz="1400" i="1" dirty="0">
                <a:solidFill>
                  <a:srgbClr val="0F2742"/>
                </a:solidFill>
                <a:latin typeface="Calibri" pitchFamily="34" charset="0"/>
                <a:ea typeface="Calibri" pitchFamily="34" charset="-122"/>
                <a:cs typeface="Calibri" pitchFamily="34" charset="-120"/>
              </a:rPr>
              <a:t>The issue is not that the team is careless. It is that nothing in their pipeline looks at the page.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4F9"/>
        </a:solidFill>
      </p:bgPr>
    </p:bg>
    <p:spTree>
      <p:nvGrpSpPr>
        <p:cNvPr id="1" name=""/>
        <p:cNvGrpSpPr/>
        <p:nvPr/>
      </p:nvGrpSpPr>
      <p:grpSpPr>
        <a:xfrm>
          <a:off x="0" y="0"/>
          <a:ext cx="0" cy="0"/>
          <a:chOff x="0" y="0"/>
          <a:chExt cx="0" cy="0"/>
        </a:xfrm>
      </p:grpSpPr>
      <p:sp>
        <p:nvSpPr>
          <p:cNvPr id="2" name="Text 0"/>
          <p:cNvSpPr/>
          <p:nvPr/>
        </p:nvSpPr>
        <p:spPr>
          <a:xfrm>
            <a:off x="594360" y="137160"/>
            <a:ext cx="8229600" cy="274320"/>
          </a:xfrm>
          <a:prstGeom prst="rect">
            <a:avLst/>
          </a:prstGeom>
          <a:noFill/>
          <a:ln/>
        </p:spPr>
        <p:txBody>
          <a:bodyPr wrap="square" lIns="0" tIns="0" rIns="0" bIns="0" rtlCol="0" anchor="ctr"/>
          <a:lstStyle/>
          <a:p>
            <a:pPr indent="0" marL="0">
              <a:buNone/>
            </a:pPr>
            <a:r>
              <a:rPr lang="en-US" sz="1150" b="1" spc="220" kern="0" dirty="0">
                <a:solidFill>
                  <a:srgbClr val="FF6A2B"/>
                </a:solidFill>
                <a:latin typeface="Calibri" pitchFamily="34" charset="0"/>
                <a:ea typeface="Calibri" pitchFamily="34" charset="-122"/>
                <a:cs typeface="Calibri" pitchFamily="34" charset="-120"/>
              </a:rPr>
              <a:t>TARGET MARKET</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200" b="1" dirty="0">
                <a:solidFill>
                  <a:srgbClr val="0F2742"/>
                </a:solidFill>
                <a:latin typeface="Cambria" pitchFamily="34" charset="0"/>
                <a:ea typeface="Cambria" pitchFamily="34" charset="-122"/>
                <a:cs typeface="Cambria" pitchFamily="34" charset="-120"/>
              </a:rPr>
              <a:t>Who this is for, and what they use today</a:t>
            </a:r>
            <a:endParaRPr lang="en-US" sz="3200" dirty="0"/>
          </a:p>
        </p:txBody>
      </p:sp>
      <p:sp>
        <p:nvSpPr>
          <p:cNvPr id="4" name="Shape 2"/>
          <p:cNvSpPr/>
          <p:nvPr/>
        </p:nvSpPr>
        <p:spPr>
          <a:xfrm>
            <a:off x="566928" y="1463040"/>
            <a:ext cx="5120640" cy="1143000"/>
          </a:xfrm>
          <a:prstGeom prst="roundRect">
            <a:avLst>
              <a:gd name="adj" fmla="val 7200"/>
            </a:avLst>
          </a:prstGeom>
          <a:solidFill>
            <a:srgbClr val="FFFFFF"/>
          </a:solidFill>
          <a:ln/>
          <a:effectLst>
            <a:outerShdw sx="100000" sy="100000" kx="0" ky="0" algn="bl" rotWithShape="0" blurRad="127000" dist="25400" dir="5400000">
              <a:srgbClr val="8FA3B8">
                <a:alpha val="28000"/>
              </a:srgbClr>
            </a:outerShdw>
          </a:effectLst>
        </p:spPr>
      </p:sp>
      <p:sp>
        <p:nvSpPr>
          <p:cNvPr id="5" name="Shape 3"/>
          <p:cNvSpPr/>
          <p:nvPr/>
        </p:nvSpPr>
        <p:spPr>
          <a:xfrm>
            <a:off x="841248" y="1719072"/>
            <a:ext cx="292608" cy="292608"/>
          </a:xfrm>
          <a:prstGeom prst="ellipse">
            <a:avLst/>
          </a:prstGeom>
          <a:solidFill>
            <a:srgbClr val="FF6A2B"/>
          </a:solidFill>
          <a:ln/>
        </p:spPr>
      </p:sp>
      <p:sp>
        <p:nvSpPr>
          <p:cNvPr id="6" name="Text 4"/>
          <p:cNvSpPr/>
          <p:nvPr/>
        </p:nvSpPr>
        <p:spPr>
          <a:xfrm>
            <a:off x="1298448" y="1645920"/>
            <a:ext cx="4114800" cy="32004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Primary</a:t>
            </a:r>
            <a:endParaRPr lang="en-US" sz="1500" dirty="0"/>
          </a:p>
        </p:txBody>
      </p:sp>
      <p:sp>
        <p:nvSpPr>
          <p:cNvPr id="7" name="Text 5"/>
          <p:cNvSpPr/>
          <p:nvPr/>
        </p:nvSpPr>
        <p:spPr>
          <a:xfrm>
            <a:off x="1298448" y="2011680"/>
            <a:ext cx="4114800" cy="502920"/>
          </a:xfrm>
          <a:prstGeom prst="rect">
            <a:avLst/>
          </a:prstGeom>
          <a:noFill/>
          <a:ln/>
        </p:spPr>
        <p:txBody>
          <a:bodyPr wrap="square" lIns="0" tIns="0" rIns="0" bIns="0" rtlCol="0" anchor="t"/>
          <a:lstStyle/>
          <a:p>
            <a:pPr indent="0" marL="0">
              <a:buNone/>
            </a:pPr>
            <a:r>
              <a:rPr lang="en-US" sz="1250" dirty="0">
                <a:solidFill>
                  <a:srgbClr val="44566C"/>
                </a:solidFill>
                <a:latin typeface="Calibri" pitchFamily="34" charset="0"/>
                <a:ea typeface="Calibri" pitchFamily="34" charset="-122"/>
                <a:cs typeface="Calibri" pitchFamily="34" charset="-120"/>
              </a:rPr>
              <a:t>In-house QA and release teams at 10–200 developer software companies that ship weekly and already run CI.</a:t>
            </a:r>
            <a:endParaRPr lang="en-US" sz="1250" dirty="0"/>
          </a:p>
        </p:txBody>
      </p:sp>
      <p:sp>
        <p:nvSpPr>
          <p:cNvPr id="8" name="Shape 6"/>
          <p:cNvSpPr/>
          <p:nvPr/>
        </p:nvSpPr>
        <p:spPr>
          <a:xfrm>
            <a:off x="566928" y="2788920"/>
            <a:ext cx="5120640" cy="1737360"/>
          </a:xfrm>
          <a:prstGeom prst="roundRect">
            <a:avLst>
              <a:gd name="adj" fmla="val 4737"/>
            </a:avLst>
          </a:prstGeom>
          <a:solidFill>
            <a:srgbClr val="FFFFFF"/>
          </a:solidFill>
          <a:ln/>
          <a:effectLst>
            <a:outerShdw sx="100000" sy="100000" kx="0" ky="0" algn="bl" rotWithShape="0" blurRad="127000" dist="25400" dir="5400000">
              <a:srgbClr val="8FA3B8">
                <a:alpha val="28000"/>
              </a:srgbClr>
            </a:outerShdw>
          </a:effectLst>
        </p:spPr>
      </p:sp>
      <p:sp>
        <p:nvSpPr>
          <p:cNvPr id="9" name="Shape 7"/>
          <p:cNvSpPr/>
          <p:nvPr/>
        </p:nvSpPr>
        <p:spPr>
          <a:xfrm>
            <a:off x="841248" y="3044952"/>
            <a:ext cx="292608" cy="292608"/>
          </a:xfrm>
          <a:prstGeom prst="ellipse">
            <a:avLst/>
          </a:prstGeom>
          <a:solidFill>
            <a:srgbClr val="E8298F"/>
          </a:solidFill>
          <a:ln/>
        </p:spPr>
      </p:sp>
      <p:sp>
        <p:nvSpPr>
          <p:cNvPr id="10" name="Text 8"/>
          <p:cNvSpPr/>
          <p:nvPr/>
        </p:nvSpPr>
        <p:spPr>
          <a:xfrm>
            <a:off x="1298448" y="2971800"/>
            <a:ext cx="4114800" cy="32004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The niche we own</a:t>
            </a:r>
            <a:endParaRPr lang="en-US" sz="1500" dirty="0"/>
          </a:p>
        </p:txBody>
      </p:sp>
      <p:sp>
        <p:nvSpPr>
          <p:cNvPr id="11" name="Text 9"/>
          <p:cNvSpPr/>
          <p:nvPr/>
        </p:nvSpPr>
        <p:spPr>
          <a:xfrm>
            <a:off x="1298448" y="3337560"/>
            <a:ext cx="4114800" cy="1097280"/>
          </a:xfrm>
          <a:prstGeom prst="rect">
            <a:avLst/>
          </a:prstGeom>
          <a:noFill/>
          <a:ln/>
        </p:spPr>
        <p:txBody>
          <a:bodyPr wrap="square" lIns="0" tIns="0" rIns="0" bIns="0" rtlCol="0" anchor="t"/>
          <a:lstStyle/>
          <a:p>
            <a:pPr indent="0" marL="0">
              <a:buNone/>
            </a:pPr>
            <a:r>
              <a:rPr lang="en-US" sz="1250" dirty="0">
                <a:solidFill>
                  <a:srgbClr val="44566C"/>
                </a:solidFill>
                <a:latin typeface="Calibri" pitchFamily="34" charset="0"/>
                <a:ea typeface="Calibri" pitchFamily="34" charset="-122"/>
                <a:cs typeface="Calibri" pitchFamily="34" charset="-120"/>
              </a:rPr>
              <a:t>Products served in several languages, and teams that are not allowed to send screens off-site. Locale, timezone and device are part of a baseline's identity here — self-hosting is the default, not an enterprise upsell.</a:t>
            </a:r>
            <a:endParaRPr lang="en-US" sz="1250" dirty="0"/>
          </a:p>
        </p:txBody>
      </p:sp>
      <p:sp>
        <p:nvSpPr>
          <p:cNvPr id="12" name="Shape 10"/>
          <p:cNvSpPr/>
          <p:nvPr/>
        </p:nvSpPr>
        <p:spPr>
          <a:xfrm>
            <a:off x="566928" y="4709160"/>
            <a:ext cx="5120640" cy="1143000"/>
          </a:xfrm>
          <a:prstGeom prst="roundRect">
            <a:avLst>
              <a:gd name="adj" fmla="val 7200"/>
            </a:avLst>
          </a:prstGeom>
          <a:solidFill>
            <a:srgbClr val="FFFFFF"/>
          </a:solidFill>
          <a:ln/>
          <a:effectLst>
            <a:outerShdw sx="100000" sy="100000" kx="0" ky="0" algn="bl" rotWithShape="0" blurRad="127000" dist="25400" dir="5400000">
              <a:srgbClr val="8FA3B8">
                <a:alpha val="28000"/>
              </a:srgbClr>
            </a:outerShdw>
          </a:effectLst>
        </p:spPr>
      </p:sp>
      <p:sp>
        <p:nvSpPr>
          <p:cNvPr id="13" name="Shape 11"/>
          <p:cNvSpPr/>
          <p:nvPr/>
        </p:nvSpPr>
        <p:spPr>
          <a:xfrm>
            <a:off x="841248" y="4965192"/>
            <a:ext cx="292608" cy="292608"/>
          </a:xfrm>
          <a:prstGeom prst="ellipse">
            <a:avLst/>
          </a:prstGeom>
          <a:solidFill>
            <a:srgbClr val="35608F"/>
          </a:solidFill>
          <a:ln/>
        </p:spPr>
      </p:sp>
      <p:sp>
        <p:nvSpPr>
          <p:cNvPr id="14" name="Text 12"/>
          <p:cNvSpPr/>
          <p:nvPr/>
        </p:nvSpPr>
        <p:spPr>
          <a:xfrm>
            <a:off x="1298448" y="4892040"/>
            <a:ext cx="4114800" cy="32004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Secondary</a:t>
            </a:r>
            <a:endParaRPr lang="en-US" sz="1500" dirty="0"/>
          </a:p>
        </p:txBody>
      </p:sp>
      <p:sp>
        <p:nvSpPr>
          <p:cNvPr id="15" name="Text 13"/>
          <p:cNvSpPr/>
          <p:nvPr/>
        </p:nvSpPr>
        <p:spPr>
          <a:xfrm>
            <a:off x="1298448" y="5257800"/>
            <a:ext cx="4114800" cy="502920"/>
          </a:xfrm>
          <a:prstGeom prst="rect">
            <a:avLst/>
          </a:prstGeom>
          <a:noFill/>
          <a:ln/>
        </p:spPr>
        <p:txBody>
          <a:bodyPr wrap="square" lIns="0" tIns="0" rIns="0" bIns="0" rtlCol="0" anchor="t"/>
          <a:lstStyle/>
          <a:p>
            <a:pPr indent="0" marL="0">
              <a:buNone/>
            </a:pPr>
            <a:r>
              <a:rPr lang="en-US" sz="1250" dirty="0">
                <a:solidFill>
                  <a:srgbClr val="44566C"/>
                </a:solidFill>
                <a:latin typeface="Calibri" pitchFamily="34" charset="0"/>
                <a:ea typeface="Calibri" pitchFamily="34" charset="-122"/>
                <a:cs typeface="Calibri" pitchFamily="34" charset="-120"/>
              </a:rPr>
              <a:t>Web agencies maintaining many client sites on one deployment.</a:t>
            </a:r>
            <a:endParaRPr lang="en-US" sz="1250" dirty="0"/>
          </a:p>
        </p:txBody>
      </p:sp>
      <p:sp>
        <p:nvSpPr>
          <p:cNvPr id="16" name="Text 14"/>
          <p:cNvSpPr/>
          <p:nvPr/>
        </p:nvSpPr>
        <p:spPr>
          <a:xfrm>
            <a:off x="5989320" y="1463040"/>
            <a:ext cx="5641848" cy="274320"/>
          </a:xfrm>
          <a:prstGeom prst="rect">
            <a:avLst/>
          </a:prstGeom>
          <a:noFill/>
          <a:ln/>
        </p:spPr>
        <p:txBody>
          <a:bodyPr wrap="square" lIns="0" tIns="0" rIns="0" bIns="0" rtlCol="0" anchor="ctr"/>
          <a:lstStyle/>
          <a:p>
            <a:pPr indent="0" marL="0">
              <a:buNone/>
            </a:pPr>
            <a:r>
              <a:rPr lang="en-US" sz="1100" b="1" spc="160" kern="0" dirty="0">
                <a:solidFill>
                  <a:srgbClr val="6B8CAE"/>
                </a:solidFill>
                <a:latin typeface="Calibri" pitchFamily="34" charset="0"/>
                <a:ea typeface="Calibri" pitchFamily="34" charset="-122"/>
                <a:cs typeface="Calibri" pitchFamily="34" charset="-120"/>
              </a:rPr>
              <a:t>WHAT THEY BUY TODAY</a:t>
            </a:r>
            <a:endParaRPr lang="en-US" sz="1100" dirty="0"/>
          </a:p>
        </p:txBody>
      </p:sp>
      <p:sp>
        <p:nvSpPr>
          <p:cNvPr id="17" name="Text 15"/>
          <p:cNvSpPr/>
          <p:nvPr/>
        </p:nvSpPr>
        <p:spPr>
          <a:xfrm>
            <a:off x="7589520" y="1810512"/>
            <a:ext cx="1554480" cy="256032"/>
          </a:xfrm>
          <a:prstGeom prst="rect">
            <a:avLst/>
          </a:prstGeom>
          <a:noFill/>
          <a:ln/>
        </p:spPr>
        <p:txBody>
          <a:bodyPr wrap="square" lIns="0" tIns="0" rIns="0" bIns="0" rtlCol="0" anchor="ctr"/>
          <a:lstStyle/>
          <a:p>
            <a:pPr indent="0" marL="0">
              <a:buNone/>
            </a:pPr>
            <a:r>
              <a:rPr lang="en-US" sz="1050" b="1" dirty="0">
                <a:solidFill>
                  <a:srgbClr val="6B8CAE"/>
                </a:solidFill>
                <a:latin typeface="Calibri" pitchFamily="34" charset="0"/>
                <a:ea typeface="Calibri" pitchFamily="34" charset="-122"/>
                <a:cs typeface="Calibri" pitchFamily="34" charset="-120"/>
              </a:rPr>
              <a:t>Hosting</a:t>
            </a:r>
            <a:endParaRPr lang="en-US" sz="1050" dirty="0"/>
          </a:p>
        </p:txBody>
      </p:sp>
      <p:sp>
        <p:nvSpPr>
          <p:cNvPr id="18" name="Text 16"/>
          <p:cNvSpPr/>
          <p:nvPr/>
        </p:nvSpPr>
        <p:spPr>
          <a:xfrm>
            <a:off x="9235440" y="1810512"/>
            <a:ext cx="2377440" cy="256032"/>
          </a:xfrm>
          <a:prstGeom prst="rect">
            <a:avLst/>
          </a:prstGeom>
          <a:noFill/>
          <a:ln/>
        </p:spPr>
        <p:txBody>
          <a:bodyPr wrap="square" lIns="0" tIns="0" rIns="0" bIns="0" rtlCol="0" anchor="ctr"/>
          <a:lstStyle/>
          <a:p>
            <a:pPr indent="0" marL="0">
              <a:buNone/>
            </a:pPr>
            <a:r>
              <a:rPr lang="en-US" sz="1050" b="1" dirty="0">
                <a:solidFill>
                  <a:srgbClr val="6B8CAE"/>
                </a:solidFill>
                <a:latin typeface="Calibri" pitchFamily="34" charset="0"/>
                <a:ea typeface="Calibri" pitchFamily="34" charset="-122"/>
                <a:cs typeface="Calibri" pitchFamily="34" charset="-120"/>
              </a:rPr>
              <a:t>Cost model</a:t>
            </a:r>
            <a:endParaRPr lang="en-US" sz="1050" dirty="0"/>
          </a:p>
        </p:txBody>
      </p:sp>
      <p:sp>
        <p:nvSpPr>
          <p:cNvPr id="19" name="Shape 17"/>
          <p:cNvSpPr/>
          <p:nvPr/>
        </p:nvSpPr>
        <p:spPr>
          <a:xfrm>
            <a:off x="5989320" y="2121408"/>
            <a:ext cx="5641848" cy="841248"/>
          </a:xfrm>
          <a:prstGeom prst="roundRect">
            <a:avLst>
              <a:gd name="adj" fmla="val 9783"/>
            </a:avLst>
          </a:prstGeom>
          <a:solidFill>
            <a:srgbClr val="FFFFFF"/>
          </a:solidFill>
          <a:ln/>
        </p:spPr>
      </p:sp>
      <p:sp>
        <p:nvSpPr>
          <p:cNvPr id="20" name="Text 18"/>
          <p:cNvSpPr/>
          <p:nvPr/>
        </p:nvSpPr>
        <p:spPr>
          <a:xfrm>
            <a:off x="6190488" y="2121408"/>
            <a:ext cx="1463040" cy="841248"/>
          </a:xfrm>
          <a:prstGeom prst="rect">
            <a:avLst/>
          </a:prstGeom>
          <a:noFill/>
          <a:ln/>
        </p:spPr>
        <p:txBody>
          <a:bodyPr wrap="square" lIns="0" tIns="0" rIns="0" bIns="0" rtlCol="0" anchor="ctr"/>
          <a:lstStyle/>
          <a:p>
            <a:pPr indent="0" marL="0">
              <a:buNone/>
            </a:pPr>
            <a:r>
              <a:rPr lang="en-US" sz="1150" b="1" dirty="0">
                <a:solidFill>
                  <a:srgbClr val="0F2742"/>
                </a:solidFill>
                <a:latin typeface="Calibri" pitchFamily="34" charset="0"/>
                <a:ea typeface="Calibri" pitchFamily="34" charset="-122"/>
                <a:cs typeface="Calibri" pitchFamily="34" charset="-120"/>
              </a:rPr>
              <a:t>Percy (BrowserStack)</a:t>
            </a:r>
            <a:endParaRPr lang="en-US" sz="1150" dirty="0"/>
          </a:p>
        </p:txBody>
      </p:sp>
      <p:sp>
        <p:nvSpPr>
          <p:cNvPr id="21" name="Text 19"/>
          <p:cNvSpPr/>
          <p:nvPr/>
        </p:nvSpPr>
        <p:spPr>
          <a:xfrm>
            <a:off x="7589520" y="2121408"/>
            <a:ext cx="1600200" cy="841248"/>
          </a:xfrm>
          <a:prstGeom prst="rect">
            <a:avLst/>
          </a:prstGeom>
          <a:noFill/>
          <a:ln/>
        </p:spPr>
        <p:txBody>
          <a:bodyPr wrap="square" lIns="0" tIns="0" rIns="0" bIns="0" rtlCol="0" anchor="ctr"/>
          <a:lstStyle/>
          <a:p>
            <a:pPr indent="0" marL="0">
              <a:buNone/>
            </a:pPr>
            <a:r>
              <a:rPr lang="en-US" sz="1100" dirty="0">
                <a:solidFill>
                  <a:srgbClr val="44566C"/>
                </a:solidFill>
                <a:latin typeface="Calibri" pitchFamily="34" charset="0"/>
                <a:ea typeface="Calibri" pitchFamily="34" charset="-122"/>
                <a:cs typeface="Calibri" pitchFamily="34" charset="-120"/>
              </a:rPr>
              <a:t>Cloud only</a:t>
            </a:r>
            <a:endParaRPr lang="en-US" sz="1100" dirty="0"/>
          </a:p>
        </p:txBody>
      </p:sp>
      <p:sp>
        <p:nvSpPr>
          <p:cNvPr id="22" name="Text 20"/>
          <p:cNvSpPr/>
          <p:nvPr/>
        </p:nvSpPr>
        <p:spPr>
          <a:xfrm>
            <a:off x="9235440" y="2121408"/>
            <a:ext cx="2240280" cy="841248"/>
          </a:xfrm>
          <a:prstGeom prst="rect">
            <a:avLst/>
          </a:prstGeom>
          <a:noFill/>
          <a:ln/>
        </p:spPr>
        <p:txBody>
          <a:bodyPr wrap="square" lIns="0" tIns="0" rIns="0" bIns="0" rtlCol="0" anchor="ctr"/>
          <a:lstStyle/>
          <a:p>
            <a:pPr indent="0" marL="0">
              <a:buNone/>
            </a:pPr>
            <a:r>
              <a:rPr lang="en-US" sz="1100" dirty="0">
                <a:solidFill>
                  <a:srgbClr val="44566C"/>
                </a:solidFill>
                <a:latin typeface="Calibri" pitchFamily="34" charset="0"/>
                <a:ea typeface="Calibri" pitchFamily="34" charset="-122"/>
                <a:cs typeface="Calibri" pitchFamily="34" charset="-120"/>
              </a:rPr>
              <a:t>Free to 5,000 snapshots/mo,</a:t>
            </a:r>
            <a:endParaRPr lang="en-US" sz="1100" dirty="0"/>
          </a:p>
          <a:p>
            <a:pPr indent="0" marL="0">
              <a:buNone/>
            </a:pPr>
            <a:r>
              <a:rPr lang="en-US" sz="1100" dirty="0">
                <a:solidFill>
                  <a:srgbClr val="44566C"/>
                </a:solidFill>
                <a:latin typeface="Calibri" pitchFamily="34" charset="0"/>
                <a:ea typeface="Calibri" pitchFamily="34" charset="-122"/>
                <a:cs typeface="Calibri" pitchFamily="34" charset="-120"/>
              </a:rPr>
              <a:t>then from $199/mo</a:t>
            </a:r>
            <a:endParaRPr lang="en-US" sz="1100" dirty="0"/>
          </a:p>
        </p:txBody>
      </p:sp>
      <p:sp>
        <p:nvSpPr>
          <p:cNvPr id="23" name="Shape 21"/>
          <p:cNvSpPr/>
          <p:nvPr/>
        </p:nvSpPr>
        <p:spPr>
          <a:xfrm>
            <a:off x="5989320" y="3072384"/>
            <a:ext cx="5641848" cy="841248"/>
          </a:xfrm>
          <a:prstGeom prst="roundRect">
            <a:avLst>
              <a:gd name="adj" fmla="val 9783"/>
            </a:avLst>
          </a:prstGeom>
          <a:solidFill>
            <a:srgbClr val="FFFFFF"/>
          </a:solidFill>
          <a:ln/>
        </p:spPr>
      </p:sp>
      <p:sp>
        <p:nvSpPr>
          <p:cNvPr id="24" name="Text 22"/>
          <p:cNvSpPr/>
          <p:nvPr/>
        </p:nvSpPr>
        <p:spPr>
          <a:xfrm>
            <a:off x="6190488" y="3072384"/>
            <a:ext cx="1463040" cy="841248"/>
          </a:xfrm>
          <a:prstGeom prst="rect">
            <a:avLst/>
          </a:prstGeom>
          <a:noFill/>
          <a:ln/>
        </p:spPr>
        <p:txBody>
          <a:bodyPr wrap="square" lIns="0" tIns="0" rIns="0" bIns="0" rtlCol="0" anchor="ctr"/>
          <a:lstStyle/>
          <a:p>
            <a:pPr indent="0" marL="0">
              <a:buNone/>
            </a:pPr>
            <a:r>
              <a:rPr lang="en-US" sz="1150" b="1" dirty="0">
                <a:solidFill>
                  <a:srgbClr val="0F2742"/>
                </a:solidFill>
                <a:latin typeface="Calibri" pitchFamily="34" charset="0"/>
                <a:ea typeface="Calibri" pitchFamily="34" charset="-122"/>
                <a:cs typeface="Calibri" pitchFamily="34" charset="-120"/>
              </a:rPr>
              <a:t>Chromatic</a:t>
            </a:r>
            <a:endParaRPr lang="en-US" sz="1150" dirty="0"/>
          </a:p>
        </p:txBody>
      </p:sp>
      <p:sp>
        <p:nvSpPr>
          <p:cNvPr id="25" name="Text 23"/>
          <p:cNvSpPr/>
          <p:nvPr/>
        </p:nvSpPr>
        <p:spPr>
          <a:xfrm>
            <a:off x="7589520" y="3072384"/>
            <a:ext cx="1600200" cy="841248"/>
          </a:xfrm>
          <a:prstGeom prst="rect">
            <a:avLst/>
          </a:prstGeom>
          <a:noFill/>
          <a:ln/>
        </p:spPr>
        <p:txBody>
          <a:bodyPr wrap="square" lIns="0" tIns="0" rIns="0" bIns="0" rtlCol="0" anchor="ctr"/>
          <a:lstStyle/>
          <a:p>
            <a:pPr indent="0" marL="0">
              <a:buNone/>
            </a:pPr>
            <a:r>
              <a:rPr lang="en-US" sz="1100" dirty="0">
                <a:solidFill>
                  <a:srgbClr val="44566C"/>
                </a:solidFill>
                <a:latin typeface="Calibri" pitchFamily="34" charset="0"/>
                <a:ea typeface="Calibri" pitchFamily="34" charset="-122"/>
                <a:cs typeface="Calibri" pitchFamily="34" charset="-120"/>
              </a:rPr>
              <a:t>Cloud only</a:t>
            </a:r>
            <a:endParaRPr lang="en-US" sz="1100" dirty="0"/>
          </a:p>
        </p:txBody>
      </p:sp>
      <p:sp>
        <p:nvSpPr>
          <p:cNvPr id="26" name="Text 24"/>
          <p:cNvSpPr/>
          <p:nvPr/>
        </p:nvSpPr>
        <p:spPr>
          <a:xfrm>
            <a:off x="9235440" y="3072384"/>
            <a:ext cx="2240280" cy="841248"/>
          </a:xfrm>
          <a:prstGeom prst="rect">
            <a:avLst/>
          </a:prstGeom>
          <a:noFill/>
          <a:ln/>
        </p:spPr>
        <p:txBody>
          <a:bodyPr wrap="square" lIns="0" tIns="0" rIns="0" bIns="0" rtlCol="0" anchor="ctr"/>
          <a:lstStyle/>
          <a:p>
            <a:pPr indent="0" marL="0">
              <a:buNone/>
            </a:pPr>
            <a:r>
              <a:rPr lang="en-US" sz="1100" dirty="0">
                <a:solidFill>
                  <a:srgbClr val="44566C"/>
                </a:solidFill>
                <a:latin typeface="Calibri" pitchFamily="34" charset="0"/>
                <a:ea typeface="Calibri" pitchFamily="34" charset="-122"/>
                <a:cs typeface="Calibri" pitchFamily="34" charset="-120"/>
              </a:rPr>
              <a:t>Free to 5,000 snapshots/mo,</a:t>
            </a:r>
            <a:endParaRPr lang="en-US" sz="1100" dirty="0"/>
          </a:p>
          <a:p>
            <a:pPr indent="0" marL="0">
              <a:buNone/>
            </a:pPr>
            <a:r>
              <a:rPr lang="en-US" sz="1100" dirty="0">
                <a:solidFill>
                  <a:srgbClr val="44566C"/>
                </a:solidFill>
                <a:latin typeface="Calibri" pitchFamily="34" charset="0"/>
                <a:ea typeface="Calibri" pitchFamily="34" charset="-122"/>
                <a:cs typeface="Calibri" pitchFamily="34" charset="-120"/>
              </a:rPr>
              <a:t>paid from $149/mo</a:t>
            </a:r>
            <a:endParaRPr lang="en-US" sz="1100" dirty="0"/>
          </a:p>
        </p:txBody>
      </p:sp>
      <p:sp>
        <p:nvSpPr>
          <p:cNvPr id="27" name="Shape 25"/>
          <p:cNvSpPr/>
          <p:nvPr/>
        </p:nvSpPr>
        <p:spPr>
          <a:xfrm>
            <a:off x="5989320" y="4023360"/>
            <a:ext cx="5641848" cy="841248"/>
          </a:xfrm>
          <a:prstGeom prst="roundRect">
            <a:avLst>
              <a:gd name="adj" fmla="val 9783"/>
            </a:avLst>
          </a:prstGeom>
          <a:solidFill>
            <a:srgbClr val="FFFFFF"/>
          </a:solidFill>
          <a:ln/>
        </p:spPr>
      </p:sp>
      <p:sp>
        <p:nvSpPr>
          <p:cNvPr id="28" name="Text 26"/>
          <p:cNvSpPr/>
          <p:nvPr/>
        </p:nvSpPr>
        <p:spPr>
          <a:xfrm>
            <a:off x="6190488" y="4023360"/>
            <a:ext cx="1463040" cy="841248"/>
          </a:xfrm>
          <a:prstGeom prst="rect">
            <a:avLst/>
          </a:prstGeom>
          <a:noFill/>
          <a:ln/>
        </p:spPr>
        <p:txBody>
          <a:bodyPr wrap="square" lIns="0" tIns="0" rIns="0" bIns="0" rtlCol="0" anchor="ctr"/>
          <a:lstStyle/>
          <a:p>
            <a:pPr indent="0" marL="0">
              <a:buNone/>
            </a:pPr>
            <a:r>
              <a:rPr lang="en-US" sz="1150" b="1" dirty="0">
                <a:solidFill>
                  <a:srgbClr val="0F2742"/>
                </a:solidFill>
                <a:latin typeface="Calibri" pitchFamily="34" charset="0"/>
                <a:ea typeface="Calibri" pitchFamily="34" charset="-122"/>
                <a:cs typeface="Calibri" pitchFamily="34" charset="-120"/>
              </a:rPr>
              <a:t>Applitools Eyes</a:t>
            </a:r>
            <a:endParaRPr lang="en-US" sz="1150" dirty="0"/>
          </a:p>
        </p:txBody>
      </p:sp>
      <p:sp>
        <p:nvSpPr>
          <p:cNvPr id="29" name="Text 27"/>
          <p:cNvSpPr/>
          <p:nvPr/>
        </p:nvSpPr>
        <p:spPr>
          <a:xfrm>
            <a:off x="7589520" y="4023360"/>
            <a:ext cx="1600200" cy="841248"/>
          </a:xfrm>
          <a:prstGeom prst="rect">
            <a:avLst/>
          </a:prstGeom>
          <a:noFill/>
          <a:ln/>
        </p:spPr>
        <p:txBody>
          <a:bodyPr wrap="square" lIns="0" tIns="0" rIns="0" bIns="0" rtlCol="0" anchor="ctr"/>
          <a:lstStyle/>
          <a:p>
            <a:pPr indent="0" marL="0">
              <a:buNone/>
            </a:pPr>
            <a:r>
              <a:rPr lang="en-US" sz="1100" dirty="0">
                <a:solidFill>
                  <a:srgbClr val="44566C"/>
                </a:solidFill>
                <a:latin typeface="Calibri" pitchFamily="34" charset="0"/>
                <a:ea typeface="Calibri" pitchFamily="34" charset="-122"/>
                <a:cs typeface="Calibri" pitchFamily="34" charset="-120"/>
              </a:rPr>
              <a:t>Cloud</a:t>
            </a:r>
            <a:endParaRPr lang="en-US" sz="1100" dirty="0"/>
          </a:p>
        </p:txBody>
      </p:sp>
      <p:sp>
        <p:nvSpPr>
          <p:cNvPr id="30" name="Text 28"/>
          <p:cNvSpPr/>
          <p:nvPr/>
        </p:nvSpPr>
        <p:spPr>
          <a:xfrm>
            <a:off x="9235440" y="4023360"/>
            <a:ext cx="2240280" cy="841248"/>
          </a:xfrm>
          <a:prstGeom prst="rect">
            <a:avLst/>
          </a:prstGeom>
          <a:noFill/>
          <a:ln/>
        </p:spPr>
        <p:txBody>
          <a:bodyPr wrap="square" lIns="0" tIns="0" rIns="0" bIns="0" rtlCol="0" anchor="ctr"/>
          <a:lstStyle/>
          <a:p>
            <a:pPr indent="0" marL="0">
              <a:buNone/>
            </a:pPr>
            <a:r>
              <a:rPr lang="en-US" sz="1100" dirty="0">
                <a:solidFill>
                  <a:srgbClr val="44566C"/>
                </a:solidFill>
                <a:latin typeface="Calibri" pitchFamily="34" charset="0"/>
                <a:ea typeface="Calibri" pitchFamily="34" charset="-122"/>
                <a:cs typeface="Calibri" pitchFamily="34" charset="-120"/>
              </a:rPr>
              <a:t>Quote only — no public price</a:t>
            </a:r>
            <a:endParaRPr lang="en-US" sz="1100" dirty="0"/>
          </a:p>
        </p:txBody>
      </p:sp>
      <p:sp>
        <p:nvSpPr>
          <p:cNvPr id="31" name="Shape 29"/>
          <p:cNvSpPr/>
          <p:nvPr/>
        </p:nvSpPr>
        <p:spPr>
          <a:xfrm>
            <a:off x="5989320" y="4974336"/>
            <a:ext cx="5641848" cy="1051560"/>
          </a:xfrm>
          <a:prstGeom prst="roundRect">
            <a:avLst>
              <a:gd name="adj" fmla="val 7826"/>
            </a:avLst>
          </a:prstGeom>
          <a:solidFill>
            <a:srgbClr val="0F2742"/>
          </a:solidFill>
          <a:ln/>
        </p:spPr>
      </p:sp>
      <p:sp>
        <p:nvSpPr>
          <p:cNvPr id="32" name="Text 30"/>
          <p:cNvSpPr/>
          <p:nvPr/>
        </p:nvSpPr>
        <p:spPr>
          <a:xfrm>
            <a:off x="6190488" y="4974336"/>
            <a:ext cx="1463040" cy="105156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Visual Regression</a:t>
            </a:r>
            <a:endParaRPr lang="en-US" sz="1150" dirty="0"/>
          </a:p>
          <a:p>
            <a:pPr indent="0" marL="0">
              <a:buNone/>
            </a:pPr>
            <a:r>
              <a:rPr lang="en-US" sz="1150" b="1" dirty="0">
                <a:solidFill>
                  <a:srgbClr val="FFFFFF"/>
                </a:solidFill>
                <a:latin typeface="Calibri" pitchFamily="34" charset="0"/>
                <a:ea typeface="Calibri" pitchFamily="34" charset="-122"/>
                <a:cs typeface="Calibri" pitchFamily="34" charset="-120"/>
              </a:rPr>
              <a:t>Workbench</a:t>
            </a:r>
            <a:endParaRPr lang="en-US" sz="1150" dirty="0"/>
          </a:p>
        </p:txBody>
      </p:sp>
      <p:sp>
        <p:nvSpPr>
          <p:cNvPr id="33" name="Text 31"/>
          <p:cNvSpPr/>
          <p:nvPr/>
        </p:nvSpPr>
        <p:spPr>
          <a:xfrm>
            <a:off x="7589520" y="4974336"/>
            <a:ext cx="1600200" cy="1051560"/>
          </a:xfrm>
          <a:prstGeom prst="rect">
            <a:avLst/>
          </a:prstGeom>
          <a:noFill/>
          <a:ln/>
        </p:spPr>
        <p:txBody>
          <a:bodyPr wrap="square" lIns="0" tIns="0" rIns="0" bIns="0" rtlCol="0" anchor="ctr"/>
          <a:lstStyle/>
          <a:p>
            <a:pPr indent="0" marL="0">
              <a:buNone/>
            </a:pPr>
            <a:r>
              <a:rPr lang="en-US" sz="1100" dirty="0">
                <a:solidFill>
                  <a:srgbClr val="FF6A2B"/>
                </a:solidFill>
                <a:latin typeface="Calibri" pitchFamily="34" charset="0"/>
                <a:ea typeface="Calibri" pitchFamily="34" charset="-122"/>
                <a:cs typeface="Calibri" pitchFamily="34" charset="-120"/>
              </a:rPr>
              <a:t>Your own machines</a:t>
            </a:r>
            <a:endParaRPr lang="en-US" sz="1100" dirty="0"/>
          </a:p>
          <a:p>
            <a:pPr indent="0" marL="0">
              <a:buNone/>
            </a:pPr>
            <a:r>
              <a:rPr lang="en-US" sz="1100" dirty="0">
                <a:solidFill>
                  <a:srgbClr val="FF6A2B"/>
                </a:solidFill>
                <a:latin typeface="Calibri" pitchFamily="34" charset="0"/>
                <a:ea typeface="Calibri" pitchFamily="34" charset="-122"/>
                <a:cs typeface="Calibri" pitchFamily="34" charset="-120"/>
              </a:rPr>
              <a:t>(docker-compose up)</a:t>
            </a:r>
            <a:endParaRPr lang="en-US" sz="1100" dirty="0"/>
          </a:p>
        </p:txBody>
      </p:sp>
      <p:sp>
        <p:nvSpPr>
          <p:cNvPr id="34" name="Text 32"/>
          <p:cNvSpPr/>
          <p:nvPr/>
        </p:nvSpPr>
        <p:spPr>
          <a:xfrm>
            <a:off x="9235440" y="4974336"/>
            <a:ext cx="2240280" cy="1051560"/>
          </a:xfrm>
          <a:prstGeom prst="rect">
            <a:avLst/>
          </a:prstGeom>
          <a:noFill/>
          <a:ln/>
        </p:spPr>
        <p:txBody>
          <a:bodyPr wrap="square" lIns="0" tIns="0" rIns="0" bIns="0" rtlCol="0" anchor="ctr"/>
          <a:lstStyle/>
          <a:p>
            <a:pPr indent="0" marL="0">
              <a:buNone/>
            </a:pPr>
            <a:r>
              <a:rPr lang="en-US" sz="1100" dirty="0">
                <a:solidFill>
                  <a:srgbClr val="FF6A2B"/>
                </a:solidFill>
                <a:latin typeface="Calibri" pitchFamily="34" charset="0"/>
                <a:ea typeface="Calibri" pitchFamily="34" charset="-122"/>
                <a:cs typeface="Calibri" pitchFamily="34" charset="-120"/>
              </a:rPr>
              <a:t>No per-snapshot fee,</a:t>
            </a:r>
            <a:endParaRPr lang="en-US" sz="1100" dirty="0"/>
          </a:p>
          <a:p>
            <a:pPr indent="0" marL="0">
              <a:buNone/>
            </a:pPr>
            <a:r>
              <a:rPr lang="en-US" sz="1100" dirty="0">
                <a:solidFill>
                  <a:srgbClr val="FF6A2B"/>
                </a:solidFill>
                <a:latin typeface="Calibri" pitchFamily="34" charset="0"/>
                <a:ea typeface="Calibri" pitchFamily="34" charset="-122"/>
                <a:cs typeface="Calibri" pitchFamily="34" charset="-120"/>
              </a:rPr>
              <a:t>no snapshot ceiling</a:t>
            </a:r>
            <a:endParaRPr lang="en-US" sz="1100" dirty="0"/>
          </a:p>
        </p:txBody>
      </p:sp>
      <p:sp>
        <p:nvSpPr>
          <p:cNvPr id="35" name="Text 33"/>
          <p:cNvSpPr/>
          <p:nvPr/>
        </p:nvSpPr>
        <p:spPr>
          <a:xfrm>
            <a:off x="5989320" y="6089904"/>
            <a:ext cx="5641848" cy="365760"/>
          </a:xfrm>
          <a:prstGeom prst="rect">
            <a:avLst/>
          </a:prstGeom>
          <a:noFill/>
          <a:ln/>
        </p:spPr>
        <p:txBody>
          <a:bodyPr wrap="square" lIns="0" tIns="0" rIns="0" bIns="0" rtlCol="0" anchor="ctr"/>
          <a:lstStyle/>
          <a:p>
            <a:pPr indent="0" marL="0">
              <a:buNone/>
            </a:pPr>
            <a:r>
              <a:rPr lang="en-US" sz="1200" i="1" dirty="0">
                <a:solidFill>
                  <a:srgbClr val="0F2742"/>
                </a:solidFill>
                <a:latin typeface="Calibri" pitchFamily="34" charset="0"/>
                <a:ea typeface="Calibri" pitchFamily="34" charset="-122"/>
                <a:cs typeface="Calibri" pitchFamily="34" charset="-120"/>
              </a:rPr>
              <a:t>All three report a pixel difference. None of them name the defect.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4F9"/>
        </a:solidFill>
      </p:bgPr>
    </p:bg>
    <p:spTree>
      <p:nvGrpSpPr>
        <p:cNvPr id="1" name=""/>
        <p:cNvGrpSpPr/>
        <p:nvPr/>
      </p:nvGrpSpPr>
      <p:grpSpPr>
        <a:xfrm>
          <a:off x="0" y="0"/>
          <a:ext cx="0" cy="0"/>
          <a:chOff x="0" y="0"/>
          <a:chExt cx="0" cy="0"/>
        </a:xfrm>
      </p:grpSpPr>
      <p:sp>
        <p:nvSpPr>
          <p:cNvPr id="2" name="Text 0"/>
          <p:cNvSpPr/>
          <p:nvPr/>
        </p:nvSpPr>
        <p:spPr>
          <a:xfrm>
            <a:off x="594360" y="137160"/>
            <a:ext cx="8229600" cy="274320"/>
          </a:xfrm>
          <a:prstGeom prst="rect">
            <a:avLst/>
          </a:prstGeom>
          <a:noFill/>
          <a:ln/>
        </p:spPr>
        <p:txBody>
          <a:bodyPr wrap="square" lIns="0" tIns="0" rIns="0" bIns="0" rtlCol="0" anchor="ctr"/>
          <a:lstStyle/>
          <a:p>
            <a:pPr indent="0" marL="0">
              <a:buNone/>
            </a:pPr>
            <a:r>
              <a:rPr lang="en-US" sz="1150" b="1" spc="220" kern="0" dirty="0">
                <a:solidFill>
                  <a:srgbClr val="FF6A2B"/>
                </a:solidFill>
                <a:latin typeface="Calibri" pitchFamily="34" charset="0"/>
                <a:ea typeface="Calibri" pitchFamily="34" charset="-122"/>
                <a:cs typeface="Calibri" pitchFamily="34" charset="-120"/>
              </a:rPr>
              <a:t>WHY THEY SWITCH</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200" b="1" dirty="0">
                <a:solidFill>
                  <a:srgbClr val="0F2742"/>
                </a:solidFill>
                <a:latin typeface="Cambria" pitchFamily="34" charset="0"/>
                <a:ea typeface="Cambria" pitchFamily="34" charset="-122"/>
                <a:cs typeface="Cambria" pitchFamily="34" charset="-120"/>
              </a:rPr>
              <a:t>Four things the alternatives do not do</a:t>
            </a:r>
            <a:endParaRPr lang="en-US" sz="3200" dirty="0"/>
          </a:p>
        </p:txBody>
      </p:sp>
      <p:sp>
        <p:nvSpPr>
          <p:cNvPr id="4" name="Shape 2"/>
          <p:cNvSpPr/>
          <p:nvPr/>
        </p:nvSpPr>
        <p:spPr>
          <a:xfrm>
            <a:off x="566928" y="1417320"/>
            <a:ext cx="5852160" cy="1051560"/>
          </a:xfrm>
          <a:prstGeom prst="roundRect">
            <a:avLst>
              <a:gd name="adj" fmla="val 7826"/>
            </a:avLst>
          </a:prstGeom>
          <a:solidFill>
            <a:srgbClr val="FFFFFF"/>
          </a:solidFill>
          <a:ln/>
          <a:effectLst>
            <a:outerShdw sx="100000" sy="100000" kx="0" ky="0" algn="bl" rotWithShape="0" blurRad="127000" dist="25400" dir="5400000">
              <a:srgbClr val="8FA3B8">
                <a:alpha val="28000"/>
              </a:srgbClr>
            </a:outerShdw>
          </a:effectLst>
        </p:spPr>
      </p:sp>
      <p:sp>
        <p:nvSpPr>
          <p:cNvPr id="5" name="Shape 3"/>
          <p:cNvSpPr/>
          <p:nvPr/>
        </p:nvSpPr>
        <p:spPr>
          <a:xfrm>
            <a:off x="841248" y="1728216"/>
            <a:ext cx="402336" cy="402336"/>
          </a:xfrm>
          <a:prstGeom prst="ellipse">
            <a:avLst/>
          </a:prstGeom>
          <a:solidFill>
            <a:srgbClr val="FF6A2B"/>
          </a:solidFill>
          <a:ln/>
        </p:spPr>
      </p:sp>
      <p:sp>
        <p:nvSpPr>
          <p:cNvPr id="6" name="Text 4"/>
          <p:cNvSpPr/>
          <p:nvPr/>
        </p:nvSpPr>
        <p:spPr>
          <a:xfrm>
            <a:off x="841248" y="172821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389888" y="1527048"/>
            <a:ext cx="4846320" cy="292608"/>
          </a:xfrm>
          <a:prstGeom prst="rect">
            <a:avLst/>
          </a:prstGeom>
          <a:noFill/>
          <a:ln/>
        </p:spPr>
        <p:txBody>
          <a:bodyPr wrap="square" lIns="0" tIns="0" rIns="0" bIns="0" rtlCol="0" anchor="t"/>
          <a:lstStyle/>
          <a:p>
            <a:pPr indent="0" marL="0">
              <a:buNone/>
            </a:pPr>
            <a:r>
              <a:rPr lang="en-US" sz="1500" b="1" dirty="0">
                <a:solidFill>
                  <a:srgbClr val="0F2742"/>
                </a:solidFill>
                <a:latin typeface="Calibri" pitchFamily="34" charset="0"/>
                <a:ea typeface="Calibri" pitchFamily="34" charset="-122"/>
                <a:cs typeface="Calibri" pitchFamily="34" charset="-120"/>
              </a:rPr>
              <a:t>It names the defect</a:t>
            </a:r>
            <a:endParaRPr lang="en-US" sz="1500" dirty="0"/>
          </a:p>
        </p:txBody>
      </p:sp>
      <p:sp>
        <p:nvSpPr>
          <p:cNvPr id="8" name="Text 6"/>
          <p:cNvSpPr/>
          <p:nvPr/>
        </p:nvSpPr>
        <p:spPr>
          <a:xfrm>
            <a:off x="1389888" y="1837944"/>
            <a:ext cx="4846320" cy="566928"/>
          </a:xfrm>
          <a:prstGeom prst="rect">
            <a:avLst/>
          </a:prstGeom>
          <a:noFill/>
          <a:ln/>
        </p:spPr>
        <p:txBody>
          <a:bodyPr wrap="square" lIns="0" tIns="0" rIns="0" bIns="0" rtlCol="0" anchor="t"/>
          <a:lstStyle/>
          <a:p>
            <a:pPr indent="0" marL="0">
              <a:buNone/>
            </a:pPr>
            <a:r>
              <a:rPr lang="en-US" sz="1200" dirty="0">
                <a:solidFill>
                  <a:srgbClr val="44566C"/>
                </a:solidFill>
                <a:latin typeface="Calibri" pitchFamily="34" charset="0"/>
                <a:ea typeface="Calibri" pitchFamily="34" charset="-122"/>
                <a:cs typeface="Calibri" pitchFamily="34" charset="-120"/>
              </a:rPr>
              <a:t>Not "2.7% of pixels changed" but "missing-element", with the element and its coordinates. The reviewer acts without opening the page.</a:t>
            </a:r>
            <a:endParaRPr lang="en-US" sz="1200" dirty="0"/>
          </a:p>
        </p:txBody>
      </p:sp>
      <p:sp>
        <p:nvSpPr>
          <p:cNvPr id="9" name="Shape 7"/>
          <p:cNvSpPr/>
          <p:nvPr/>
        </p:nvSpPr>
        <p:spPr>
          <a:xfrm>
            <a:off x="566928" y="2560320"/>
            <a:ext cx="5852160" cy="1051560"/>
          </a:xfrm>
          <a:prstGeom prst="roundRect">
            <a:avLst>
              <a:gd name="adj" fmla="val 7826"/>
            </a:avLst>
          </a:prstGeom>
          <a:solidFill>
            <a:srgbClr val="FFFFFF"/>
          </a:solidFill>
          <a:ln/>
          <a:effectLst>
            <a:outerShdw sx="100000" sy="100000" kx="0" ky="0" algn="bl" rotWithShape="0" blurRad="127000" dist="25400" dir="5400000">
              <a:srgbClr val="8FA3B8">
                <a:alpha val="28000"/>
              </a:srgbClr>
            </a:outerShdw>
          </a:effectLst>
        </p:spPr>
      </p:sp>
      <p:sp>
        <p:nvSpPr>
          <p:cNvPr id="10" name="Shape 8"/>
          <p:cNvSpPr/>
          <p:nvPr/>
        </p:nvSpPr>
        <p:spPr>
          <a:xfrm>
            <a:off x="841248" y="2871216"/>
            <a:ext cx="402336" cy="402336"/>
          </a:xfrm>
          <a:prstGeom prst="ellipse">
            <a:avLst/>
          </a:prstGeom>
          <a:solidFill>
            <a:srgbClr val="FF6A2B"/>
          </a:solidFill>
          <a:ln/>
        </p:spPr>
      </p:sp>
      <p:sp>
        <p:nvSpPr>
          <p:cNvPr id="11" name="Text 9"/>
          <p:cNvSpPr/>
          <p:nvPr/>
        </p:nvSpPr>
        <p:spPr>
          <a:xfrm>
            <a:off x="841248" y="287121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389888" y="2670048"/>
            <a:ext cx="4846320" cy="292608"/>
          </a:xfrm>
          <a:prstGeom prst="rect">
            <a:avLst/>
          </a:prstGeom>
          <a:noFill/>
          <a:ln/>
        </p:spPr>
        <p:txBody>
          <a:bodyPr wrap="square" lIns="0" tIns="0" rIns="0" bIns="0" rtlCol="0" anchor="t"/>
          <a:lstStyle/>
          <a:p>
            <a:pPr indent="0" marL="0">
              <a:buNone/>
            </a:pPr>
            <a:r>
              <a:rPr lang="en-US" sz="1500" b="1" dirty="0">
                <a:solidFill>
                  <a:srgbClr val="0F2742"/>
                </a:solidFill>
                <a:latin typeface="Calibri" pitchFamily="34" charset="0"/>
                <a:ea typeface="Calibri" pitchFamily="34" charset="-122"/>
                <a:cs typeface="Calibri" pitchFamily="34" charset="-120"/>
              </a:rPr>
              <a:t>It stays trustworthy</a:t>
            </a:r>
            <a:endParaRPr lang="en-US" sz="1500" dirty="0"/>
          </a:p>
        </p:txBody>
      </p:sp>
      <p:sp>
        <p:nvSpPr>
          <p:cNvPr id="13" name="Text 11"/>
          <p:cNvSpPr/>
          <p:nvPr/>
        </p:nvSpPr>
        <p:spPr>
          <a:xfrm>
            <a:off x="1389888" y="2980944"/>
            <a:ext cx="4846320" cy="566928"/>
          </a:xfrm>
          <a:prstGeom prst="rect">
            <a:avLst/>
          </a:prstGeom>
          <a:noFill/>
          <a:ln/>
        </p:spPr>
        <p:txBody>
          <a:bodyPr wrap="square" lIns="0" tIns="0" rIns="0" bIns="0" rtlCol="0" anchor="t"/>
          <a:lstStyle/>
          <a:p>
            <a:pPr indent="0" marL="0">
              <a:buNone/>
            </a:pPr>
            <a:r>
              <a:rPr lang="en-US" sz="1200" dirty="0">
                <a:solidFill>
                  <a:srgbClr val="44566C"/>
                </a:solidFill>
                <a:latin typeface="Calibri" pitchFamily="34" charset="0"/>
                <a:ea typeface="Calibri" pitchFamily="34" charset="-122"/>
                <a:cs typeface="Calibri" pitchFamily="34" charset="-120"/>
              </a:rPr>
              <a:t>Structural confirmation and drawable ignore regions keep dynamic content from crying wolf, so the suite does not get muted.</a:t>
            </a:r>
            <a:endParaRPr lang="en-US" sz="1200" dirty="0"/>
          </a:p>
        </p:txBody>
      </p:sp>
      <p:sp>
        <p:nvSpPr>
          <p:cNvPr id="14" name="Shape 12"/>
          <p:cNvSpPr/>
          <p:nvPr/>
        </p:nvSpPr>
        <p:spPr>
          <a:xfrm>
            <a:off x="566928" y="3703320"/>
            <a:ext cx="5852160" cy="1051560"/>
          </a:xfrm>
          <a:prstGeom prst="roundRect">
            <a:avLst>
              <a:gd name="adj" fmla="val 7826"/>
            </a:avLst>
          </a:prstGeom>
          <a:solidFill>
            <a:srgbClr val="FFFFFF"/>
          </a:solidFill>
          <a:ln/>
          <a:effectLst>
            <a:outerShdw sx="100000" sy="100000" kx="0" ky="0" algn="bl" rotWithShape="0" blurRad="127000" dist="25400" dir="5400000">
              <a:srgbClr val="8FA3B8">
                <a:alpha val="28000"/>
              </a:srgbClr>
            </a:outerShdw>
          </a:effectLst>
        </p:spPr>
      </p:sp>
      <p:sp>
        <p:nvSpPr>
          <p:cNvPr id="15" name="Shape 13"/>
          <p:cNvSpPr/>
          <p:nvPr/>
        </p:nvSpPr>
        <p:spPr>
          <a:xfrm>
            <a:off x="841248" y="4014216"/>
            <a:ext cx="402336" cy="402336"/>
          </a:xfrm>
          <a:prstGeom prst="ellipse">
            <a:avLst/>
          </a:prstGeom>
          <a:solidFill>
            <a:srgbClr val="FF6A2B"/>
          </a:solidFill>
          <a:ln/>
        </p:spPr>
      </p:sp>
      <p:sp>
        <p:nvSpPr>
          <p:cNvPr id="16" name="Text 14"/>
          <p:cNvSpPr/>
          <p:nvPr/>
        </p:nvSpPr>
        <p:spPr>
          <a:xfrm>
            <a:off x="841248" y="401421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389888" y="3813048"/>
            <a:ext cx="4846320" cy="292608"/>
          </a:xfrm>
          <a:prstGeom prst="rect">
            <a:avLst/>
          </a:prstGeom>
          <a:noFill/>
          <a:ln/>
        </p:spPr>
        <p:txBody>
          <a:bodyPr wrap="square" lIns="0" tIns="0" rIns="0" bIns="0" rtlCol="0" anchor="t"/>
          <a:lstStyle/>
          <a:p>
            <a:pPr indent="0" marL="0">
              <a:buNone/>
            </a:pPr>
            <a:r>
              <a:rPr lang="en-US" sz="1500" b="1" dirty="0">
                <a:solidFill>
                  <a:srgbClr val="0F2742"/>
                </a:solidFill>
                <a:latin typeface="Calibri" pitchFamily="34" charset="0"/>
                <a:ea typeface="Calibri" pitchFamily="34" charset="-122"/>
                <a:cs typeface="Calibri" pitchFamily="34" charset="-120"/>
              </a:rPr>
              <a:t>It speaks their languages</a:t>
            </a:r>
            <a:endParaRPr lang="en-US" sz="1500" dirty="0"/>
          </a:p>
        </p:txBody>
      </p:sp>
      <p:sp>
        <p:nvSpPr>
          <p:cNvPr id="18" name="Text 16"/>
          <p:cNvSpPr/>
          <p:nvPr/>
        </p:nvSpPr>
        <p:spPr>
          <a:xfrm>
            <a:off x="1389888" y="4123944"/>
            <a:ext cx="4846320" cy="566928"/>
          </a:xfrm>
          <a:prstGeom prst="rect">
            <a:avLst/>
          </a:prstGeom>
          <a:noFill/>
          <a:ln/>
        </p:spPr>
        <p:txBody>
          <a:bodyPr wrap="square" lIns="0" tIns="0" rIns="0" bIns="0" rtlCol="0" anchor="t"/>
          <a:lstStyle/>
          <a:p>
            <a:pPr indent="0" marL="0">
              <a:buNone/>
            </a:pPr>
            <a:r>
              <a:rPr lang="en-US" sz="1200" dirty="0">
                <a:solidFill>
                  <a:srgbClr val="44566C"/>
                </a:solidFill>
                <a:latin typeface="Calibri" pitchFamily="34" charset="0"/>
                <a:ea typeface="Calibri" pitchFamily="34" charset="-122"/>
                <a:cs typeface="Calibri" pitchFamily="34" charset="-120"/>
              </a:rPr>
              <a:t>Language, timezone and device are part of a baseline's identity, so a Malay page is never compared against an English one.</a:t>
            </a:r>
            <a:endParaRPr lang="en-US" sz="1200" dirty="0"/>
          </a:p>
        </p:txBody>
      </p:sp>
      <p:sp>
        <p:nvSpPr>
          <p:cNvPr id="19" name="Shape 17"/>
          <p:cNvSpPr/>
          <p:nvPr/>
        </p:nvSpPr>
        <p:spPr>
          <a:xfrm>
            <a:off x="566928" y="4846320"/>
            <a:ext cx="5852160" cy="1051560"/>
          </a:xfrm>
          <a:prstGeom prst="roundRect">
            <a:avLst>
              <a:gd name="adj" fmla="val 7826"/>
            </a:avLst>
          </a:prstGeom>
          <a:solidFill>
            <a:srgbClr val="FFFFFF"/>
          </a:solidFill>
          <a:ln/>
          <a:effectLst>
            <a:outerShdw sx="100000" sy="100000" kx="0" ky="0" algn="bl" rotWithShape="0" blurRad="127000" dist="25400" dir="5400000">
              <a:srgbClr val="8FA3B8">
                <a:alpha val="28000"/>
              </a:srgbClr>
            </a:outerShdw>
          </a:effectLst>
        </p:spPr>
      </p:sp>
      <p:sp>
        <p:nvSpPr>
          <p:cNvPr id="20" name="Shape 18"/>
          <p:cNvSpPr/>
          <p:nvPr/>
        </p:nvSpPr>
        <p:spPr>
          <a:xfrm>
            <a:off x="841248" y="5157216"/>
            <a:ext cx="402336" cy="402336"/>
          </a:xfrm>
          <a:prstGeom prst="ellipse">
            <a:avLst/>
          </a:prstGeom>
          <a:solidFill>
            <a:srgbClr val="FF6A2B"/>
          </a:solidFill>
          <a:ln/>
        </p:spPr>
      </p:sp>
      <p:sp>
        <p:nvSpPr>
          <p:cNvPr id="21" name="Text 19"/>
          <p:cNvSpPr/>
          <p:nvPr/>
        </p:nvSpPr>
        <p:spPr>
          <a:xfrm>
            <a:off x="841248" y="515721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1389888" y="4956048"/>
            <a:ext cx="4846320" cy="292608"/>
          </a:xfrm>
          <a:prstGeom prst="rect">
            <a:avLst/>
          </a:prstGeom>
          <a:noFill/>
          <a:ln/>
        </p:spPr>
        <p:txBody>
          <a:bodyPr wrap="square" lIns="0" tIns="0" rIns="0" bIns="0" rtlCol="0" anchor="t"/>
          <a:lstStyle/>
          <a:p>
            <a:pPr indent="0" marL="0">
              <a:buNone/>
            </a:pPr>
            <a:r>
              <a:rPr lang="en-US" sz="1500" b="1" dirty="0">
                <a:solidFill>
                  <a:srgbClr val="0F2742"/>
                </a:solidFill>
                <a:latin typeface="Calibri" pitchFamily="34" charset="0"/>
                <a:ea typeface="Calibri" pitchFamily="34" charset="-122"/>
                <a:cs typeface="Calibri" pitchFamily="34" charset="-120"/>
              </a:rPr>
              <a:t>It runs on their machines</a:t>
            </a:r>
            <a:endParaRPr lang="en-US" sz="1500" dirty="0"/>
          </a:p>
        </p:txBody>
      </p:sp>
      <p:sp>
        <p:nvSpPr>
          <p:cNvPr id="23" name="Text 21"/>
          <p:cNvSpPr/>
          <p:nvPr/>
        </p:nvSpPr>
        <p:spPr>
          <a:xfrm>
            <a:off x="1389888" y="5266944"/>
            <a:ext cx="4846320" cy="566928"/>
          </a:xfrm>
          <a:prstGeom prst="rect">
            <a:avLst/>
          </a:prstGeom>
          <a:noFill/>
          <a:ln/>
        </p:spPr>
        <p:txBody>
          <a:bodyPr wrap="square" lIns="0" tIns="0" rIns="0" bIns="0" rtlCol="0" anchor="t"/>
          <a:lstStyle/>
          <a:p>
            <a:pPr indent="0" marL="0">
              <a:buNone/>
            </a:pPr>
            <a:r>
              <a:rPr lang="en-US" sz="1200" dirty="0">
                <a:solidFill>
                  <a:srgbClr val="44566C"/>
                </a:solidFill>
                <a:latin typeface="Calibri" pitchFamily="34" charset="0"/>
                <a:ea typeface="Calibri" pitchFamily="34" charset="-122"/>
                <a:cs typeface="Calibri" pitchFamily="34" charset="-120"/>
              </a:rPr>
              <a:t>One docker-compose command. No screens leave the network, and no snapshot ceiling to plan around.</a:t>
            </a:r>
            <a:endParaRPr lang="en-US" sz="1200" dirty="0"/>
          </a:p>
        </p:txBody>
      </p:sp>
      <p:pic>
        <p:nvPicPr>
          <p:cNvPr id="24" name="Image 0" descr="/sessions/tender-wizardly-brahmagupta/mnt/outputs/img/triptych.png">    </p:cNvPr>
          <p:cNvPicPr>
            <a:picLocks noChangeAspect="1"/>
          </p:cNvPicPr>
          <p:nvPr/>
        </p:nvPicPr>
        <p:blipFill>
          <a:blip r:embed="rId1"/>
          <a:stretch>
            <a:fillRect/>
          </a:stretch>
        </p:blipFill>
        <p:spPr>
          <a:xfrm>
            <a:off x="6720840" y="1417320"/>
            <a:ext cx="4910328" cy="3191256"/>
          </a:xfrm>
          <a:prstGeom prst="rect">
            <a:avLst/>
          </a:prstGeom>
        </p:spPr>
      </p:pic>
      <p:sp>
        <p:nvSpPr>
          <p:cNvPr id="25" name="Text 22"/>
          <p:cNvSpPr/>
          <p:nvPr/>
        </p:nvSpPr>
        <p:spPr>
          <a:xfrm>
            <a:off x="6720840" y="4754880"/>
            <a:ext cx="4910328" cy="548640"/>
          </a:xfrm>
          <a:prstGeom prst="rect">
            <a:avLst/>
          </a:prstGeom>
          <a:noFill/>
          <a:ln/>
        </p:spPr>
        <p:txBody>
          <a:bodyPr wrap="square" lIns="0" tIns="0" rIns="0" bIns="0" rtlCol="0" anchor="ctr"/>
          <a:lstStyle/>
          <a:p>
            <a:pPr indent="0" marL="0">
              <a:buNone/>
            </a:pPr>
            <a:r>
              <a:rPr lang="en-US" sz="1150" i="1" dirty="0">
                <a:solidFill>
                  <a:srgbClr val="7A8DA0"/>
                </a:solidFill>
                <a:latin typeface="Calibri" pitchFamily="34" charset="0"/>
                <a:ea typeface="Calibri" pitchFamily="34" charset="-122"/>
                <a:cs typeface="Calibri" pitchFamily="34" charset="-120"/>
              </a:rPr>
              <a:t>What the client sees: the approved page, the page after a change, and the difference — already labelled.</a:t>
            </a:r>
            <a:endParaRPr lang="en-US" sz="1150" dirty="0"/>
          </a:p>
        </p:txBody>
      </p:sp>
      <p:sp>
        <p:nvSpPr>
          <p:cNvPr id="26" name="Text 23"/>
          <p:cNvSpPr/>
          <p:nvPr/>
        </p:nvSpPr>
        <p:spPr>
          <a:xfrm>
            <a:off x="566928" y="6144768"/>
            <a:ext cx="11064240" cy="411480"/>
          </a:xfrm>
          <a:prstGeom prst="rect">
            <a:avLst/>
          </a:prstGeom>
          <a:noFill/>
          <a:ln/>
        </p:spPr>
        <p:txBody>
          <a:bodyPr wrap="square" lIns="0" tIns="0" rIns="0" bIns="0" rtlCol="0" anchor="ctr"/>
          <a:lstStyle/>
          <a:p>
            <a:pPr indent="0" marL="0">
              <a:buNone/>
            </a:pPr>
            <a:r>
              <a:rPr lang="en-US" sz="1400" i="1" dirty="0">
                <a:solidFill>
                  <a:srgbClr val="0F2742"/>
                </a:solidFill>
                <a:latin typeface="Calibri" pitchFamily="34" charset="0"/>
                <a:ea typeface="Calibri" pitchFamily="34" charset="-122"/>
                <a:cs typeface="Calibri" pitchFamily="34" charset="-120"/>
              </a:rPr>
              <a:t>Half a day of manual checking becomes a list of named defects waiting for approval.</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4F9"/>
        </a:solidFill>
      </p:bgPr>
    </p:bg>
    <p:spTree>
      <p:nvGrpSpPr>
        <p:cNvPr id="1" name=""/>
        <p:cNvGrpSpPr/>
        <p:nvPr/>
      </p:nvGrpSpPr>
      <p:grpSpPr>
        <a:xfrm>
          <a:off x="0" y="0"/>
          <a:ext cx="0" cy="0"/>
          <a:chOff x="0" y="0"/>
          <a:chExt cx="0" cy="0"/>
        </a:xfrm>
      </p:grpSpPr>
      <p:sp>
        <p:nvSpPr>
          <p:cNvPr id="2" name="Text 0"/>
          <p:cNvSpPr/>
          <p:nvPr/>
        </p:nvSpPr>
        <p:spPr>
          <a:xfrm>
            <a:off x="594360" y="137160"/>
            <a:ext cx="8229600" cy="274320"/>
          </a:xfrm>
          <a:prstGeom prst="rect">
            <a:avLst/>
          </a:prstGeom>
          <a:noFill/>
          <a:ln/>
        </p:spPr>
        <p:txBody>
          <a:bodyPr wrap="square" lIns="0" tIns="0" rIns="0" bIns="0" rtlCol="0" anchor="ctr"/>
          <a:lstStyle/>
          <a:p>
            <a:pPr indent="0" marL="0">
              <a:buNone/>
            </a:pPr>
            <a:r>
              <a:rPr lang="en-US" sz="1150" b="1" spc="220" kern="0" dirty="0">
                <a:solidFill>
                  <a:srgbClr val="FF6A2B"/>
                </a:solidFill>
                <a:latin typeface="Calibri" pitchFamily="34" charset="0"/>
                <a:ea typeface="Calibri" pitchFamily="34" charset="-122"/>
                <a:cs typeface="Calibri" pitchFamily="34" charset="-120"/>
              </a:rPr>
              <a:t>MARKETING MIX</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200" b="1" dirty="0">
                <a:solidFill>
                  <a:srgbClr val="0F2742"/>
                </a:solidFill>
                <a:latin typeface="Cambria" pitchFamily="34" charset="0"/>
                <a:ea typeface="Cambria" pitchFamily="34" charset="-122"/>
                <a:cs typeface="Cambria" pitchFamily="34" charset="-120"/>
              </a:rPr>
              <a:t>Seven Ps, aimed at one buyer</a:t>
            </a:r>
            <a:endParaRPr lang="en-US" sz="3200" dirty="0"/>
          </a:p>
        </p:txBody>
      </p:sp>
      <p:sp>
        <p:nvSpPr>
          <p:cNvPr id="4" name="Shape 2"/>
          <p:cNvSpPr/>
          <p:nvPr/>
        </p:nvSpPr>
        <p:spPr>
          <a:xfrm>
            <a:off x="493776" y="1463040"/>
            <a:ext cx="2615184" cy="1828800"/>
          </a:xfrm>
          <a:prstGeom prst="roundRect">
            <a:avLst>
              <a:gd name="adj" fmla="val 4500"/>
            </a:avLst>
          </a:prstGeom>
          <a:solidFill>
            <a:srgbClr val="FFFFFF"/>
          </a:solidFill>
          <a:ln/>
          <a:effectLst>
            <a:outerShdw sx="100000" sy="100000" kx="0" ky="0" algn="bl" rotWithShape="0" blurRad="127000" dist="25400" dir="5400000">
              <a:srgbClr val="8FA3B8">
                <a:alpha val="28000"/>
              </a:srgbClr>
            </a:outerShdw>
          </a:effectLst>
        </p:spPr>
      </p:sp>
      <p:sp>
        <p:nvSpPr>
          <p:cNvPr id="5" name="Text 3"/>
          <p:cNvSpPr/>
          <p:nvPr/>
        </p:nvSpPr>
        <p:spPr>
          <a:xfrm>
            <a:off x="694944" y="1627632"/>
            <a:ext cx="2212848" cy="320040"/>
          </a:xfrm>
          <a:prstGeom prst="rect">
            <a:avLst/>
          </a:prstGeom>
          <a:noFill/>
          <a:ln/>
        </p:spPr>
        <p:txBody>
          <a:bodyPr wrap="square" lIns="0" tIns="0" rIns="0" bIns="0" rtlCol="0" anchor="ctr"/>
          <a:lstStyle/>
          <a:p>
            <a:pPr indent="0" marL="0">
              <a:buNone/>
            </a:pPr>
            <a:r>
              <a:rPr lang="en-US" sz="1450" b="1" dirty="0">
                <a:solidFill>
                  <a:srgbClr val="FF6A2B"/>
                </a:solidFill>
                <a:latin typeface="Calibri" pitchFamily="34" charset="0"/>
                <a:ea typeface="Calibri" pitchFamily="34" charset="-122"/>
                <a:cs typeface="Calibri" pitchFamily="34" charset="-120"/>
              </a:rPr>
              <a:t>Product</a:t>
            </a:r>
            <a:endParaRPr lang="en-US" sz="1450" dirty="0"/>
          </a:p>
        </p:txBody>
      </p:sp>
      <p:sp>
        <p:nvSpPr>
          <p:cNvPr id="6" name="Text 4"/>
          <p:cNvSpPr/>
          <p:nvPr/>
        </p:nvSpPr>
        <p:spPr>
          <a:xfrm>
            <a:off x="694944" y="2011680"/>
            <a:ext cx="2212848" cy="1188720"/>
          </a:xfrm>
          <a:prstGeom prst="rect">
            <a:avLst/>
          </a:prstGeom>
          <a:noFill/>
          <a:ln/>
        </p:spPr>
        <p:txBody>
          <a:bodyPr wrap="square" lIns="0" tIns="0" rIns="0" bIns="0" rtlCol="0" anchor="t"/>
          <a:lstStyle/>
          <a:p>
            <a:pPr indent="0" marL="0">
              <a:buNone/>
            </a:pPr>
            <a:r>
              <a:rPr lang="en-US" sz="1100" dirty="0">
                <a:solidFill>
                  <a:srgbClr val="44566C"/>
                </a:solidFill>
                <a:latin typeface="Calibri" pitchFamily="34" charset="0"/>
                <a:ea typeface="Calibri" pitchFamily="34" charset="-122"/>
                <a:cs typeface="Calibri" pitchFamily="34" charset="-120"/>
              </a:rPr>
              <a:t>A self-hosted platform, not a library: capture, classify, review, approve. The Playwright SDK is the wedge — one line in a suite they already have.</a:t>
            </a:r>
            <a:endParaRPr lang="en-US" sz="1100" dirty="0"/>
          </a:p>
        </p:txBody>
      </p:sp>
      <p:sp>
        <p:nvSpPr>
          <p:cNvPr id="7" name="Shape 5"/>
          <p:cNvSpPr/>
          <p:nvPr/>
        </p:nvSpPr>
        <p:spPr>
          <a:xfrm>
            <a:off x="3355848" y="1463040"/>
            <a:ext cx="2615184" cy="1828800"/>
          </a:xfrm>
          <a:prstGeom prst="roundRect">
            <a:avLst>
              <a:gd name="adj" fmla="val 4500"/>
            </a:avLst>
          </a:prstGeom>
          <a:solidFill>
            <a:srgbClr val="FFFFFF"/>
          </a:solidFill>
          <a:ln/>
          <a:effectLst>
            <a:outerShdw sx="100000" sy="100000" kx="0" ky="0" algn="bl" rotWithShape="0" blurRad="127000" dist="25400" dir="5400000">
              <a:srgbClr val="8FA3B8">
                <a:alpha val="28000"/>
              </a:srgbClr>
            </a:outerShdw>
          </a:effectLst>
        </p:spPr>
      </p:sp>
      <p:sp>
        <p:nvSpPr>
          <p:cNvPr id="8" name="Text 6"/>
          <p:cNvSpPr/>
          <p:nvPr/>
        </p:nvSpPr>
        <p:spPr>
          <a:xfrm>
            <a:off x="3557016" y="1627632"/>
            <a:ext cx="2212848" cy="320040"/>
          </a:xfrm>
          <a:prstGeom prst="rect">
            <a:avLst/>
          </a:prstGeom>
          <a:noFill/>
          <a:ln/>
        </p:spPr>
        <p:txBody>
          <a:bodyPr wrap="square" lIns="0" tIns="0" rIns="0" bIns="0" rtlCol="0" anchor="ctr"/>
          <a:lstStyle/>
          <a:p>
            <a:pPr indent="0" marL="0">
              <a:buNone/>
            </a:pPr>
            <a:r>
              <a:rPr lang="en-US" sz="1450" b="1" dirty="0">
                <a:solidFill>
                  <a:srgbClr val="FF6A2B"/>
                </a:solidFill>
                <a:latin typeface="Calibri" pitchFamily="34" charset="0"/>
                <a:ea typeface="Calibri" pitchFamily="34" charset="-122"/>
                <a:cs typeface="Calibri" pitchFamily="34" charset="-120"/>
              </a:rPr>
              <a:t>Price</a:t>
            </a:r>
            <a:endParaRPr lang="en-US" sz="1450" dirty="0"/>
          </a:p>
        </p:txBody>
      </p:sp>
      <p:sp>
        <p:nvSpPr>
          <p:cNvPr id="9" name="Text 7"/>
          <p:cNvSpPr/>
          <p:nvPr/>
        </p:nvSpPr>
        <p:spPr>
          <a:xfrm>
            <a:off x="3557016" y="2011680"/>
            <a:ext cx="2212848" cy="1188720"/>
          </a:xfrm>
          <a:prstGeom prst="rect">
            <a:avLst/>
          </a:prstGeom>
          <a:noFill/>
          <a:ln/>
        </p:spPr>
        <p:txBody>
          <a:bodyPr wrap="square" lIns="0" tIns="0" rIns="0" bIns="0" rtlCol="0" anchor="t"/>
          <a:lstStyle/>
          <a:p>
            <a:pPr indent="0" marL="0">
              <a:buNone/>
            </a:pPr>
            <a:r>
              <a:rPr lang="en-US" sz="1100" dirty="0">
                <a:solidFill>
                  <a:srgbClr val="44566C"/>
                </a:solidFill>
                <a:latin typeface="Calibri" pitchFamily="34" charset="0"/>
                <a:ea typeface="Calibri" pitchFamily="34" charset="-122"/>
                <a:cs typeface="Calibri" pitchFamily="34" charset="-120"/>
              </a:rPr>
              <a:t>Free and self-hosted. They pay for their own compute, so the bill does not grow with snapshot volume — which is exactly the cost that made them look.</a:t>
            </a:r>
            <a:endParaRPr lang="en-US" sz="1100" dirty="0"/>
          </a:p>
        </p:txBody>
      </p:sp>
      <p:sp>
        <p:nvSpPr>
          <p:cNvPr id="10" name="Shape 8"/>
          <p:cNvSpPr/>
          <p:nvPr/>
        </p:nvSpPr>
        <p:spPr>
          <a:xfrm>
            <a:off x="6217920" y="1463040"/>
            <a:ext cx="2615184" cy="1828800"/>
          </a:xfrm>
          <a:prstGeom prst="roundRect">
            <a:avLst>
              <a:gd name="adj" fmla="val 4500"/>
            </a:avLst>
          </a:prstGeom>
          <a:solidFill>
            <a:srgbClr val="FFFFFF"/>
          </a:solidFill>
          <a:ln/>
          <a:effectLst>
            <a:outerShdw sx="100000" sy="100000" kx="0" ky="0" algn="bl" rotWithShape="0" blurRad="127000" dist="25400" dir="5400000">
              <a:srgbClr val="8FA3B8">
                <a:alpha val="28000"/>
              </a:srgbClr>
            </a:outerShdw>
          </a:effectLst>
        </p:spPr>
      </p:sp>
      <p:sp>
        <p:nvSpPr>
          <p:cNvPr id="11" name="Text 9"/>
          <p:cNvSpPr/>
          <p:nvPr/>
        </p:nvSpPr>
        <p:spPr>
          <a:xfrm>
            <a:off x="6419088" y="1627632"/>
            <a:ext cx="2212848" cy="320040"/>
          </a:xfrm>
          <a:prstGeom prst="rect">
            <a:avLst/>
          </a:prstGeom>
          <a:noFill/>
          <a:ln/>
        </p:spPr>
        <p:txBody>
          <a:bodyPr wrap="square" lIns="0" tIns="0" rIns="0" bIns="0" rtlCol="0" anchor="ctr"/>
          <a:lstStyle/>
          <a:p>
            <a:pPr indent="0" marL="0">
              <a:buNone/>
            </a:pPr>
            <a:r>
              <a:rPr lang="en-US" sz="1450" b="1" dirty="0">
                <a:solidFill>
                  <a:srgbClr val="FF6A2B"/>
                </a:solidFill>
                <a:latin typeface="Calibri" pitchFamily="34" charset="0"/>
                <a:ea typeface="Calibri" pitchFamily="34" charset="-122"/>
                <a:cs typeface="Calibri" pitchFamily="34" charset="-120"/>
              </a:rPr>
              <a:t>Place</a:t>
            </a:r>
            <a:endParaRPr lang="en-US" sz="1450" dirty="0"/>
          </a:p>
        </p:txBody>
      </p:sp>
      <p:sp>
        <p:nvSpPr>
          <p:cNvPr id="12" name="Text 10"/>
          <p:cNvSpPr/>
          <p:nvPr/>
        </p:nvSpPr>
        <p:spPr>
          <a:xfrm>
            <a:off x="6419088" y="2011680"/>
            <a:ext cx="2212848" cy="1188720"/>
          </a:xfrm>
          <a:prstGeom prst="rect">
            <a:avLst/>
          </a:prstGeom>
          <a:noFill/>
          <a:ln/>
        </p:spPr>
        <p:txBody>
          <a:bodyPr wrap="square" lIns="0" tIns="0" rIns="0" bIns="0" rtlCol="0" anchor="t"/>
          <a:lstStyle/>
          <a:p>
            <a:pPr indent="0" marL="0">
              <a:buNone/>
            </a:pPr>
            <a:r>
              <a:rPr lang="en-US" sz="1100" dirty="0">
                <a:solidFill>
                  <a:srgbClr val="44566C"/>
                </a:solidFill>
                <a:latin typeface="Calibri" pitchFamily="34" charset="0"/>
                <a:ea typeface="Calibri" pitchFamily="34" charset="-122"/>
                <a:cs typeface="Calibri" pitchFamily="34" charset="-120"/>
              </a:rPr>
              <a:t>GitHub repository and a Docker image. `docker-compose up` and a GitHub Actions template; no procurement, no sales call.</a:t>
            </a:r>
            <a:endParaRPr lang="en-US" sz="1100" dirty="0"/>
          </a:p>
        </p:txBody>
      </p:sp>
      <p:sp>
        <p:nvSpPr>
          <p:cNvPr id="13" name="Shape 11"/>
          <p:cNvSpPr/>
          <p:nvPr/>
        </p:nvSpPr>
        <p:spPr>
          <a:xfrm>
            <a:off x="9079992" y="1463040"/>
            <a:ext cx="2615184" cy="1828800"/>
          </a:xfrm>
          <a:prstGeom prst="roundRect">
            <a:avLst>
              <a:gd name="adj" fmla="val 4500"/>
            </a:avLst>
          </a:prstGeom>
          <a:solidFill>
            <a:srgbClr val="FFFFFF"/>
          </a:solidFill>
          <a:ln/>
          <a:effectLst>
            <a:outerShdw sx="100000" sy="100000" kx="0" ky="0" algn="bl" rotWithShape="0" blurRad="127000" dist="25400" dir="5400000">
              <a:srgbClr val="8FA3B8">
                <a:alpha val="28000"/>
              </a:srgbClr>
            </a:outerShdw>
          </a:effectLst>
        </p:spPr>
      </p:sp>
      <p:sp>
        <p:nvSpPr>
          <p:cNvPr id="14" name="Text 12"/>
          <p:cNvSpPr/>
          <p:nvPr/>
        </p:nvSpPr>
        <p:spPr>
          <a:xfrm>
            <a:off x="9281160" y="1627632"/>
            <a:ext cx="2212848" cy="320040"/>
          </a:xfrm>
          <a:prstGeom prst="rect">
            <a:avLst/>
          </a:prstGeom>
          <a:noFill/>
          <a:ln/>
        </p:spPr>
        <p:txBody>
          <a:bodyPr wrap="square" lIns="0" tIns="0" rIns="0" bIns="0" rtlCol="0" anchor="ctr"/>
          <a:lstStyle/>
          <a:p>
            <a:pPr indent="0" marL="0">
              <a:buNone/>
            </a:pPr>
            <a:r>
              <a:rPr lang="en-US" sz="1450" b="1" dirty="0">
                <a:solidFill>
                  <a:srgbClr val="FF6A2B"/>
                </a:solidFill>
                <a:latin typeface="Calibri" pitchFamily="34" charset="0"/>
                <a:ea typeface="Calibri" pitchFamily="34" charset="-122"/>
                <a:cs typeface="Calibri" pitchFamily="34" charset="-120"/>
              </a:rPr>
              <a:t>Promotion</a:t>
            </a:r>
            <a:endParaRPr lang="en-US" sz="1450" dirty="0"/>
          </a:p>
        </p:txBody>
      </p:sp>
      <p:sp>
        <p:nvSpPr>
          <p:cNvPr id="15" name="Text 13"/>
          <p:cNvSpPr/>
          <p:nvPr/>
        </p:nvSpPr>
        <p:spPr>
          <a:xfrm>
            <a:off x="9281160" y="2011680"/>
            <a:ext cx="2212848" cy="1188720"/>
          </a:xfrm>
          <a:prstGeom prst="rect">
            <a:avLst/>
          </a:prstGeom>
          <a:noFill/>
          <a:ln/>
        </p:spPr>
        <p:txBody>
          <a:bodyPr wrap="square" lIns="0" tIns="0" rIns="0" bIns="0" rtlCol="0" anchor="t"/>
          <a:lstStyle/>
          <a:p>
            <a:pPr indent="0" marL="0">
              <a:buNone/>
            </a:pPr>
            <a:r>
              <a:rPr lang="en-US" sz="1100" dirty="0">
                <a:solidFill>
                  <a:srgbClr val="44566C"/>
                </a:solidFill>
                <a:latin typeface="Calibri" pitchFamily="34" charset="0"/>
                <a:ea typeface="Calibri" pitchFamily="34" charset="-122"/>
                <a:cs typeface="Calibri" pitchFamily="34" charset="-120"/>
              </a:rPr>
              <a:t>Developer-led. The ablation write-up is the lead content, the reproducible 81/81 benchmark is the proof, and a side-by-side page against Percy is the landing page.</a:t>
            </a:r>
            <a:endParaRPr lang="en-US" sz="1100" dirty="0"/>
          </a:p>
        </p:txBody>
      </p:sp>
      <p:sp>
        <p:nvSpPr>
          <p:cNvPr id="16" name="Shape 14"/>
          <p:cNvSpPr/>
          <p:nvPr/>
        </p:nvSpPr>
        <p:spPr>
          <a:xfrm>
            <a:off x="493776" y="3566160"/>
            <a:ext cx="2615184" cy="1828800"/>
          </a:xfrm>
          <a:prstGeom prst="roundRect">
            <a:avLst>
              <a:gd name="adj" fmla="val 4500"/>
            </a:avLst>
          </a:prstGeom>
          <a:solidFill>
            <a:srgbClr val="FFFFFF"/>
          </a:solidFill>
          <a:ln/>
          <a:effectLst>
            <a:outerShdw sx="100000" sy="100000" kx="0" ky="0" algn="bl" rotWithShape="0" blurRad="127000" dist="25400" dir="5400000">
              <a:srgbClr val="8FA3B8">
                <a:alpha val="28000"/>
              </a:srgbClr>
            </a:outerShdw>
          </a:effectLst>
        </p:spPr>
      </p:sp>
      <p:sp>
        <p:nvSpPr>
          <p:cNvPr id="17" name="Text 15"/>
          <p:cNvSpPr/>
          <p:nvPr/>
        </p:nvSpPr>
        <p:spPr>
          <a:xfrm>
            <a:off x="694944" y="3730752"/>
            <a:ext cx="2212848" cy="320040"/>
          </a:xfrm>
          <a:prstGeom prst="rect">
            <a:avLst/>
          </a:prstGeom>
          <a:noFill/>
          <a:ln/>
        </p:spPr>
        <p:txBody>
          <a:bodyPr wrap="square" lIns="0" tIns="0" rIns="0" bIns="0" rtlCol="0" anchor="ctr"/>
          <a:lstStyle/>
          <a:p>
            <a:pPr indent="0" marL="0">
              <a:buNone/>
            </a:pPr>
            <a:r>
              <a:rPr lang="en-US" sz="1450" b="1" dirty="0">
                <a:solidFill>
                  <a:srgbClr val="FF6A2B"/>
                </a:solidFill>
                <a:latin typeface="Calibri" pitchFamily="34" charset="0"/>
                <a:ea typeface="Calibri" pitchFamily="34" charset="-122"/>
                <a:cs typeface="Calibri" pitchFamily="34" charset="-120"/>
              </a:rPr>
              <a:t>People</a:t>
            </a:r>
            <a:endParaRPr lang="en-US" sz="1450" dirty="0"/>
          </a:p>
        </p:txBody>
      </p:sp>
      <p:sp>
        <p:nvSpPr>
          <p:cNvPr id="18" name="Text 16"/>
          <p:cNvSpPr/>
          <p:nvPr/>
        </p:nvSpPr>
        <p:spPr>
          <a:xfrm>
            <a:off x="694944" y="4114800"/>
            <a:ext cx="2212848" cy="1188720"/>
          </a:xfrm>
          <a:prstGeom prst="rect">
            <a:avLst/>
          </a:prstGeom>
          <a:noFill/>
          <a:ln/>
        </p:spPr>
        <p:txBody>
          <a:bodyPr wrap="square" lIns="0" tIns="0" rIns="0" bIns="0" rtlCol="0" anchor="t"/>
          <a:lstStyle/>
          <a:p>
            <a:pPr indent="0" marL="0">
              <a:buNone/>
            </a:pPr>
            <a:r>
              <a:rPr lang="en-US" sz="1100" dirty="0">
                <a:solidFill>
                  <a:srgbClr val="44566C"/>
                </a:solidFill>
                <a:latin typeface="Calibri" pitchFamily="34" charset="0"/>
                <a:ea typeface="Calibri" pitchFamily="34" charset="-122"/>
                <a:cs typeface="Calibri" pitchFamily="34" charset="-120"/>
              </a:rPr>
              <a:t>One maintainer, so the docs and the decision records do first-line support. Issues are triaged in public where the answers stay searchable.</a:t>
            </a:r>
            <a:endParaRPr lang="en-US" sz="1100" dirty="0"/>
          </a:p>
        </p:txBody>
      </p:sp>
      <p:sp>
        <p:nvSpPr>
          <p:cNvPr id="19" name="Shape 17"/>
          <p:cNvSpPr/>
          <p:nvPr/>
        </p:nvSpPr>
        <p:spPr>
          <a:xfrm>
            <a:off x="3355848" y="3566160"/>
            <a:ext cx="2615184" cy="1828800"/>
          </a:xfrm>
          <a:prstGeom prst="roundRect">
            <a:avLst>
              <a:gd name="adj" fmla="val 4500"/>
            </a:avLst>
          </a:prstGeom>
          <a:solidFill>
            <a:srgbClr val="FFFFFF"/>
          </a:solidFill>
          <a:ln/>
          <a:effectLst>
            <a:outerShdw sx="100000" sy="100000" kx="0" ky="0" algn="bl" rotWithShape="0" blurRad="127000" dist="25400" dir="5400000">
              <a:srgbClr val="8FA3B8">
                <a:alpha val="28000"/>
              </a:srgbClr>
            </a:outerShdw>
          </a:effectLst>
        </p:spPr>
      </p:sp>
      <p:sp>
        <p:nvSpPr>
          <p:cNvPr id="20" name="Text 18"/>
          <p:cNvSpPr/>
          <p:nvPr/>
        </p:nvSpPr>
        <p:spPr>
          <a:xfrm>
            <a:off x="3557016" y="3730752"/>
            <a:ext cx="2212848" cy="320040"/>
          </a:xfrm>
          <a:prstGeom prst="rect">
            <a:avLst/>
          </a:prstGeom>
          <a:noFill/>
          <a:ln/>
        </p:spPr>
        <p:txBody>
          <a:bodyPr wrap="square" lIns="0" tIns="0" rIns="0" bIns="0" rtlCol="0" anchor="ctr"/>
          <a:lstStyle/>
          <a:p>
            <a:pPr indent="0" marL="0">
              <a:buNone/>
            </a:pPr>
            <a:r>
              <a:rPr lang="en-US" sz="1450" b="1" dirty="0">
                <a:solidFill>
                  <a:srgbClr val="FF6A2B"/>
                </a:solidFill>
                <a:latin typeface="Calibri" pitchFamily="34" charset="0"/>
                <a:ea typeface="Calibri" pitchFamily="34" charset="-122"/>
                <a:cs typeface="Calibri" pitchFamily="34" charset="-120"/>
              </a:rPr>
              <a:t>Process</a:t>
            </a:r>
            <a:endParaRPr lang="en-US" sz="1450" dirty="0"/>
          </a:p>
        </p:txBody>
      </p:sp>
      <p:sp>
        <p:nvSpPr>
          <p:cNvPr id="21" name="Text 19"/>
          <p:cNvSpPr/>
          <p:nvPr/>
        </p:nvSpPr>
        <p:spPr>
          <a:xfrm>
            <a:off x="3557016" y="4114800"/>
            <a:ext cx="2212848" cy="1188720"/>
          </a:xfrm>
          <a:prstGeom prst="rect">
            <a:avLst/>
          </a:prstGeom>
          <a:noFill/>
          <a:ln/>
        </p:spPr>
        <p:txBody>
          <a:bodyPr wrap="square" lIns="0" tIns="0" rIns="0" bIns="0" rtlCol="0" anchor="t"/>
          <a:lstStyle/>
          <a:p>
            <a:pPr indent="0" marL="0">
              <a:buNone/>
            </a:pPr>
            <a:r>
              <a:rPr lang="en-US" sz="1100" dirty="0">
                <a:solidFill>
                  <a:srgbClr val="44566C"/>
                </a:solidFill>
                <a:latin typeface="Calibri" pitchFamily="34" charset="0"/>
                <a:ea typeface="Calibri" pitchFamily="34" charset="-122"/>
                <a:cs typeface="Calibri" pitchFamily="34" charset="-120"/>
              </a:rPr>
              <a:t>Fifteen minutes to first result: install, capture baselines, gate the next pull request, review in the dashboard, approve — and the approval writes back to the report.</a:t>
            </a:r>
            <a:endParaRPr lang="en-US" sz="1100" dirty="0"/>
          </a:p>
        </p:txBody>
      </p:sp>
      <p:sp>
        <p:nvSpPr>
          <p:cNvPr id="22" name="Shape 20"/>
          <p:cNvSpPr/>
          <p:nvPr/>
        </p:nvSpPr>
        <p:spPr>
          <a:xfrm>
            <a:off x="6217920" y="3566160"/>
            <a:ext cx="2615184" cy="1828800"/>
          </a:xfrm>
          <a:prstGeom prst="roundRect">
            <a:avLst>
              <a:gd name="adj" fmla="val 4500"/>
            </a:avLst>
          </a:prstGeom>
          <a:solidFill>
            <a:srgbClr val="FFFFFF"/>
          </a:solidFill>
          <a:ln/>
          <a:effectLst>
            <a:outerShdw sx="100000" sy="100000" kx="0" ky="0" algn="bl" rotWithShape="0" blurRad="127000" dist="25400" dir="5400000">
              <a:srgbClr val="8FA3B8">
                <a:alpha val="28000"/>
              </a:srgbClr>
            </a:outerShdw>
          </a:effectLst>
        </p:spPr>
      </p:sp>
      <p:sp>
        <p:nvSpPr>
          <p:cNvPr id="23" name="Text 21"/>
          <p:cNvSpPr/>
          <p:nvPr/>
        </p:nvSpPr>
        <p:spPr>
          <a:xfrm>
            <a:off x="6419088" y="3730752"/>
            <a:ext cx="2212848" cy="320040"/>
          </a:xfrm>
          <a:prstGeom prst="rect">
            <a:avLst/>
          </a:prstGeom>
          <a:noFill/>
          <a:ln/>
        </p:spPr>
        <p:txBody>
          <a:bodyPr wrap="square" lIns="0" tIns="0" rIns="0" bIns="0" rtlCol="0" anchor="ctr"/>
          <a:lstStyle/>
          <a:p>
            <a:pPr indent="0" marL="0">
              <a:buNone/>
            </a:pPr>
            <a:r>
              <a:rPr lang="en-US" sz="1450" b="1" dirty="0">
                <a:solidFill>
                  <a:srgbClr val="FF6A2B"/>
                </a:solidFill>
                <a:latin typeface="Calibri" pitchFamily="34" charset="0"/>
                <a:ea typeface="Calibri" pitchFamily="34" charset="-122"/>
                <a:cs typeface="Calibri" pitchFamily="34" charset="-120"/>
              </a:rPr>
              <a:t>Physical evidence</a:t>
            </a:r>
            <a:endParaRPr lang="en-US" sz="1450" dirty="0"/>
          </a:p>
        </p:txBody>
      </p:sp>
      <p:sp>
        <p:nvSpPr>
          <p:cNvPr id="24" name="Text 22"/>
          <p:cNvSpPr/>
          <p:nvPr/>
        </p:nvSpPr>
        <p:spPr>
          <a:xfrm>
            <a:off x="6419088" y="4114800"/>
            <a:ext cx="2212848" cy="1188720"/>
          </a:xfrm>
          <a:prstGeom prst="rect">
            <a:avLst/>
          </a:prstGeom>
          <a:noFill/>
          <a:ln/>
        </p:spPr>
        <p:txBody>
          <a:bodyPr wrap="square" lIns="0" tIns="0" rIns="0" bIns="0" rtlCol="0" anchor="t"/>
          <a:lstStyle/>
          <a:p>
            <a:pPr indent="0" marL="0">
              <a:buNone/>
            </a:pPr>
            <a:r>
              <a:rPr lang="en-US" sz="1100" dirty="0">
                <a:solidFill>
                  <a:srgbClr val="44566C"/>
                </a:solidFill>
                <a:latin typeface="Calibri" pitchFamily="34" charset="0"/>
                <a:ea typeface="Calibri" pitchFamily="34" charset="-122"/>
                <a:cs typeface="Calibri" pitchFamily="34" charset="-120"/>
              </a:rPr>
              <a:t>A public CI badge, a benchmark anyone can re-run, a live demo portal, and a standalone HTML report for every run.</a:t>
            </a:r>
            <a:endParaRPr lang="en-US" sz="1100" dirty="0"/>
          </a:p>
        </p:txBody>
      </p:sp>
      <p:sp>
        <p:nvSpPr>
          <p:cNvPr id="25" name="Text 23"/>
          <p:cNvSpPr/>
          <p:nvPr/>
        </p:nvSpPr>
        <p:spPr>
          <a:xfrm>
            <a:off x="493776" y="5715000"/>
            <a:ext cx="11155680" cy="411480"/>
          </a:xfrm>
          <a:prstGeom prst="rect">
            <a:avLst/>
          </a:prstGeom>
          <a:noFill/>
          <a:ln/>
        </p:spPr>
        <p:txBody>
          <a:bodyPr wrap="square" lIns="0" tIns="0" rIns="0" bIns="0" rtlCol="0" anchor="ctr"/>
          <a:lstStyle/>
          <a:p>
            <a:pPr indent="0" marL="0">
              <a:buNone/>
            </a:pPr>
            <a:r>
              <a:rPr lang="en-US" sz="1350" i="1" dirty="0">
                <a:solidFill>
                  <a:srgbClr val="0F2742"/>
                </a:solidFill>
                <a:latin typeface="Calibri" pitchFamily="34" charset="0"/>
                <a:ea typeface="Calibri" pitchFamily="34" charset="-122"/>
                <a:cs typeface="Calibri" pitchFamily="34" charset="-120"/>
              </a:rPr>
              <a:t>Every P is answered by something that already exists in the repository — not by a plan for one.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1A2B"/>
        </a:solidFill>
      </p:bgPr>
    </p:bg>
    <p:spTree>
      <p:nvGrpSpPr>
        <p:cNvPr id="1" name=""/>
        <p:cNvGrpSpPr/>
        <p:nvPr/>
      </p:nvGrpSpPr>
      <p:grpSpPr>
        <a:xfrm>
          <a:off x="0" y="0"/>
          <a:ext cx="0" cy="0"/>
          <a:chOff x="0" y="0"/>
          <a:chExt cx="0" cy="0"/>
        </a:xfrm>
      </p:grpSpPr>
      <p:sp>
        <p:nvSpPr>
          <p:cNvPr id="2" name="Shape 0"/>
          <p:cNvSpPr/>
          <p:nvPr/>
        </p:nvSpPr>
        <p:spPr>
          <a:xfrm>
            <a:off x="685800" y="2468880"/>
            <a:ext cx="1783080" cy="329184"/>
          </a:xfrm>
          <a:prstGeom prst="roundRect">
            <a:avLst>
              <a:gd name="adj" fmla="val 50000"/>
            </a:avLst>
          </a:prstGeom>
          <a:solidFill>
            <a:srgbClr val="FF6A2B"/>
          </a:solidFill>
          <a:ln/>
        </p:spPr>
      </p:sp>
      <p:sp>
        <p:nvSpPr>
          <p:cNvPr id="3" name="Text 1"/>
          <p:cNvSpPr/>
          <p:nvPr/>
        </p:nvSpPr>
        <p:spPr>
          <a:xfrm>
            <a:off x="685800" y="2468880"/>
            <a:ext cx="1783080" cy="329184"/>
          </a:xfrm>
          <a:prstGeom prst="rect">
            <a:avLst/>
          </a:prstGeom>
          <a:noFill/>
          <a:ln/>
        </p:spPr>
        <p:txBody>
          <a:bodyPr wrap="square" lIns="0" tIns="0" rIns="0" bIns="0" rtlCol="0" anchor="ctr"/>
          <a:lstStyle/>
          <a:p>
            <a:pPr algn="ctr" indent="0" marL="0">
              <a:buNone/>
            </a:pPr>
            <a:r>
              <a:rPr lang="en-US" sz="1050" b="1" spc="140" kern="0" dirty="0">
                <a:solidFill>
                  <a:srgbClr val="FFFFFF"/>
                </a:solidFill>
                <a:latin typeface="Calibri" pitchFamily="34" charset="0"/>
                <a:ea typeface="Calibri" pitchFamily="34" charset="-122"/>
                <a:cs typeface="Calibri" pitchFamily="34" charset="-120"/>
              </a:rPr>
              <a:t>PART TWO</a:t>
            </a:r>
            <a:endParaRPr lang="en-US" sz="1050" dirty="0"/>
          </a:p>
        </p:txBody>
      </p:sp>
      <p:sp>
        <p:nvSpPr>
          <p:cNvPr id="4" name="Text 2"/>
          <p:cNvSpPr/>
          <p:nvPr/>
        </p:nvSpPr>
        <p:spPr>
          <a:xfrm>
            <a:off x="658368" y="3017520"/>
            <a:ext cx="77724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How it was built</a:t>
            </a:r>
            <a:endParaRPr lang="en-US" sz="4000" dirty="0"/>
          </a:p>
        </p:txBody>
      </p:sp>
      <p:sp>
        <p:nvSpPr>
          <p:cNvPr id="5" name="Text 3"/>
          <p:cNvSpPr/>
          <p:nvPr/>
        </p:nvSpPr>
        <p:spPr>
          <a:xfrm>
            <a:off x="685800" y="3977640"/>
            <a:ext cx="6949440" cy="731520"/>
          </a:xfrm>
          <a:prstGeom prst="rect">
            <a:avLst/>
          </a:prstGeom>
          <a:noFill/>
          <a:ln/>
        </p:spPr>
        <p:txBody>
          <a:bodyPr wrap="square" lIns="0" tIns="0" rIns="0" bIns="0" rtlCol="0" anchor="ctr"/>
          <a:lstStyle/>
          <a:p>
            <a:pPr indent="0" marL="0">
              <a:buNone/>
            </a:pPr>
            <a:r>
              <a:rPr lang="en-US" sz="1550" dirty="0">
                <a:solidFill>
                  <a:srgbClr val="AFC3D8"/>
                </a:solidFill>
                <a:latin typeface="Calibri" pitchFamily="34" charset="0"/>
                <a:ea typeface="Calibri" pitchFamily="34" charset="-122"/>
                <a:cs typeface="Calibri" pitchFamily="34" charset="-120"/>
              </a:rPr>
              <a:t>Technologies and the reason each one is there, the development process, the code, and the evidence that it works.</a:t>
            </a:r>
            <a:endParaRPr lang="en-US" sz="1550" dirty="0"/>
          </a:p>
        </p:txBody>
      </p:sp>
      <p:sp>
        <p:nvSpPr>
          <p:cNvPr id="6" name="Shape 4"/>
          <p:cNvSpPr/>
          <p:nvPr/>
        </p:nvSpPr>
        <p:spPr>
          <a:xfrm>
            <a:off x="685800" y="5029200"/>
            <a:ext cx="1508760" cy="402336"/>
          </a:xfrm>
          <a:prstGeom prst="roundRect">
            <a:avLst>
              <a:gd name="adj" fmla="val 50000"/>
            </a:avLst>
          </a:prstGeom>
          <a:solidFill>
            <a:srgbClr val="12293F"/>
          </a:solidFill>
          <a:ln/>
        </p:spPr>
      </p:sp>
      <p:sp>
        <p:nvSpPr>
          <p:cNvPr id="7" name="Text 5"/>
          <p:cNvSpPr/>
          <p:nvPr/>
        </p:nvSpPr>
        <p:spPr>
          <a:xfrm>
            <a:off x="685800" y="5029200"/>
            <a:ext cx="1508760" cy="402336"/>
          </a:xfrm>
          <a:prstGeom prst="rect">
            <a:avLst/>
          </a:prstGeom>
          <a:noFill/>
          <a:ln/>
        </p:spPr>
        <p:txBody>
          <a:bodyPr wrap="square" lIns="0" tIns="0" rIns="0" bIns="0" rtlCol="0" anchor="ctr"/>
          <a:lstStyle/>
          <a:p>
            <a:pPr algn="ctr" indent="0" marL="0">
              <a:buNone/>
            </a:pPr>
            <a:r>
              <a:rPr lang="en-US" sz="1250" dirty="0">
                <a:solidFill>
                  <a:srgbClr val="9FB5CB"/>
                </a:solidFill>
                <a:latin typeface="Calibri" pitchFamily="34" charset="0"/>
                <a:ea typeface="Calibri" pitchFamily="34" charset="-122"/>
                <a:cs typeface="Calibri" pitchFamily="34" charset="-120"/>
              </a:rPr>
              <a:t>Playwright</a:t>
            </a:r>
            <a:endParaRPr lang="en-US" sz="1250" dirty="0"/>
          </a:p>
        </p:txBody>
      </p:sp>
      <p:sp>
        <p:nvSpPr>
          <p:cNvPr id="8" name="Shape 6"/>
          <p:cNvSpPr/>
          <p:nvPr/>
        </p:nvSpPr>
        <p:spPr>
          <a:xfrm>
            <a:off x="2359152" y="5029200"/>
            <a:ext cx="1193292" cy="402336"/>
          </a:xfrm>
          <a:prstGeom prst="roundRect">
            <a:avLst>
              <a:gd name="adj" fmla="val 50000"/>
            </a:avLst>
          </a:prstGeom>
          <a:solidFill>
            <a:srgbClr val="12293F"/>
          </a:solidFill>
          <a:ln/>
        </p:spPr>
      </p:sp>
      <p:sp>
        <p:nvSpPr>
          <p:cNvPr id="9" name="Text 7"/>
          <p:cNvSpPr/>
          <p:nvPr/>
        </p:nvSpPr>
        <p:spPr>
          <a:xfrm>
            <a:off x="2359152" y="5029200"/>
            <a:ext cx="1193292" cy="402336"/>
          </a:xfrm>
          <a:prstGeom prst="rect">
            <a:avLst/>
          </a:prstGeom>
          <a:noFill/>
          <a:ln/>
        </p:spPr>
        <p:txBody>
          <a:bodyPr wrap="square" lIns="0" tIns="0" rIns="0" bIns="0" rtlCol="0" anchor="ctr"/>
          <a:lstStyle/>
          <a:p>
            <a:pPr algn="ctr" indent="0" marL="0">
              <a:buNone/>
            </a:pPr>
            <a:r>
              <a:rPr lang="en-US" sz="1250" dirty="0">
                <a:solidFill>
                  <a:srgbClr val="9FB5CB"/>
                </a:solidFill>
                <a:latin typeface="Calibri" pitchFamily="34" charset="0"/>
                <a:ea typeface="Calibri" pitchFamily="34" charset="-122"/>
                <a:cs typeface="Calibri" pitchFamily="34" charset="-120"/>
              </a:rPr>
              <a:t>PyTorch</a:t>
            </a:r>
            <a:endParaRPr lang="en-US" sz="1250" dirty="0"/>
          </a:p>
        </p:txBody>
      </p:sp>
      <p:sp>
        <p:nvSpPr>
          <p:cNvPr id="10" name="Shape 8"/>
          <p:cNvSpPr/>
          <p:nvPr/>
        </p:nvSpPr>
        <p:spPr>
          <a:xfrm>
            <a:off x="3717036" y="5029200"/>
            <a:ext cx="1088136" cy="402336"/>
          </a:xfrm>
          <a:prstGeom prst="roundRect">
            <a:avLst>
              <a:gd name="adj" fmla="val 50000"/>
            </a:avLst>
          </a:prstGeom>
          <a:solidFill>
            <a:srgbClr val="12293F"/>
          </a:solidFill>
          <a:ln/>
        </p:spPr>
      </p:sp>
      <p:sp>
        <p:nvSpPr>
          <p:cNvPr id="11" name="Text 9"/>
          <p:cNvSpPr/>
          <p:nvPr/>
        </p:nvSpPr>
        <p:spPr>
          <a:xfrm>
            <a:off x="3717036" y="5029200"/>
            <a:ext cx="1088136" cy="402336"/>
          </a:xfrm>
          <a:prstGeom prst="rect">
            <a:avLst/>
          </a:prstGeom>
          <a:noFill/>
          <a:ln/>
        </p:spPr>
        <p:txBody>
          <a:bodyPr wrap="square" lIns="0" tIns="0" rIns="0" bIns="0" rtlCol="0" anchor="ctr"/>
          <a:lstStyle/>
          <a:p>
            <a:pPr algn="ctr" indent="0" marL="0">
              <a:buNone/>
            </a:pPr>
            <a:r>
              <a:rPr lang="en-US" sz="1250" dirty="0">
                <a:solidFill>
                  <a:srgbClr val="9FB5CB"/>
                </a:solidFill>
                <a:latin typeface="Calibri" pitchFamily="34" charset="0"/>
                <a:ea typeface="Calibri" pitchFamily="34" charset="-122"/>
                <a:cs typeface="Calibri" pitchFamily="34" charset="-120"/>
              </a:rPr>
              <a:t>OpenCV</a:t>
            </a:r>
            <a:endParaRPr lang="en-US" sz="1250" dirty="0"/>
          </a:p>
        </p:txBody>
      </p:sp>
      <p:sp>
        <p:nvSpPr>
          <p:cNvPr id="12" name="Shape 10"/>
          <p:cNvSpPr/>
          <p:nvPr/>
        </p:nvSpPr>
        <p:spPr>
          <a:xfrm>
            <a:off x="4969764" y="5029200"/>
            <a:ext cx="1193292" cy="402336"/>
          </a:xfrm>
          <a:prstGeom prst="roundRect">
            <a:avLst>
              <a:gd name="adj" fmla="val 50000"/>
            </a:avLst>
          </a:prstGeom>
          <a:solidFill>
            <a:srgbClr val="12293F"/>
          </a:solidFill>
          <a:ln/>
        </p:spPr>
      </p:sp>
      <p:sp>
        <p:nvSpPr>
          <p:cNvPr id="13" name="Text 11"/>
          <p:cNvSpPr/>
          <p:nvPr/>
        </p:nvSpPr>
        <p:spPr>
          <a:xfrm>
            <a:off x="4969764" y="5029200"/>
            <a:ext cx="1193292" cy="402336"/>
          </a:xfrm>
          <a:prstGeom prst="rect">
            <a:avLst/>
          </a:prstGeom>
          <a:noFill/>
          <a:ln/>
        </p:spPr>
        <p:txBody>
          <a:bodyPr wrap="square" lIns="0" tIns="0" rIns="0" bIns="0" rtlCol="0" anchor="ctr"/>
          <a:lstStyle/>
          <a:p>
            <a:pPr algn="ctr" indent="0" marL="0">
              <a:buNone/>
            </a:pPr>
            <a:r>
              <a:rPr lang="en-US" sz="1250" dirty="0">
                <a:solidFill>
                  <a:srgbClr val="9FB5CB"/>
                </a:solidFill>
                <a:latin typeface="Calibri" pitchFamily="34" charset="0"/>
                <a:ea typeface="Calibri" pitchFamily="34" charset="-122"/>
                <a:cs typeface="Calibri" pitchFamily="34" charset="-120"/>
              </a:rPr>
              <a:t>FastAPI</a:t>
            </a:r>
            <a:endParaRPr lang="en-US" sz="1250" dirty="0"/>
          </a:p>
        </p:txBody>
      </p:sp>
      <p:sp>
        <p:nvSpPr>
          <p:cNvPr id="14" name="Shape 12"/>
          <p:cNvSpPr/>
          <p:nvPr/>
        </p:nvSpPr>
        <p:spPr>
          <a:xfrm>
            <a:off x="6327648" y="5029200"/>
            <a:ext cx="1719072" cy="402336"/>
          </a:xfrm>
          <a:prstGeom prst="roundRect">
            <a:avLst>
              <a:gd name="adj" fmla="val 50000"/>
            </a:avLst>
          </a:prstGeom>
          <a:solidFill>
            <a:srgbClr val="12293F"/>
          </a:solidFill>
          <a:ln/>
        </p:spPr>
      </p:sp>
      <p:sp>
        <p:nvSpPr>
          <p:cNvPr id="15" name="Text 13"/>
          <p:cNvSpPr/>
          <p:nvPr/>
        </p:nvSpPr>
        <p:spPr>
          <a:xfrm>
            <a:off x="6327648" y="5029200"/>
            <a:ext cx="1719072" cy="402336"/>
          </a:xfrm>
          <a:prstGeom prst="rect">
            <a:avLst/>
          </a:prstGeom>
          <a:noFill/>
          <a:ln/>
        </p:spPr>
        <p:txBody>
          <a:bodyPr wrap="square" lIns="0" tIns="0" rIns="0" bIns="0" rtlCol="0" anchor="ctr"/>
          <a:lstStyle/>
          <a:p>
            <a:pPr algn="ctr" indent="0" marL="0">
              <a:buNone/>
            </a:pPr>
            <a:r>
              <a:rPr lang="en-US" sz="1250" dirty="0">
                <a:solidFill>
                  <a:srgbClr val="9FB5CB"/>
                </a:solidFill>
                <a:latin typeface="Calibri" pitchFamily="34" charset="0"/>
                <a:ea typeface="Calibri" pitchFamily="34" charset="-122"/>
                <a:cs typeface="Calibri" pitchFamily="34" charset="-120"/>
              </a:rPr>
              <a:t>React + Vite</a:t>
            </a:r>
            <a:endParaRPr lang="en-US" sz="1250" dirty="0"/>
          </a:p>
        </p:txBody>
      </p:sp>
      <p:sp>
        <p:nvSpPr>
          <p:cNvPr id="16" name="Shape 14"/>
          <p:cNvSpPr/>
          <p:nvPr/>
        </p:nvSpPr>
        <p:spPr>
          <a:xfrm>
            <a:off x="8211312" y="5029200"/>
            <a:ext cx="1088136" cy="402336"/>
          </a:xfrm>
          <a:prstGeom prst="roundRect">
            <a:avLst>
              <a:gd name="adj" fmla="val 50000"/>
            </a:avLst>
          </a:prstGeom>
          <a:solidFill>
            <a:srgbClr val="12293F"/>
          </a:solidFill>
          <a:ln/>
        </p:spPr>
      </p:sp>
      <p:sp>
        <p:nvSpPr>
          <p:cNvPr id="17" name="Text 15"/>
          <p:cNvSpPr/>
          <p:nvPr/>
        </p:nvSpPr>
        <p:spPr>
          <a:xfrm>
            <a:off x="8211312" y="5029200"/>
            <a:ext cx="1088136" cy="402336"/>
          </a:xfrm>
          <a:prstGeom prst="rect">
            <a:avLst/>
          </a:prstGeom>
          <a:noFill/>
          <a:ln/>
        </p:spPr>
        <p:txBody>
          <a:bodyPr wrap="square" lIns="0" tIns="0" rIns="0" bIns="0" rtlCol="0" anchor="ctr"/>
          <a:lstStyle/>
          <a:p>
            <a:pPr algn="ctr" indent="0" marL="0">
              <a:buNone/>
            </a:pPr>
            <a:r>
              <a:rPr lang="en-US" sz="1250" dirty="0">
                <a:solidFill>
                  <a:srgbClr val="9FB5CB"/>
                </a:solidFill>
                <a:latin typeface="Calibri" pitchFamily="34" charset="0"/>
                <a:ea typeface="Calibri" pitchFamily="34" charset="-122"/>
                <a:cs typeface="Calibri" pitchFamily="34" charset="-120"/>
              </a:rPr>
              <a:t>Docker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4F9"/>
        </a:solidFill>
      </p:bgPr>
    </p:bg>
    <p:spTree>
      <p:nvGrpSpPr>
        <p:cNvPr id="1" name=""/>
        <p:cNvGrpSpPr/>
        <p:nvPr/>
      </p:nvGrpSpPr>
      <p:grpSpPr>
        <a:xfrm>
          <a:off x="0" y="0"/>
          <a:ext cx="0" cy="0"/>
          <a:chOff x="0" y="0"/>
          <a:chExt cx="0" cy="0"/>
        </a:xfrm>
      </p:grpSpPr>
      <p:sp>
        <p:nvSpPr>
          <p:cNvPr id="2" name="Text 0"/>
          <p:cNvSpPr/>
          <p:nvPr/>
        </p:nvSpPr>
        <p:spPr>
          <a:xfrm>
            <a:off x="594360" y="137160"/>
            <a:ext cx="8229600" cy="274320"/>
          </a:xfrm>
          <a:prstGeom prst="rect">
            <a:avLst/>
          </a:prstGeom>
          <a:noFill/>
          <a:ln/>
        </p:spPr>
        <p:txBody>
          <a:bodyPr wrap="square" lIns="0" tIns="0" rIns="0" bIns="0" rtlCol="0" anchor="ctr"/>
          <a:lstStyle/>
          <a:p>
            <a:pPr indent="0" marL="0">
              <a:buNone/>
            </a:pPr>
            <a:r>
              <a:rPr lang="en-US" sz="1150" b="1" spc="220" kern="0" dirty="0">
                <a:solidFill>
                  <a:srgbClr val="FF6A2B"/>
                </a:solidFill>
                <a:latin typeface="Calibri" pitchFamily="34" charset="0"/>
                <a:ea typeface="Calibri" pitchFamily="34" charset="-122"/>
                <a:cs typeface="Calibri" pitchFamily="34" charset="-120"/>
              </a:rPr>
              <a:t>TECHNOLOGIES USED</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200" b="1" dirty="0">
                <a:solidFill>
                  <a:srgbClr val="0F2742"/>
                </a:solidFill>
                <a:latin typeface="Cambria" pitchFamily="34" charset="0"/>
                <a:ea typeface="Cambria" pitchFamily="34" charset="-122"/>
                <a:cs typeface="Cambria" pitchFamily="34" charset="-120"/>
              </a:rPr>
              <a:t>Each choice answers a requirement</a:t>
            </a:r>
            <a:endParaRPr lang="en-US" sz="3200" dirty="0"/>
          </a:p>
        </p:txBody>
      </p:sp>
      <p:sp>
        <p:nvSpPr>
          <p:cNvPr id="4" name="Shape 2"/>
          <p:cNvSpPr/>
          <p:nvPr/>
        </p:nvSpPr>
        <p:spPr>
          <a:xfrm>
            <a:off x="566928" y="1463040"/>
            <a:ext cx="3566160" cy="1828800"/>
          </a:xfrm>
          <a:prstGeom prst="roundRect">
            <a:avLst>
              <a:gd name="adj" fmla="val 4500"/>
            </a:avLst>
          </a:prstGeom>
          <a:solidFill>
            <a:srgbClr val="FFFFFF"/>
          </a:solidFill>
          <a:ln/>
          <a:effectLst>
            <a:outerShdw sx="100000" sy="100000" kx="0" ky="0" algn="bl" rotWithShape="0" blurRad="127000" dist="25400" dir="5400000">
              <a:srgbClr val="8FA3B8">
                <a:alpha val="28000"/>
              </a:srgbClr>
            </a:outerShdw>
          </a:effectLst>
        </p:spPr>
      </p:sp>
      <p:sp>
        <p:nvSpPr>
          <p:cNvPr id="5" name="Text 3"/>
          <p:cNvSpPr/>
          <p:nvPr/>
        </p:nvSpPr>
        <p:spPr>
          <a:xfrm>
            <a:off x="786384" y="1627632"/>
            <a:ext cx="3127248" cy="502920"/>
          </a:xfrm>
          <a:prstGeom prst="rect">
            <a:avLst/>
          </a:prstGeom>
          <a:noFill/>
          <a:ln/>
        </p:spPr>
        <p:txBody>
          <a:bodyPr wrap="square" lIns="0" tIns="0" rIns="0" bIns="0" rtlCol="0" anchor="t"/>
          <a:lstStyle/>
          <a:p>
            <a:pPr indent="0" marL="0">
              <a:buNone/>
            </a:pPr>
            <a:r>
              <a:rPr lang="en-US" sz="1400" b="1" dirty="0">
                <a:solidFill>
                  <a:srgbClr val="0F2742"/>
                </a:solidFill>
                <a:latin typeface="Calibri" pitchFamily="34" charset="0"/>
                <a:ea typeface="Calibri" pitchFamily="34" charset="-122"/>
                <a:cs typeface="Calibri" pitchFamily="34" charset="-120"/>
              </a:rPr>
              <a:t>Playwright</a:t>
            </a:r>
            <a:endParaRPr lang="en-US" sz="1400" dirty="0"/>
          </a:p>
        </p:txBody>
      </p:sp>
      <p:sp>
        <p:nvSpPr>
          <p:cNvPr id="6" name="Text 4"/>
          <p:cNvSpPr/>
          <p:nvPr/>
        </p:nvSpPr>
        <p:spPr>
          <a:xfrm>
            <a:off x="786384" y="2157984"/>
            <a:ext cx="3127248" cy="1051560"/>
          </a:xfrm>
          <a:prstGeom prst="rect">
            <a:avLst/>
          </a:prstGeom>
          <a:noFill/>
          <a:ln/>
        </p:spPr>
        <p:txBody>
          <a:bodyPr wrap="square" lIns="0" tIns="0" rIns="0" bIns="0" rtlCol="0" anchor="t"/>
          <a:lstStyle/>
          <a:p>
            <a:pPr indent="0" marL="0">
              <a:buNone/>
            </a:pPr>
            <a:r>
              <a:rPr lang="en-US" sz="1100" dirty="0">
                <a:solidFill>
                  <a:srgbClr val="44566C"/>
                </a:solidFill>
                <a:latin typeface="Calibri" pitchFamily="34" charset="0"/>
                <a:ea typeface="Calibri" pitchFamily="34" charset="-122"/>
                <a:cs typeface="Calibri" pitchFamily="34" charset="-120"/>
              </a:rPr>
              <a:t>Capture must be repeatable across Chromium, Firefox and WebKit, and must pin locale, timezone and device in one API. A capture that drifts makes every later comparison meaningless.</a:t>
            </a:r>
            <a:endParaRPr lang="en-US" sz="1100" dirty="0"/>
          </a:p>
        </p:txBody>
      </p:sp>
      <p:sp>
        <p:nvSpPr>
          <p:cNvPr id="7" name="Shape 5"/>
          <p:cNvSpPr/>
          <p:nvPr/>
        </p:nvSpPr>
        <p:spPr>
          <a:xfrm>
            <a:off x="4407408" y="1463040"/>
            <a:ext cx="3566160" cy="1828800"/>
          </a:xfrm>
          <a:prstGeom prst="roundRect">
            <a:avLst>
              <a:gd name="adj" fmla="val 4500"/>
            </a:avLst>
          </a:prstGeom>
          <a:solidFill>
            <a:srgbClr val="FFFFFF"/>
          </a:solidFill>
          <a:ln/>
          <a:effectLst>
            <a:outerShdw sx="100000" sy="100000" kx="0" ky="0" algn="bl" rotWithShape="0" blurRad="127000" dist="25400" dir="5400000">
              <a:srgbClr val="8FA3B8">
                <a:alpha val="28000"/>
              </a:srgbClr>
            </a:outerShdw>
          </a:effectLst>
        </p:spPr>
      </p:sp>
      <p:sp>
        <p:nvSpPr>
          <p:cNvPr id="8" name="Text 6"/>
          <p:cNvSpPr/>
          <p:nvPr/>
        </p:nvSpPr>
        <p:spPr>
          <a:xfrm>
            <a:off x="4626864" y="1627632"/>
            <a:ext cx="3127248" cy="502920"/>
          </a:xfrm>
          <a:prstGeom prst="rect">
            <a:avLst/>
          </a:prstGeom>
          <a:noFill/>
          <a:ln/>
        </p:spPr>
        <p:txBody>
          <a:bodyPr wrap="square" lIns="0" tIns="0" rIns="0" bIns="0" rtlCol="0" anchor="t"/>
          <a:lstStyle/>
          <a:p>
            <a:pPr indent="0" marL="0">
              <a:buNone/>
            </a:pPr>
            <a:r>
              <a:rPr lang="en-US" sz="1400" b="1" dirty="0">
                <a:solidFill>
                  <a:srgbClr val="0F2742"/>
                </a:solidFill>
                <a:latin typeface="Calibri" pitchFamily="34" charset="0"/>
                <a:ea typeface="Calibri" pitchFamily="34" charset="-122"/>
                <a:cs typeface="Calibri" pitchFamily="34" charset="-120"/>
              </a:rPr>
              <a:t>OpenCV + SSIM</a:t>
            </a:r>
            <a:endParaRPr lang="en-US" sz="1400" dirty="0"/>
          </a:p>
        </p:txBody>
      </p:sp>
      <p:sp>
        <p:nvSpPr>
          <p:cNvPr id="9" name="Text 7"/>
          <p:cNvSpPr/>
          <p:nvPr/>
        </p:nvSpPr>
        <p:spPr>
          <a:xfrm>
            <a:off x="4626864" y="2157984"/>
            <a:ext cx="3127248" cy="1051560"/>
          </a:xfrm>
          <a:prstGeom prst="rect">
            <a:avLst/>
          </a:prstGeom>
          <a:noFill/>
          <a:ln/>
        </p:spPr>
        <p:txBody>
          <a:bodyPr wrap="square" lIns="0" tIns="0" rIns="0" bIns="0" rtlCol="0" anchor="t"/>
          <a:lstStyle/>
          <a:p>
            <a:pPr indent="0" marL="0">
              <a:buNone/>
            </a:pPr>
            <a:r>
              <a:rPr lang="en-US" sz="1100" dirty="0">
                <a:solidFill>
                  <a:srgbClr val="44566C"/>
                </a:solidFill>
                <a:latin typeface="Calibri" pitchFamily="34" charset="0"/>
                <a:ea typeface="Calibri" pitchFamily="34" charset="-122"/>
                <a:cs typeface="Calibri" pitchFamily="34" charset="-120"/>
              </a:rPr>
              <a:t>Detection has to be fast, deterministic and inspectable. Pixel deltas are grouped into regions and merged, so the answer is a bounded box, not a scatter of pixels.</a:t>
            </a:r>
            <a:endParaRPr lang="en-US" sz="1100" dirty="0"/>
          </a:p>
        </p:txBody>
      </p:sp>
      <p:sp>
        <p:nvSpPr>
          <p:cNvPr id="10" name="Shape 8"/>
          <p:cNvSpPr/>
          <p:nvPr/>
        </p:nvSpPr>
        <p:spPr>
          <a:xfrm>
            <a:off x="8247888" y="1463040"/>
            <a:ext cx="3566160" cy="1828800"/>
          </a:xfrm>
          <a:prstGeom prst="roundRect">
            <a:avLst>
              <a:gd name="adj" fmla="val 4500"/>
            </a:avLst>
          </a:prstGeom>
          <a:solidFill>
            <a:srgbClr val="FFFFFF"/>
          </a:solidFill>
          <a:ln/>
          <a:effectLst>
            <a:outerShdw sx="100000" sy="100000" kx="0" ky="0" algn="bl" rotWithShape="0" blurRad="127000" dist="25400" dir="5400000">
              <a:srgbClr val="8FA3B8">
                <a:alpha val="28000"/>
              </a:srgbClr>
            </a:outerShdw>
          </a:effectLst>
        </p:spPr>
      </p:sp>
      <p:sp>
        <p:nvSpPr>
          <p:cNvPr id="11" name="Text 9"/>
          <p:cNvSpPr/>
          <p:nvPr/>
        </p:nvSpPr>
        <p:spPr>
          <a:xfrm>
            <a:off x="8467344" y="1627632"/>
            <a:ext cx="3127248" cy="502920"/>
          </a:xfrm>
          <a:prstGeom prst="rect">
            <a:avLst/>
          </a:prstGeom>
          <a:noFill/>
          <a:ln/>
        </p:spPr>
        <p:txBody>
          <a:bodyPr wrap="square" lIns="0" tIns="0" rIns="0" bIns="0" rtlCol="0" anchor="t"/>
          <a:lstStyle/>
          <a:p>
            <a:pPr indent="0" marL="0">
              <a:buNone/>
            </a:pPr>
            <a:r>
              <a:rPr lang="en-US" sz="1400" b="1" dirty="0">
                <a:solidFill>
                  <a:srgbClr val="0F2742"/>
                </a:solidFill>
                <a:latin typeface="Calibri" pitchFamily="34" charset="0"/>
                <a:ea typeface="Calibri" pitchFamily="34" charset="-122"/>
                <a:cs typeface="Calibri" pitchFamily="34" charset="-120"/>
              </a:rPr>
              <a:t>PyTorch — ResNet50 Siamese</a:t>
            </a:r>
            <a:endParaRPr lang="en-US" sz="1400" dirty="0"/>
          </a:p>
        </p:txBody>
      </p:sp>
      <p:sp>
        <p:nvSpPr>
          <p:cNvPr id="12" name="Text 10"/>
          <p:cNvSpPr/>
          <p:nvPr/>
        </p:nvSpPr>
        <p:spPr>
          <a:xfrm>
            <a:off x="8467344" y="2157984"/>
            <a:ext cx="3127248" cy="1051560"/>
          </a:xfrm>
          <a:prstGeom prst="rect">
            <a:avLst/>
          </a:prstGeom>
          <a:noFill/>
          <a:ln/>
        </p:spPr>
        <p:txBody>
          <a:bodyPr wrap="square" lIns="0" tIns="0" rIns="0" bIns="0" rtlCol="0" anchor="t"/>
          <a:lstStyle/>
          <a:p>
            <a:pPr indent="0" marL="0">
              <a:buNone/>
            </a:pPr>
            <a:r>
              <a:rPr lang="en-US" sz="1100" dirty="0">
                <a:solidFill>
                  <a:srgbClr val="44566C"/>
                </a:solidFill>
                <a:latin typeface="Calibri" pitchFamily="34" charset="0"/>
                <a:ea typeface="Calibri" pitchFamily="34" charset="-122"/>
                <a:cs typeface="Calibri" pitchFamily="34" charset="-120"/>
              </a:rPr>
              <a:t>The task is literally "compare two images", which is what a siamese head is for, and ImageNet pre-training is what makes it trainable on a project-sized labelled set.</a:t>
            </a:r>
            <a:endParaRPr lang="en-US" sz="1100" dirty="0"/>
          </a:p>
        </p:txBody>
      </p:sp>
      <p:sp>
        <p:nvSpPr>
          <p:cNvPr id="13" name="Shape 11"/>
          <p:cNvSpPr/>
          <p:nvPr/>
        </p:nvSpPr>
        <p:spPr>
          <a:xfrm>
            <a:off x="566928" y="3566160"/>
            <a:ext cx="3566160" cy="1828800"/>
          </a:xfrm>
          <a:prstGeom prst="roundRect">
            <a:avLst>
              <a:gd name="adj" fmla="val 4500"/>
            </a:avLst>
          </a:prstGeom>
          <a:solidFill>
            <a:srgbClr val="FFFFFF"/>
          </a:solidFill>
          <a:ln/>
          <a:effectLst>
            <a:outerShdw sx="100000" sy="100000" kx="0" ky="0" algn="bl" rotWithShape="0" blurRad="127000" dist="25400" dir="5400000">
              <a:srgbClr val="8FA3B8">
                <a:alpha val="28000"/>
              </a:srgbClr>
            </a:outerShdw>
          </a:effectLst>
        </p:spPr>
      </p:sp>
      <p:sp>
        <p:nvSpPr>
          <p:cNvPr id="14" name="Text 12"/>
          <p:cNvSpPr/>
          <p:nvPr/>
        </p:nvSpPr>
        <p:spPr>
          <a:xfrm>
            <a:off x="786384" y="3730752"/>
            <a:ext cx="3127248" cy="502920"/>
          </a:xfrm>
          <a:prstGeom prst="rect">
            <a:avLst/>
          </a:prstGeom>
          <a:noFill/>
          <a:ln/>
        </p:spPr>
        <p:txBody>
          <a:bodyPr wrap="square" lIns="0" tIns="0" rIns="0" bIns="0" rtlCol="0" anchor="t"/>
          <a:lstStyle/>
          <a:p>
            <a:pPr indent="0" marL="0">
              <a:buNone/>
            </a:pPr>
            <a:r>
              <a:rPr lang="en-US" sz="1400" b="1" dirty="0">
                <a:solidFill>
                  <a:srgbClr val="0F2742"/>
                </a:solidFill>
                <a:latin typeface="Calibri" pitchFamily="34" charset="0"/>
                <a:ea typeface="Calibri" pitchFamily="34" charset="-122"/>
                <a:cs typeface="Calibri" pitchFamily="34" charset="-120"/>
              </a:rPr>
              <a:t>FastAPI</a:t>
            </a:r>
            <a:endParaRPr lang="en-US" sz="1400" dirty="0"/>
          </a:p>
        </p:txBody>
      </p:sp>
      <p:sp>
        <p:nvSpPr>
          <p:cNvPr id="15" name="Text 13"/>
          <p:cNvSpPr/>
          <p:nvPr/>
        </p:nvSpPr>
        <p:spPr>
          <a:xfrm>
            <a:off x="786384" y="4261104"/>
            <a:ext cx="3127248" cy="1051560"/>
          </a:xfrm>
          <a:prstGeom prst="rect">
            <a:avLst/>
          </a:prstGeom>
          <a:noFill/>
          <a:ln/>
        </p:spPr>
        <p:txBody>
          <a:bodyPr wrap="square" lIns="0" tIns="0" rIns="0" bIns="0" rtlCol="0" anchor="t"/>
          <a:lstStyle/>
          <a:p>
            <a:pPr indent="0" marL="0">
              <a:buNone/>
            </a:pPr>
            <a:r>
              <a:rPr lang="en-US" sz="1100" dirty="0">
                <a:solidFill>
                  <a:srgbClr val="44566C"/>
                </a:solidFill>
                <a:latin typeface="Calibri" pitchFamily="34" charset="0"/>
                <a:ea typeface="Calibri" pitchFamily="34" charset="-122"/>
                <a:cs typeface="Calibri" pitchFamily="34" charset="-120"/>
              </a:rPr>
              <a:t>Async request handling for long captures, dependency injection for the role checks, and an OpenAPI reference generated from the code rather than maintained beside it.</a:t>
            </a:r>
            <a:endParaRPr lang="en-US" sz="1100" dirty="0"/>
          </a:p>
        </p:txBody>
      </p:sp>
      <p:sp>
        <p:nvSpPr>
          <p:cNvPr id="16" name="Shape 14"/>
          <p:cNvSpPr/>
          <p:nvPr/>
        </p:nvSpPr>
        <p:spPr>
          <a:xfrm>
            <a:off x="4407408" y="3566160"/>
            <a:ext cx="3566160" cy="1828800"/>
          </a:xfrm>
          <a:prstGeom prst="roundRect">
            <a:avLst>
              <a:gd name="adj" fmla="val 4500"/>
            </a:avLst>
          </a:prstGeom>
          <a:solidFill>
            <a:srgbClr val="FFFFFF"/>
          </a:solidFill>
          <a:ln/>
          <a:effectLst>
            <a:outerShdw sx="100000" sy="100000" kx="0" ky="0" algn="bl" rotWithShape="0" blurRad="127000" dist="25400" dir="5400000">
              <a:srgbClr val="8FA3B8">
                <a:alpha val="28000"/>
              </a:srgbClr>
            </a:outerShdw>
          </a:effectLst>
        </p:spPr>
      </p:sp>
      <p:sp>
        <p:nvSpPr>
          <p:cNvPr id="17" name="Text 15"/>
          <p:cNvSpPr/>
          <p:nvPr/>
        </p:nvSpPr>
        <p:spPr>
          <a:xfrm>
            <a:off x="4626864" y="3730752"/>
            <a:ext cx="3127248" cy="502920"/>
          </a:xfrm>
          <a:prstGeom prst="rect">
            <a:avLst/>
          </a:prstGeom>
          <a:noFill/>
          <a:ln/>
        </p:spPr>
        <p:txBody>
          <a:bodyPr wrap="square" lIns="0" tIns="0" rIns="0" bIns="0" rtlCol="0" anchor="t"/>
          <a:lstStyle/>
          <a:p>
            <a:pPr indent="0" marL="0">
              <a:buNone/>
            </a:pPr>
            <a:r>
              <a:rPr lang="en-US" sz="1400" b="1" dirty="0">
                <a:solidFill>
                  <a:srgbClr val="0F2742"/>
                </a:solidFill>
                <a:latin typeface="Calibri" pitchFamily="34" charset="0"/>
                <a:ea typeface="Calibri" pitchFamily="34" charset="-122"/>
                <a:cs typeface="Calibri" pitchFamily="34" charset="-120"/>
              </a:rPr>
              <a:t>SQLite → PostgreSQL</a:t>
            </a:r>
            <a:endParaRPr lang="en-US" sz="1400" dirty="0"/>
          </a:p>
        </p:txBody>
      </p:sp>
      <p:sp>
        <p:nvSpPr>
          <p:cNvPr id="18" name="Text 16"/>
          <p:cNvSpPr/>
          <p:nvPr/>
        </p:nvSpPr>
        <p:spPr>
          <a:xfrm>
            <a:off x="4626864" y="4261104"/>
            <a:ext cx="3127248" cy="1051560"/>
          </a:xfrm>
          <a:prstGeom prst="rect">
            <a:avLst/>
          </a:prstGeom>
          <a:noFill/>
          <a:ln/>
        </p:spPr>
        <p:txBody>
          <a:bodyPr wrap="square" lIns="0" tIns="0" rIns="0" bIns="0" rtlCol="0" anchor="t"/>
          <a:lstStyle/>
          <a:p>
            <a:pPr indent="0" marL="0">
              <a:buNone/>
            </a:pPr>
            <a:r>
              <a:rPr lang="en-US" sz="1100" dirty="0">
                <a:solidFill>
                  <a:srgbClr val="44566C"/>
                </a:solidFill>
                <a:latin typeface="Calibri" pitchFamily="34" charset="0"/>
                <a:ea typeface="Calibri" pitchFamily="34" charset="-122"/>
                <a:cs typeface="Calibri" pitchFamily="34" charset="-120"/>
              </a:rPr>
              <a:t>Zero-config by default so setup stays fifteen minutes; one shared base store means a team that outgrows SQLite changes a connection string, not a code path.</a:t>
            </a:r>
            <a:endParaRPr lang="en-US" sz="1100" dirty="0"/>
          </a:p>
        </p:txBody>
      </p:sp>
      <p:sp>
        <p:nvSpPr>
          <p:cNvPr id="19" name="Shape 17"/>
          <p:cNvSpPr/>
          <p:nvPr/>
        </p:nvSpPr>
        <p:spPr>
          <a:xfrm>
            <a:off x="8247888" y="3566160"/>
            <a:ext cx="3566160" cy="1828800"/>
          </a:xfrm>
          <a:prstGeom prst="roundRect">
            <a:avLst>
              <a:gd name="adj" fmla="val 4500"/>
            </a:avLst>
          </a:prstGeom>
          <a:solidFill>
            <a:srgbClr val="FFFFFF"/>
          </a:solidFill>
          <a:ln/>
          <a:effectLst>
            <a:outerShdw sx="100000" sy="100000" kx="0" ky="0" algn="bl" rotWithShape="0" blurRad="127000" dist="25400" dir="5400000">
              <a:srgbClr val="8FA3B8">
                <a:alpha val="28000"/>
              </a:srgbClr>
            </a:outerShdw>
          </a:effectLst>
        </p:spPr>
      </p:sp>
      <p:sp>
        <p:nvSpPr>
          <p:cNvPr id="20" name="Text 18"/>
          <p:cNvSpPr/>
          <p:nvPr/>
        </p:nvSpPr>
        <p:spPr>
          <a:xfrm>
            <a:off x="8467344" y="3730752"/>
            <a:ext cx="3127248" cy="502920"/>
          </a:xfrm>
          <a:prstGeom prst="rect">
            <a:avLst/>
          </a:prstGeom>
          <a:noFill/>
          <a:ln/>
        </p:spPr>
        <p:txBody>
          <a:bodyPr wrap="square" lIns="0" tIns="0" rIns="0" bIns="0" rtlCol="0" anchor="t"/>
          <a:lstStyle/>
          <a:p>
            <a:pPr indent="0" marL="0">
              <a:buNone/>
            </a:pPr>
            <a:r>
              <a:rPr lang="en-US" sz="1400" b="1" dirty="0">
                <a:solidFill>
                  <a:srgbClr val="0F2742"/>
                </a:solidFill>
                <a:latin typeface="Calibri" pitchFamily="34" charset="0"/>
                <a:ea typeface="Calibri" pitchFamily="34" charset="-122"/>
                <a:cs typeface="Calibri" pitchFamily="34" charset="-120"/>
              </a:rPr>
              <a:t>Docker + GitHub Actions</a:t>
            </a:r>
            <a:endParaRPr lang="en-US" sz="1400" dirty="0"/>
          </a:p>
        </p:txBody>
      </p:sp>
      <p:sp>
        <p:nvSpPr>
          <p:cNvPr id="21" name="Text 19"/>
          <p:cNvSpPr/>
          <p:nvPr/>
        </p:nvSpPr>
        <p:spPr>
          <a:xfrm>
            <a:off x="8467344" y="4261104"/>
            <a:ext cx="3127248" cy="1051560"/>
          </a:xfrm>
          <a:prstGeom prst="rect">
            <a:avLst/>
          </a:prstGeom>
          <a:noFill/>
          <a:ln/>
        </p:spPr>
        <p:txBody>
          <a:bodyPr wrap="square" lIns="0" tIns="0" rIns="0" bIns="0" rtlCol="0" anchor="t"/>
          <a:lstStyle/>
          <a:p>
            <a:pPr indent="0" marL="0">
              <a:buNone/>
            </a:pPr>
            <a:r>
              <a:rPr lang="en-US" sz="1100" dirty="0">
                <a:solidFill>
                  <a:srgbClr val="44566C"/>
                </a:solidFill>
                <a:latin typeface="Calibri" pitchFamily="34" charset="0"/>
                <a:ea typeface="Calibri" pitchFamily="34" charset="-122"/>
                <a:cs typeface="Calibri" pitchFamily="34" charset="-120"/>
              </a:rPr>
              <a:t>Chromium renders text differently per platform, so baselines are captured inside the project's own image. A check that captures its reference on the machine under test cannot fail.</a:t>
            </a:r>
            <a:endParaRPr lang="en-US" sz="1100" dirty="0"/>
          </a:p>
        </p:txBody>
      </p:sp>
      <p:sp>
        <p:nvSpPr>
          <p:cNvPr id="22" name="Text 20"/>
          <p:cNvSpPr/>
          <p:nvPr/>
        </p:nvSpPr>
        <p:spPr>
          <a:xfrm>
            <a:off x="566928" y="5715000"/>
            <a:ext cx="11064240" cy="411480"/>
          </a:xfrm>
          <a:prstGeom prst="rect">
            <a:avLst/>
          </a:prstGeom>
          <a:noFill/>
          <a:ln/>
        </p:spPr>
        <p:txBody>
          <a:bodyPr wrap="square" lIns="0" tIns="0" rIns="0" bIns="0" rtlCol="0" anchor="ctr"/>
          <a:lstStyle/>
          <a:p>
            <a:pPr indent="0" marL="0">
              <a:buNone/>
            </a:pPr>
            <a:r>
              <a:rPr lang="en-US" sz="1350" i="1" dirty="0">
                <a:solidFill>
                  <a:srgbClr val="0F2742"/>
                </a:solidFill>
                <a:latin typeface="Calibri" pitchFamily="34" charset="0"/>
                <a:ea typeface="Calibri" pitchFamily="34" charset="-122"/>
                <a:cs typeface="Calibri" pitchFamily="34" charset="-120"/>
              </a:rPr>
              <a:t>Nothing on this list is a paid service. That is what lets the product ship as something the client runs themselves.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4F9"/>
        </a:solidFill>
      </p:bgPr>
    </p:bg>
    <p:spTree>
      <p:nvGrpSpPr>
        <p:cNvPr id="1" name=""/>
        <p:cNvGrpSpPr/>
        <p:nvPr/>
      </p:nvGrpSpPr>
      <p:grpSpPr>
        <a:xfrm>
          <a:off x="0" y="0"/>
          <a:ext cx="0" cy="0"/>
          <a:chOff x="0" y="0"/>
          <a:chExt cx="0" cy="0"/>
        </a:xfrm>
      </p:grpSpPr>
      <p:sp>
        <p:nvSpPr>
          <p:cNvPr id="2" name="Text 0"/>
          <p:cNvSpPr/>
          <p:nvPr/>
        </p:nvSpPr>
        <p:spPr>
          <a:xfrm>
            <a:off x="594360" y="137160"/>
            <a:ext cx="8229600" cy="274320"/>
          </a:xfrm>
          <a:prstGeom prst="rect">
            <a:avLst/>
          </a:prstGeom>
          <a:noFill/>
          <a:ln/>
        </p:spPr>
        <p:txBody>
          <a:bodyPr wrap="square" lIns="0" tIns="0" rIns="0" bIns="0" rtlCol="0" anchor="ctr"/>
          <a:lstStyle/>
          <a:p>
            <a:pPr indent="0" marL="0">
              <a:buNone/>
            </a:pPr>
            <a:r>
              <a:rPr lang="en-US" sz="1150" b="1" spc="220" kern="0" dirty="0">
                <a:solidFill>
                  <a:srgbClr val="FF6A2B"/>
                </a:solidFill>
                <a:latin typeface="Calibri" pitchFamily="34" charset="0"/>
                <a:ea typeface="Calibri" pitchFamily="34" charset="-122"/>
                <a:cs typeface="Calibri" pitchFamily="34" charset="-120"/>
              </a:rPr>
              <a:t>DEVELOPMENT PROCESS</a:t>
            </a:r>
            <a:endParaRPr lang="en-US" sz="1150" dirty="0"/>
          </a:p>
        </p:txBody>
      </p:sp>
      <p:sp>
        <p:nvSpPr>
          <p:cNvPr id="3" name="Text 1"/>
          <p:cNvSpPr/>
          <p:nvPr/>
        </p:nvSpPr>
        <p:spPr>
          <a:xfrm>
            <a:off x="566928" y="384048"/>
            <a:ext cx="6400800" cy="777240"/>
          </a:xfrm>
          <a:prstGeom prst="rect">
            <a:avLst/>
          </a:prstGeom>
          <a:noFill/>
          <a:ln/>
        </p:spPr>
        <p:txBody>
          <a:bodyPr wrap="square" lIns="0" tIns="0" rIns="0" bIns="0" rtlCol="0" anchor="ctr"/>
          <a:lstStyle/>
          <a:p>
            <a:pPr algn="l" indent="0" marL="0">
              <a:buNone/>
            </a:pPr>
            <a:r>
              <a:rPr lang="en-US" sz="3200" b="1" dirty="0">
                <a:solidFill>
                  <a:srgbClr val="0F2742"/>
                </a:solidFill>
                <a:latin typeface="Cambria" pitchFamily="34" charset="0"/>
                <a:ea typeface="Cambria" pitchFamily="34" charset="-122"/>
                <a:cs typeface="Cambria" pitchFamily="34" charset="-120"/>
              </a:rPr>
              <a:t>Built so the claims can be checked</a:t>
            </a:r>
            <a:endParaRPr lang="en-US" sz="3200" dirty="0"/>
          </a:p>
        </p:txBody>
      </p:sp>
      <p:pic>
        <p:nvPicPr>
          <p:cNvPr id="4" name="Image 0" descr="/sessions/tender-wizardly-brahmagupta/mnt/outputs/img/architecture.png">    </p:cNvPr>
          <p:cNvPicPr>
            <a:picLocks noChangeAspect="1"/>
          </p:cNvPicPr>
          <p:nvPr/>
        </p:nvPicPr>
        <p:blipFill>
          <a:blip r:embed="rId1"/>
          <a:stretch>
            <a:fillRect/>
          </a:stretch>
        </p:blipFill>
        <p:spPr>
          <a:xfrm>
            <a:off x="5532120" y="1353312"/>
            <a:ext cx="6099048" cy="4946904"/>
          </a:xfrm>
          <a:prstGeom prst="rect">
            <a:avLst/>
          </a:prstGeom>
        </p:spPr>
      </p:pic>
      <p:sp>
        <p:nvSpPr>
          <p:cNvPr id="5" name="Text 2"/>
          <p:cNvSpPr/>
          <p:nvPr/>
        </p:nvSpPr>
        <p:spPr>
          <a:xfrm>
            <a:off x="566928" y="1463040"/>
            <a:ext cx="4663440" cy="548640"/>
          </a:xfrm>
          <a:prstGeom prst="rect">
            <a:avLst/>
          </a:prstGeom>
          <a:noFill/>
          <a:ln/>
        </p:spPr>
        <p:txBody>
          <a:bodyPr wrap="square" lIns="0" tIns="0" rIns="0" bIns="0" rtlCol="0" anchor="t"/>
          <a:lstStyle/>
          <a:p>
            <a:pPr indent="0" marL="0">
              <a:buNone/>
            </a:pPr>
            <a:r>
              <a:rPr lang="en-US" sz="1450" b="1" dirty="0">
                <a:solidFill>
                  <a:srgbClr val="0F2742"/>
                </a:solidFill>
                <a:latin typeface="Calibri" pitchFamily="34" charset="0"/>
                <a:ea typeface="Calibri" pitchFamily="34" charset="-122"/>
                <a:cs typeface="Calibri" pitchFamily="34" charset="-120"/>
              </a:rPr>
              <a:t>Decisions are recorded, not remembered</a:t>
            </a:r>
            <a:endParaRPr lang="en-US" sz="1450" dirty="0"/>
          </a:p>
        </p:txBody>
      </p:sp>
      <p:sp>
        <p:nvSpPr>
          <p:cNvPr id="6" name="Text 3"/>
          <p:cNvSpPr/>
          <p:nvPr/>
        </p:nvSpPr>
        <p:spPr>
          <a:xfrm>
            <a:off x="566928" y="2011680"/>
            <a:ext cx="4663440" cy="1005840"/>
          </a:xfrm>
          <a:prstGeom prst="rect">
            <a:avLst/>
          </a:prstGeom>
          <a:noFill/>
          <a:ln/>
        </p:spPr>
        <p:txBody>
          <a:bodyPr wrap="square" lIns="0" tIns="0" rIns="0" bIns="0" rtlCol="0" anchor="t"/>
          <a:lstStyle/>
          <a:p>
            <a:pPr indent="0" marL="0">
              <a:buNone/>
            </a:pPr>
            <a:r>
              <a:rPr lang="en-US" sz="1200" dirty="0">
                <a:solidFill>
                  <a:srgbClr val="44566C"/>
                </a:solidFill>
                <a:latin typeface="Calibri" pitchFamily="34" charset="0"/>
                <a:ea typeface="Calibri" pitchFamily="34" charset="-122"/>
                <a:cs typeface="Calibri" pitchFamily="34" charset="-120"/>
              </a:rPr>
              <a:t>Every choice that would otherwise look arbitrary has an ADR — why detection and classification are separate metrics, why baselines are committed but models are not.</a:t>
            </a:r>
            <a:endParaRPr lang="en-US" sz="1200" dirty="0"/>
          </a:p>
        </p:txBody>
      </p:sp>
      <p:sp>
        <p:nvSpPr>
          <p:cNvPr id="7" name="Text 4"/>
          <p:cNvSpPr/>
          <p:nvPr/>
        </p:nvSpPr>
        <p:spPr>
          <a:xfrm>
            <a:off x="566928" y="3035808"/>
            <a:ext cx="4663440" cy="548640"/>
          </a:xfrm>
          <a:prstGeom prst="rect">
            <a:avLst/>
          </a:prstGeom>
          <a:noFill/>
          <a:ln/>
        </p:spPr>
        <p:txBody>
          <a:bodyPr wrap="square" lIns="0" tIns="0" rIns="0" bIns="0" rtlCol="0" anchor="t"/>
          <a:lstStyle/>
          <a:p>
            <a:pPr indent="0" marL="0">
              <a:buNone/>
            </a:pPr>
            <a:r>
              <a:rPr lang="en-US" sz="1450" b="1" dirty="0">
                <a:solidFill>
                  <a:srgbClr val="0F2742"/>
                </a:solidFill>
                <a:latin typeface="Calibri" pitchFamily="34" charset="0"/>
                <a:ea typeface="Calibri" pitchFamily="34" charset="-122"/>
                <a:cs typeface="Calibri" pitchFamily="34" charset="-120"/>
              </a:rPr>
              <a:t>The DOM capture script lives on the server</a:t>
            </a:r>
            <a:endParaRPr lang="en-US" sz="1450" dirty="0"/>
          </a:p>
        </p:txBody>
      </p:sp>
      <p:sp>
        <p:nvSpPr>
          <p:cNvPr id="8" name="Text 5"/>
          <p:cNvSpPr/>
          <p:nvPr/>
        </p:nvSpPr>
        <p:spPr>
          <a:xfrm>
            <a:off x="566928" y="3584448"/>
            <a:ext cx="4663440" cy="1005840"/>
          </a:xfrm>
          <a:prstGeom prst="rect">
            <a:avLst/>
          </a:prstGeom>
          <a:noFill/>
          <a:ln/>
        </p:spPr>
        <p:txBody>
          <a:bodyPr wrap="square" lIns="0" tIns="0" rIns="0" bIns="0" rtlCol="0" anchor="t"/>
          <a:lstStyle/>
          <a:p>
            <a:pPr indent="0" marL="0">
              <a:buNone/>
            </a:pPr>
            <a:r>
              <a:rPr lang="en-US" sz="1200" dirty="0">
                <a:solidFill>
                  <a:srgbClr val="44566C"/>
                </a:solidFill>
                <a:latin typeface="Calibri" pitchFamily="34" charset="0"/>
                <a:ea typeface="Calibri" pitchFamily="34" charset="-122"/>
                <a:cs typeface="Calibri" pitchFamily="34" charset="-120"/>
              </a:rPr>
              <a:t>The SDK fetches it from an endpoint instead of duplicating it in TypeScript, so a field added to the capture reaches every client without an SDK release.</a:t>
            </a:r>
            <a:endParaRPr lang="en-US" sz="1200" dirty="0"/>
          </a:p>
        </p:txBody>
      </p:sp>
      <p:sp>
        <p:nvSpPr>
          <p:cNvPr id="9" name="Text 6"/>
          <p:cNvSpPr/>
          <p:nvPr/>
        </p:nvSpPr>
        <p:spPr>
          <a:xfrm>
            <a:off x="566928" y="4608576"/>
            <a:ext cx="4663440" cy="548640"/>
          </a:xfrm>
          <a:prstGeom prst="rect">
            <a:avLst/>
          </a:prstGeom>
          <a:noFill/>
          <a:ln/>
        </p:spPr>
        <p:txBody>
          <a:bodyPr wrap="square" lIns="0" tIns="0" rIns="0" bIns="0" rtlCol="0" anchor="t"/>
          <a:lstStyle/>
          <a:p>
            <a:pPr indent="0" marL="0">
              <a:buNone/>
            </a:pPr>
            <a:r>
              <a:rPr lang="en-US" sz="1450" b="1" dirty="0">
                <a:solidFill>
                  <a:srgbClr val="0F2742"/>
                </a:solidFill>
                <a:latin typeface="Calibri" pitchFamily="34" charset="0"/>
                <a:ea typeface="Calibri" pitchFamily="34" charset="-122"/>
                <a:cs typeface="Calibri" pitchFamily="34" charset="-120"/>
              </a:rPr>
              <a:t>The ablation drove the code</a:t>
            </a:r>
            <a:endParaRPr lang="en-US" sz="1450" dirty="0"/>
          </a:p>
        </p:txBody>
      </p:sp>
      <p:sp>
        <p:nvSpPr>
          <p:cNvPr id="10" name="Text 7"/>
          <p:cNvSpPr/>
          <p:nvPr/>
        </p:nvSpPr>
        <p:spPr>
          <a:xfrm>
            <a:off x="566928" y="5157216"/>
            <a:ext cx="4663440" cy="1005840"/>
          </a:xfrm>
          <a:prstGeom prst="rect">
            <a:avLst/>
          </a:prstGeom>
          <a:noFill/>
          <a:ln/>
        </p:spPr>
        <p:txBody>
          <a:bodyPr wrap="square" lIns="0" tIns="0" rIns="0" bIns="0" rtlCol="0" anchor="t"/>
          <a:lstStyle/>
          <a:p>
            <a:pPr indent="0" marL="0">
              <a:buNone/>
            </a:pPr>
            <a:r>
              <a:rPr lang="en-US" sz="1200" dirty="0">
                <a:solidFill>
                  <a:srgbClr val="44566C"/>
                </a:solidFill>
                <a:latin typeface="Calibri" pitchFamily="34" charset="0"/>
                <a:ea typeface="Calibri" pitchFamily="34" charset="-122"/>
                <a:cs typeface="Calibri" pitchFamily="34" charset="-120"/>
              </a:rPr>
              <a:t>It exposed four inference paths zero-padding the pixel-structural columns — the model had been trained on evidence it never received in production. Fixing that meant retraining.</a:t>
            </a:r>
            <a:endParaRPr lang="en-US" sz="1200" dirty="0"/>
          </a:p>
        </p:txBody>
      </p:sp>
      <p:sp>
        <p:nvSpPr>
          <p:cNvPr id="11" name="Text 8"/>
          <p:cNvSpPr/>
          <p:nvPr/>
        </p:nvSpPr>
        <p:spPr>
          <a:xfrm>
            <a:off x="566928" y="5532120"/>
            <a:ext cx="4709160" cy="914400"/>
          </a:xfrm>
          <a:prstGeom prst="rect">
            <a:avLst/>
          </a:prstGeom>
          <a:noFill/>
          <a:ln/>
        </p:spPr>
        <p:txBody>
          <a:bodyPr wrap="square" lIns="0" tIns="0" rIns="0" bIns="0" rtlCol="0" anchor="ctr"/>
          <a:lstStyle/>
          <a:p>
            <a:pPr indent="0" marL="0">
              <a:buNone/>
            </a:pPr>
            <a:r>
              <a:rPr lang="en-US" sz="1200" b="1" dirty="0">
                <a:solidFill>
                  <a:srgbClr val="0F2742"/>
                </a:solidFill>
                <a:latin typeface="Calibri" pitchFamily="34" charset="0"/>
                <a:ea typeface="Calibri" pitchFamily="34" charset="-122"/>
                <a:cs typeface="Calibri" pitchFamily="34" charset="-120"/>
              </a:rPr>
              <a:t>Verified continuously   </a:t>
            </a:r>
            <a:pPr indent="0" marL="0">
              <a:buNone/>
            </a:pPr>
            <a:r>
              <a:rPr lang="en-US" sz="1200" dirty="0">
                <a:solidFill>
                  <a:srgbClr val="44566C"/>
                </a:solidFill>
                <a:latin typeface="Calibri" pitchFamily="34" charset="0"/>
                <a:ea typeface="Calibri" pitchFamily="34" charset="-122"/>
                <a:cs typeface="Calibri" pitchFamily="34" charset="-120"/>
              </a:rPr>
              <a:t>1,098 automated tests, a detection benchmark that fails the build on a single miss, and a separate smoke test proving the AI path actually executed.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4F9"/>
        </a:solidFill>
      </p:bgPr>
    </p:bg>
    <p:spTree>
      <p:nvGrpSpPr>
        <p:cNvPr id="1" name=""/>
        <p:cNvGrpSpPr/>
        <p:nvPr/>
      </p:nvGrpSpPr>
      <p:grpSpPr>
        <a:xfrm>
          <a:off x="0" y="0"/>
          <a:ext cx="0" cy="0"/>
          <a:chOff x="0" y="0"/>
          <a:chExt cx="0" cy="0"/>
        </a:xfrm>
      </p:grpSpPr>
      <p:sp>
        <p:nvSpPr>
          <p:cNvPr id="2" name="Text 0"/>
          <p:cNvSpPr/>
          <p:nvPr/>
        </p:nvSpPr>
        <p:spPr>
          <a:xfrm>
            <a:off x="594360" y="137160"/>
            <a:ext cx="8229600" cy="274320"/>
          </a:xfrm>
          <a:prstGeom prst="rect">
            <a:avLst/>
          </a:prstGeom>
          <a:noFill/>
          <a:ln/>
        </p:spPr>
        <p:txBody>
          <a:bodyPr wrap="square" lIns="0" tIns="0" rIns="0" bIns="0" rtlCol="0" anchor="ctr"/>
          <a:lstStyle/>
          <a:p>
            <a:pPr indent="0" marL="0">
              <a:buNone/>
            </a:pPr>
            <a:r>
              <a:rPr lang="en-US" sz="1150" b="1" spc="220" kern="0" dirty="0">
                <a:solidFill>
                  <a:srgbClr val="FF6A2B"/>
                </a:solidFill>
                <a:latin typeface="Calibri" pitchFamily="34" charset="0"/>
                <a:ea typeface="Calibri" pitchFamily="34" charset="-122"/>
                <a:cs typeface="Calibri" pitchFamily="34" charset="-120"/>
              </a:rPr>
              <a:t>THE CODE</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200" b="1" dirty="0">
                <a:solidFill>
                  <a:srgbClr val="0F2742"/>
                </a:solidFill>
                <a:latin typeface="Cambria" pitchFamily="34" charset="0"/>
                <a:ea typeface="Cambria" pitchFamily="34" charset="-122"/>
                <a:cs typeface="Cambria" pitchFamily="34" charset="-120"/>
              </a:rPr>
              <a:t>The two lines that make it more than a pixel differ</a:t>
            </a:r>
            <a:endParaRPr lang="en-US" sz="3200" dirty="0"/>
          </a:p>
        </p:txBody>
      </p:sp>
      <p:sp>
        <p:nvSpPr>
          <p:cNvPr id="4" name="Shape 2"/>
          <p:cNvSpPr/>
          <p:nvPr/>
        </p:nvSpPr>
        <p:spPr>
          <a:xfrm>
            <a:off x="566928" y="1417320"/>
            <a:ext cx="5669280" cy="3246120"/>
          </a:xfrm>
          <a:prstGeom prst="roundRect">
            <a:avLst>
              <a:gd name="adj" fmla="val 2535"/>
            </a:avLst>
          </a:prstGeom>
          <a:solidFill>
            <a:srgbClr val="0F2742"/>
          </a:solidFill>
          <a:ln/>
        </p:spPr>
      </p:sp>
      <p:sp>
        <p:nvSpPr>
          <p:cNvPr id="5" name="Text 3"/>
          <p:cNvSpPr/>
          <p:nvPr/>
        </p:nvSpPr>
        <p:spPr>
          <a:xfrm>
            <a:off x="841248" y="1572768"/>
            <a:ext cx="5120640" cy="274320"/>
          </a:xfrm>
          <a:prstGeom prst="rect">
            <a:avLst/>
          </a:prstGeom>
          <a:noFill/>
          <a:ln/>
        </p:spPr>
        <p:txBody>
          <a:bodyPr wrap="square" lIns="0" tIns="0" rIns="0" bIns="0" rtlCol="0" anchor="ctr"/>
          <a:lstStyle/>
          <a:p>
            <a:pPr indent="0" marL="0">
              <a:buNone/>
            </a:pPr>
            <a:r>
              <a:rPr lang="en-US" sz="1100" b="1" dirty="0">
                <a:solidFill>
                  <a:srgbClr val="FF6A2B"/>
                </a:solidFill>
                <a:latin typeface="Calibri" pitchFamily="34" charset="0"/>
                <a:ea typeface="Calibri" pitchFamily="34" charset="-122"/>
                <a:cs typeface="Calibri" pitchFamily="34" charset="-120"/>
              </a:rPr>
              <a:t>visual_regression/decision.py</a:t>
            </a:r>
            <a:endParaRPr lang="en-US" sz="1100" dirty="0"/>
          </a:p>
        </p:txBody>
      </p:sp>
      <p:sp>
        <p:nvSpPr>
          <p:cNvPr id="6" name="Text 4"/>
          <p:cNvSpPr/>
          <p:nvPr/>
        </p:nvSpPr>
        <p:spPr>
          <a:xfrm>
            <a:off x="841248" y="1965960"/>
            <a:ext cx="5120640" cy="2514600"/>
          </a:xfrm>
          <a:prstGeom prst="rect">
            <a:avLst/>
          </a:prstGeom>
          <a:noFill/>
          <a:ln/>
        </p:spPr>
        <p:txBody>
          <a:bodyPr wrap="square" lIns="0" tIns="0" rIns="0" bIns="0" rtlCol="0" anchor="t"/>
          <a:lstStyle/>
          <a:p>
            <a:pPr indent="0" marL="0">
              <a:lnSpc>
                <a:spcPts val="1500"/>
              </a:lnSpc>
              <a:buNone/>
            </a:pPr>
            <a:r>
              <a:rPr lang="en-US" sz="1100" dirty="0">
                <a:solidFill>
                  <a:srgbClr val="6B8CAE"/>
                </a:solidFill>
                <a:latin typeface="Courier New" pitchFamily="34" charset="0"/>
                <a:ea typeface="Courier New" pitchFamily="34" charset="-122"/>
                <a:cs typeface="Courier New" pitchFamily="34" charset="-120"/>
              </a:rPr>
              <a:t># A CNN score is a probabilistic guess, so it is
# gated behind pixel corroboration.
# A DOM-diff verdict is not a guess.
</a:t>
            </a:r>
            <a:endParaRPr lang="en-US" sz="1100" dirty="0"/>
          </a:p>
          <a:p>
            <a:pPr indent="0" marL="0">
              <a:lnSpc>
                <a:spcPts val="1500"/>
              </a:lnSpc>
              <a:buNone/>
            </a:pPr>
            <a:r>
              <a:rPr lang="en-US" sz="1100" dirty="0">
                <a:solidFill>
                  <a:srgbClr val="FFFFFF"/>
                </a:solidFill>
                <a:latin typeface="Courier New" pitchFamily="34" charset="0"/>
                <a:ea typeface="Courier New" pitchFamily="34" charset="-122"/>
                <a:cs typeface="Courier New" pitchFamily="34" charset="-120"/>
              </a:rPr>
              <a:t>dom_confirmed = bool(
    ai_assessment.get("dom_confirmed"))
</a:t>
            </a:r>
            <a:endParaRPr lang="en-US" sz="1100" dirty="0"/>
          </a:p>
          <a:p>
            <a:pPr indent="0" marL="0">
              <a:lnSpc>
                <a:spcPts val="1500"/>
              </a:lnSpc>
              <a:buNone/>
            </a:pPr>
            <a:r>
              <a:rPr lang="en-US" sz="1100" dirty="0">
                <a:solidFill>
                  <a:srgbClr val="FF6A2B"/>
                </a:solidFill>
                <a:latin typeface="Courier New" pitchFamily="34" charset="0"/>
                <a:ea typeface="Courier New" pitchFamily="34" charset="-122"/>
                <a:cs typeface="Courier New" pitchFamily="34" charset="-120"/>
              </a:rPr>
              <a:t>passed = not (meaningful and
              (pixel_fail or dom_confirmed))
</a:t>
            </a:r>
            <a:endParaRPr lang="en-US" sz="1100" dirty="0"/>
          </a:p>
          <a:p>
            <a:pPr indent="0" marL="0">
              <a:lnSpc>
                <a:spcPts val="1500"/>
              </a:lnSpc>
              <a:buNone/>
            </a:pPr>
            <a:r>
              <a:rPr lang="en-US" sz="1100" dirty="0">
                <a:solidFill>
                  <a:srgbClr val="FFFFFF"/>
                </a:solidFill>
                <a:latin typeface="Courier New" pitchFamily="34" charset="0"/>
                <a:ea typeface="Courier New" pitchFamily="34" charset="-122"/>
                <a:cs typeface="Courier New" pitchFamily="34" charset="-120"/>
              </a:rPr>
              <a:t>decision_source = "hybrid"</a:t>
            </a:r>
            <a:endParaRPr lang="en-US" sz="1100" dirty="0"/>
          </a:p>
        </p:txBody>
      </p:sp>
      <p:sp>
        <p:nvSpPr>
          <p:cNvPr id="7" name="Text 5"/>
          <p:cNvSpPr/>
          <p:nvPr/>
        </p:nvSpPr>
        <p:spPr>
          <a:xfrm>
            <a:off x="566928" y="4846320"/>
            <a:ext cx="5669280" cy="822960"/>
          </a:xfrm>
          <a:prstGeom prst="rect">
            <a:avLst/>
          </a:prstGeom>
          <a:noFill/>
          <a:ln/>
        </p:spPr>
        <p:txBody>
          <a:bodyPr wrap="square" lIns="0" tIns="0" rIns="0" bIns="0" rtlCol="0" anchor="ctr"/>
          <a:lstStyle/>
          <a:p>
            <a:pPr indent="0" marL="0">
              <a:buNone/>
            </a:pPr>
            <a:r>
              <a:rPr lang="en-US" sz="1200" dirty="0">
                <a:solidFill>
                  <a:srgbClr val="44566C"/>
                </a:solidFill>
                <a:latin typeface="Calibri" pitchFamily="34" charset="0"/>
                <a:ea typeface="Calibri" pitchFamily="34" charset="-122"/>
                <a:cs typeface="Calibri" pitchFamily="34" charset="-120"/>
              </a:rPr>
              <a:t>A removed element can be a tiny fraction of the page's pixels and still be a real defect. This is the line that stops the noise floor from swallowing it.</a:t>
            </a:r>
            <a:endParaRPr lang="en-US" sz="1200" dirty="0"/>
          </a:p>
        </p:txBody>
      </p:sp>
      <p:sp>
        <p:nvSpPr>
          <p:cNvPr id="8" name="Shape 6"/>
          <p:cNvSpPr/>
          <p:nvPr/>
        </p:nvSpPr>
        <p:spPr>
          <a:xfrm>
            <a:off x="6510528" y="1417320"/>
            <a:ext cx="5120640" cy="3246120"/>
          </a:xfrm>
          <a:prstGeom prst="roundRect">
            <a:avLst>
              <a:gd name="adj" fmla="val 2535"/>
            </a:avLst>
          </a:prstGeom>
          <a:solidFill>
            <a:srgbClr val="0F2742"/>
          </a:solidFill>
          <a:ln/>
        </p:spPr>
      </p:sp>
      <p:sp>
        <p:nvSpPr>
          <p:cNvPr id="9" name="Text 7"/>
          <p:cNvSpPr/>
          <p:nvPr/>
        </p:nvSpPr>
        <p:spPr>
          <a:xfrm>
            <a:off x="6784848" y="1572768"/>
            <a:ext cx="4572000" cy="274320"/>
          </a:xfrm>
          <a:prstGeom prst="rect">
            <a:avLst/>
          </a:prstGeom>
          <a:noFill/>
          <a:ln/>
        </p:spPr>
        <p:txBody>
          <a:bodyPr wrap="square" lIns="0" tIns="0" rIns="0" bIns="0" rtlCol="0" anchor="ctr"/>
          <a:lstStyle/>
          <a:p>
            <a:pPr indent="0" marL="0">
              <a:buNone/>
            </a:pPr>
            <a:r>
              <a:rPr lang="en-US" sz="1100" b="1" dirty="0">
                <a:solidFill>
                  <a:srgbClr val="FF6A2B"/>
                </a:solidFill>
                <a:latin typeface="Calibri" pitchFamily="34" charset="0"/>
                <a:ea typeface="Calibri" pitchFamily="34" charset="-122"/>
                <a:cs typeface="Calibri" pitchFamily="34" charset="-120"/>
              </a:rPr>
              <a:t>sdk/src/index.ts  —  used from a client's test</a:t>
            </a:r>
            <a:endParaRPr lang="en-US" sz="1100" dirty="0"/>
          </a:p>
        </p:txBody>
      </p:sp>
      <p:sp>
        <p:nvSpPr>
          <p:cNvPr id="10" name="Text 8"/>
          <p:cNvSpPr/>
          <p:nvPr/>
        </p:nvSpPr>
        <p:spPr>
          <a:xfrm>
            <a:off x="6784848" y="1965960"/>
            <a:ext cx="4572000" cy="2514600"/>
          </a:xfrm>
          <a:prstGeom prst="rect">
            <a:avLst/>
          </a:prstGeom>
          <a:noFill/>
          <a:ln/>
        </p:spPr>
        <p:txBody>
          <a:bodyPr wrap="square" lIns="0" tIns="0" rIns="0" bIns="0" rtlCol="0" anchor="t"/>
          <a:lstStyle/>
          <a:p>
            <a:pPr indent="0" marL="0">
              <a:lnSpc>
                <a:spcPts val="1500"/>
              </a:lnSpc>
              <a:buNone/>
            </a:pPr>
            <a:r>
              <a:rPr lang="en-US" sz="1100" dirty="0">
                <a:solidFill>
                  <a:srgbClr val="FFFFFF"/>
                </a:solidFill>
                <a:latin typeface="Courier New" pitchFamily="34" charset="0"/>
                <a:ea typeface="Courier New" pitchFamily="34" charset="-122"/>
                <a:cs typeface="Courier New" pitchFamily="34" charset="-120"/>
              </a:rPr>
              <a:t>test('homepage', async ({ page }) =&gt; {
  await page.goto('https://acme.com');
</a:t>
            </a:r>
            <a:endParaRPr lang="en-US" sz="1100" dirty="0"/>
          </a:p>
          <a:p>
            <a:pPr indent="0" marL="0">
              <a:lnSpc>
                <a:spcPts val="1500"/>
              </a:lnSpc>
              <a:buNone/>
            </a:pPr>
            <a:r>
              <a:rPr lang="en-US" sz="1100" dirty="0">
                <a:solidFill>
                  <a:srgbClr val="6B8CAE"/>
                </a:solidFill>
                <a:latin typeface="Courier New" pitchFamily="34" charset="0"/>
                <a:ea typeface="Courier New" pitchFamily="34" charset="-122"/>
                <a:cs typeface="Courier New" pitchFamily="34" charset="-120"/>
              </a:rPr>
              <a:t>  // uploads the DOM alongside the
  // screenshot - one evaluate() away,
  // since we already hold the Page
</a:t>
            </a:r>
            <a:endParaRPr lang="en-US" sz="1100" dirty="0"/>
          </a:p>
          <a:p>
            <a:pPr indent="0" marL="0">
              <a:lnSpc>
                <a:spcPts val="1500"/>
              </a:lnSpc>
              <a:buNone/>
            </a:pPr>
            <a:r>
              <a:rPr lang="en-US" sz="1100" dirty="0">
                <a:solidFill>
                  <a:srgbClr val="FF6A2B"/>
                </a:solidFill>
                <a:latin typeface="Courier New" pitchFamily="34" charset="0"/>
                <a:ea typeface="Courier New" pitchFamily="34" charset="-122"/>
                <a:cs typeface="Courier New" pitchFamily="34" charset="-120"/>
              </a:rPr>
              <a:t>  await visualSnapshot(page, 'homepage');
</a:t>
            </a:r>
            <a:endParaRPr lang="en-US" sz="1100" dirty="0"/>
          </a:p>
          <a:p>
            <a:pPr indent="0" marL="0">
              <a:lnSpc>
                <a:spcPts val="1500"/>
              </a:lnSpc>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11" name="Text 9"/>
          <p:cNvSpPr/>
          <p:nvPr/>
        </p:nvSpPr>
        <p:spPr>
          <a:xfrm>
            <a:off x="6510528" y="4846320"/>
            <a:ext cx="5120640" cy="822960"/>
          </a:xfrm>
          <a:prstGeom prst="rect">
            <a:avLst/>
          </a:prstGeom>
          <a:noFill/>
          <a:ln/>
        </p:spPr>
        <p:txBody>
          <a:bodyPr wrap="square" lIns="0" tIns="0" rIns="0" bIns="0" rtlCol="0" anchor="ctr"/>
          <a:lstStyle/>
          <a:p>
            <a:pPr indent="0" marL="0">
              <a:buNone/>
            </a:pPr>
            <a:r>
              <a:rPr lang="en-US" sz="1200" dirty="0">
                <a:solidFill>
                  <a:srgbClr val="44566C"/>
                </a:solidFill>
                <a:latin typeface="Calibri" pitchFamily="34" charset="0"/>
                <a:ea typeface="Calibri" pitchFamily="34" charset="-122"/>
                <a:cs typeface="Calibri" pitchFamily="34" charset="-120"/>
              </a:rPr>
              <a:t>An image-only upload leaves structural comparison nothing to work with. That is why the SDK sends both — and why an existing suite gets the full analysis from one line.</a:t>
            </a:r>
            <a:endParaRPr lang="en-US" sz="1200" dirty="0"/>
          </a:p>
        </p:txBody>
      </p:sp>
      <p:sp>
        <p:nvSpPr>
          <p:cNvPr id="12" name="Text 10"/>
          <p:cNvSpPr/>
          <p:nvPr/>
        </p:nvSpPr>
        <p:spPr>
          <a:xfrm>
            <a:off x="566928" y="5897880"/>
            <a:ext cx="11064240" cy="457200"/>
          </a:xfrm>
          <a:prstGeom prst="rect">
            <a:avLst/>
          </a:prstGeom>
          <a:noFill/>
          <a:ln/>
        </p:spPr>
        <p:txBody>
          <a:bodyPr wrap="square" lIns="0" tIns="0" rIns="0" bIns="0" rtlCol="0" anchor="ctr"/>
          <a:lstStyle/>
          <a:p>
            <a:pPr indent="0" marL="0">
              <a:buNone/>
            </a:pPr>
            <a:r>
              <a:rPr lang="en-US" sz="1200" i="1" dirty="0">
                <a:solidFill>
                  <a:srgbClr val="0F2742"/>
                </a:solidFill>
                <a:latin typeface="Calibri" pitchFamily="34" charset="0"/>
                <a:ea typeface="Calibri" pitchFamily="34" charset="-122"/>
                <a:cs typeface="Calibri" pitchFamily="34" charset="-120"/>
              </a:rPr>
              <a:t>Underneath: diagnose_from_dom_diff() buckets every baseline element, then resolves in priority order — id-backed missing before text, font, colour, then identity-less missing last.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4F9"/>
        </a:solidFill>
      </p:bgPr>
    </p:bg>
    <p:spTree>
      <p:nvGrpSpPr>
        <p:cNvPr id="1" name=""/>
        <p:cNvGrpSpPr/>
        <p:nvPr/>
      </p:nvGrpSpPr>
      <p:grpSpPr>
        <a:xfrm>
          <a:off x="0" y="0"/>
          <a:ext cx="0" cy="0"/>
          <a:chOff x="0" y="0"/>
          <a:chExt cx="0" cy="0"/>
        </a:xfrm>
      </p:grpSpPr>
      <p:sp>
        <p:nvSpPr>
          <p:cNvPr id="2" name="Text 0"/>
          <p:cNvSpPr/>
          <p:nvPr/>
        </p:nvSpPr>
        <p:spPr>
          <a:xfrm>
            <a:off x="594360" y="137160"/>
            <a:ext cx="8229600" cy="274320"/>
          </a:xfrm>
          <a:prstGeom prst="rect">
            <a:avLst/>
          </a:prstGeom>
          <a:noFill/>
          <a:ln/>
        </p:spPr>
        <p:txBody>
          <a:bodyPr wrap="square" lIns="0" tIns="0" rIns="0" bIns="0" rtlCol="0" anchor="ctr"/>
          <a:lstStyle/>
          <a:p>
            <a:pPr indent="0" marL="0">
              <a:buNone/>
            </a:pPr>
            <a:r>
              <a:rPr lang="en-US" sz="1150" b="1" spc="220" kern="0" dirty="0">
                <a:solidFill>
                  <a:srgbClr val="FF6A2B"/>
                </a:solidFill>
                <a:latin typeface="Calibri" pitchFamily="34" charset="0"/>
                <a:ea typeface="Calibri" pitchFamily="34" charset="-122"/>
                <a:cs typeface="Calibri" pitchFamily="34" charset="-120"/>
              </a:rPr>
              <a:t>THE CODE</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200" b="1" dirty="0">
                <a:solidFill>
                  <a:srgbClr val="0F2742"/>
                </a:solidFill>
                <a:latin typeface="Cambria" pitchFamily="34" charset="0"/>
                <a:ea typeface="Cambria" pitchFamily="34" charset="-122"/>
                <a:cs typeface="Cambria" pitchFamily="34" charset="-120"/>
              </a:rPr>
              <a:t>The function the ablation points at</a:t>
            </a:r>
            <a:endParaRPr lang="en-US" sz="3200" dirty="0"/>
          </a:p>
        </p:txBody>
      </p:sp>
      <p:sp>
        <p:nvSpPr>
          <p:cNvPr id="4" name="Shape 2"/>
          <p:cNvSpPr/>
          <p:nvPr/>
        </p:nvSpPr>
        <p:spPr>
          <a:xfrm>
            <a:off x="566928" y="1417320"/>
            <a:ext cx="6858000" cy="4160520"/>
          </a:xfrm>
          <a:prstGeom prst="roundRect">
            <a:avLst>
              <a:gd name="adj" fmla="val 1978"/>
            </a:avLst>
          </a:prstGeom>
          <a:solidFill>
            <a:srgbClr val="0F2742"/>
          </a:solidFill>
          <a:ln/>
        </p:spPr>
      </p:sp>
      <p:sp>
        <p:nvSpPr>
          <p:cNvPr id="5" name="Text 3"/>
          <p:cNvSpPr/>
          <p:nvPr/>
        </p:nvSpPr>
        <p:spPr>
          <a:xfrm>
            <a:off x="841248" y="1572768"/>
            <a:ext cx="6309360" cy="274320"/>
          </a:xfrm>
          <a:prstGeom prst="rect">
            <a:avLst/>
          </a:prstGeom>
          <a:noFill/>
          <a:ln/>
        </p:spPr>
        <p:txBody>
          <a:bodyPr wrap="square" lIns="0" tIns="0" rIns="0" bIns="0" rtlCol="0" anchor="ctr"/>
          <a:lstStyle/>
          <a:p>
            <a:pPr indent="0" marL="0">
              <a:buNone/>
            </a:pPr>
            <a:r>
              <a:rPr lang="en-US" sz="1100" b="1" dirty="0">
                <a:solidFill>
                  <a:srgbClr val="FF6A2B"/>
                </a:solidFill>
                <a:latin typeface="Calibri" pitchFamily="34" charset="0"/>
                <a:ea typeface="Calibri" pitchFamily="34" charset="-122"/>
                <a:cs typeface="Calibri" pitchFamily="34" charset="-120"/>
              </a:rPr>
              <a:t>visual_regression/ai_features.py  —  diagnose_from_dom_diff()</a:t>
            </a:r>
            <a:endParaRPr lang="en-US" sz="1100" dirty="0"/>
          </a:p>
        </p:txBody>
      </p:sp>
      <p:sp>
        <p:nvSpPr>
          <p:cNvPr id="6" name="Text 4"/>
          <p:cNvSpPr/>
          <p:nvPr/>
        </p:nvSpPr>
        <p:spPr>
          <a:xfrm>
            <a:off x="841248" y="1938528"/>
            <a:ext cx="6309360" cy="3474720"/>
          </a:xfrm>
          <a:prstGeom prst="rect">
            <a:avLst/>
          </a:prstGeom>
          <a:noFill/>
          <a:ln/>
        </p:spPr>
        <p:txBody>
          <a:bodyPr wrap="square" lIns="0" tIns="0" rIns="0" bIns="0" rtlCol="0" anchor="t"/>
          <a:lstStyle/>
          <a:p>
            <a:pPr indent="0" marL="0">
              <a:lnSpc>
                <a:spcPts val="1500"/>
              </a:lnSpc>
              <a:buNone/>
            </a:pPr>
            <a:r>
              <a:rPr lang="en-US" sz="1050" dirty="0">
                <a:solidFill>
                  <a:srgbClr val="6B8CAE"/>
                </a:solidFill>
                <a:latin typeface="Courier New" pitchFamily="34" charset="0"/>
                <a:ea typeface="Courier New" pitchFamily="34" charset="-122"/>
                <a:cs typeface="Courier New" pitchFamily="34" charset="-120"/>
              </a:rPr>
              <a:t># every baseline element is bucketed, then buckets are
# resolved in priority order - not in document order
</a:t>
            </a:r>
            <a:endParaRPr lang="en-US" sz="1050" dirty="0"/>
          </a:p>
          <a:p>
            <a:pPr indent="0" marL="0">
              <a:lnSpc>
                <a:spcPts val="1500"/>
              </a:lnSpc>
              <a:buNone/>
            </a:pPr>
            <a:r>
              <a:rPr lang="en-US" sz="1050" dirty="0">
                <a:solidFill>
                  <a:srgbClr val="FF6A2B"/>
                </a:solidFill>
                <a:latin typeface="Courier New" pitchFamily="34" charset="0"/>
                <a:ea typeface="Courier New" pitchFamily="34" charset="-122"/>
                <a:cs typeface="Courier New" pitchFamily="34" charset="-120"/>
              </a:rPr>
              <a:t>if failed_to_load:
</a:t>
            </a:r>
            <a:endParaRPr lang="en-US" sz="1050" dirty="0"/>
          </a:p>
          <a:p>
            <a:pPr indent="0" marL="0">
              <a:lnSpc>
                <a:spcPts val="1500"/>
              </a:lnSpc>
              <a:buNone/>
            </a:pPr>
            <a:r>
              <a:rPr lang="en-US" sz="1050" dirty="0">
                <a:solidFill>
                  <a:srgbClr val="FFFFFF"/>
                </a:solidFill>
                <a:latin typeface="Courier New" pitchFamily="34" charset="0"/>
                <a:ea typeface="Courier New" pitchFamily="34" charset="-122"/>
                <a:cs typeface="Courier New" pitchFamily="34" charset="-120"/>
              </a:rPr>
              <a:t>    return "broken-image", (
        f"the &lt;img&gt; at ({x},{y}) still occupies its "
        f"{w}x{h} box but decoded to nothing")
</a:t>
            </a:r>
            <a:endParaRPr lang="en-US" sz="1050" dirty="0"/>
          </a:p>
          <a:p>
            <a:pPr indent="0" marL="0">
              <a:lnSpc>
                <a:spcPts val="1500"/>
              </a:lnSpc>
              <a:buNone/>
            </a:pPr>
            <a:r>
              <a:rPr lang="en-US" sz="1050" dirty="0">
                <a:solidFill>
                  <a:srgbClr val="FFFFFF"/>
                </a:solidFill>
                <a:latin typeface="Courier New" pitchFamily="34" charset="0"/>
                <a:ea typeface="Courier New" pitchFamily="34" charset="-122"/>
                <a:cs typeface="Courier New" pitchFamily="34" charset="-120"/>
              </a:rPr>
              <a:t>if missing_generic_strong: return "missing-element", ...
if text_issue:             return "text-issue", ...
if font_changed:           return "font-change", ...
if color_changed:          return "color-regression", ...
</a:t>
            </a:r>
            <a:endParaRPr lang="en-US" sz="1050" dirty="0"/>
          </a:p>
          <a:p>
            <a:pPr indent="0" marL="0">
              <a:lnSpc>
                <a:spcPts val="1500"/>
              </a:lnSpc>
              <a:buNone/>
            </a:pPr>
            <a:r>
              <a:rPr lang="en-US" sz="1050" dirty="0">
                <a:solidFill>
                  <a:srgbClr val="6B8CAE"/>
                </a:solidFill>
                <a:latin typeface="Courier New" pitchFamily="34" charset="0"/>
                <a:ea typeface="Courier New" pitchFamily="34" charset="-122"/>
                <a:cs typeface="Courier New" pitchFamily="34" charset="-120"/>
              </a:rPr>
              <a:t># identity-less "missing" is the noisiest verdict here,
# so it is the fallback rather than the first check
</a:t>
            </a:r>
            <a:endParaRPr lang="en-US" sz="1050" dirty="0"/>
          </a:p>
          <a:p>
            <a:pPr indent="0" marL="0">
              <a:lnSpc>
                <a:spcPts val="1500"/>
              </a:lnSpc>
              <a:buNone/>
            </a:pPr>
            <a:r>
              <a:rPr lang="en-US" sz="1050" dirty="0">
                <a:solidFill>
                  <a:srgbClr val="FF6A2B"/>
                </a:solidFill>
                <a:latin typeface="Courier New" pitchFamily="34" charset="0"/>
                <a:ea typeface="Courier New" pitchFamily="34" charset="-122"/>
                <a:cs typeface="Courier New" pitchFamily="34" charset="-120"/>
              </a:rPr>
              <a:t>if missing_generic_weak:   return "missing-element", ...</a:t>
            </a:r>
            <a:endParaRPr lang="en-US" sz="1050" dirty="0"/>
          </a:p>
        </p:txBody>
      </p:sp>
      <p:sp>
        <p:nvSpPr>
          <p:cNvPr id="7" name="Shape 5"/>
          <p:cNvSpPr/>
          <p:nvPr/>
        </p:nvSpPr>
        <p:spPr>
          <a:xfrm>
            <a:off x="7726680" y="1417320"/>
            <a:ext cx="3904488" cy="4160520"/>
          </a:xfrm>
          <a:prstGeom prst="roundRect">
            <a:avLst>
              <a:gd name="adj" fmla="val 2108"/>
            </a:avLst>
          </a:prstGeom>
          <a:solidFill>
            <a:srgbClr val="FFFFFF"/>
          </a:solidFill>
          <a:ln/>
          <a:effectLst>
            <a:outerShdw sx="100000" sy="100000" kx="0" ky="0" algn="bl" rotWithShape="0" blurRad="127000" dist="25400" dir="5400000">
              <a:srgbClr val="8FA3B8">
                <a:alpha val="28000"/>
              </a:srgbClr>
            </a:outerShdw>
          </a:effectLst>
        </p:spPr>
      </p:sp>
      <p:sp>
        <p:nvSpPr>
          <p:cNvPr id="8" name="Text 6"/>
          <p:cNvSpPr/>
          <p:nvPr/>
        </p:nvSpPr>
        <p:spPr>
          <a:xfrm>
            <a:off x="8028432" y="1627632"/>
            <a:ext cx="3291840" cy="320040"/>
          </a:xfrm>
          <a:prstGeom prst="rect">
            <a:avLst/>
          </a:prstGeom>
          <a:noFill/>
          <a:ln/>
        </p:spPr>
        <p:txBody>
          <a:bodyPr wrap="square" lIns="0" tIns="0" rIns="0" bIns="0" rtlCol="0" anchor="ctr"/>
          <a:lstStyle/>
          <a:p>
            <a:pPr indent="0" marL="0">
              <a:buNone/>
            </a:pPr>
            <a:r>
              <a:rPr lang="en-US" sz="1450" b="1" dirty="0">
                <a:solidFill>
                  <a:srgbClr val="0F2742"/>
                </a:solidFill>
                <a:latin typeface="Calibri" pitchFamily="34" charset="0"/>
                <a:ea typeface="Calibri" pitchFamily="34" charset="-122"/>
                <a:cs typeface="Calibri" pitchFamily="34" charset="-120"/>
              </a:rPr>
              <a:t>Why this is the contribution</a:t>
            </a:r>
            <a:endParaRPr lang="en-US" sz="1450" dirty="0"/>
          </a:p>
        </p:txBody>
      </p:sp>
      <p:sp>
        <p:nvSpPr>
          <p:cNvPr id="9" name="Text 7"/>
          <p:cNvSpPr/>
          <p:nvPr/>
        </p:nvSpPr>
        <p:spPr>
          <a:xfrm>
            <a:off x="8028432" y="2029968"/>
            <a:ext cx="3291840" cy="3383280"/>
          </a:xfrm>
          <a:prstGeom prst="rect">
            <a:avLst/>
          </a:prstGeom>
          <a:noFill/>
          <a:ln/>
        </p:spPr>
        <p:txBody>
          <a:bodyPr wrap="square" lIns="0" tIns="0" rIns="0" bIns="0" rtlCol="0" anchor="t"/>
          <a:lstStyle/>
          <a:p>
            <a:pPr indent="0" marL="0">
              <a:buNone/>
            </a:pPr>
            <a:r>
              <a:rPr lang="en-US" sz="1200" dirty="0">
                <a:solidFill>
                  <a:srgbClr val="44566C"/>
                </a:solidFill>
                <a:latin typeface="Calibri" pitchFamily="34" charset="0"/>
                <a:ea typeface="Calibri" pitchFamily="34" charset="-122"/>
                <a:cs typeface="Calibri" pitchFamily="34" charset="-120"/>
              </a:rPr>
              <a:t>It compares real element geometry, tags, fonts and colours from two page loads, so it generalises to a site it has never seen — no training data required.
</a:t>
            </a:r>
            <a:endParaRPr lang="en-US" sz="1200" dirty="0"/>
          </a:p>
          <a:p>
            <a:pPr indent="0" marL="0">
              <a:buNone/>
            </a:pPr>
            <a:r>
              <a:rPr lang="en-US" sz="1200" dirty="0">
                <a:solidFill>
                  <a:srgbClr val="44566C"/>
                </a:solidFill>
                <a:latin typeface="Calibri" pitchFamily="34" charset="0"/>
                <a:ea typeface="Calibri" pitchFamily="34" charset="-122"/>
                <a:cs typeface="Calibri" pitchFamily="34" charset="-120"/>
              </a:rPr>
              <a:t>Scanning in document order picked up whichever side effect came first, not the cause: removing an image reflows everything under it. Bucketing first and resolving by priority fixes that.
</a:t>
            </a:r>
            <a:endParaRPr lang="en-US" sz="1200" dirty="0"/>
          </a:p>
          <a:p>
            <a:pPr indent="0" marL="0">
              <a:buNone/>
            </a:pPr>
            <a:r>
              <a:rPr lang="en-US" sz="1200" b="1" dirty="0">
                <a:solidFill>
                  <a:srgbClr val="0F2742"/>
                </a:solidFill>
                <a:latin typeface="Calibri" pitchFamily="34" charset="0"/>
                <a:ea typeface="Calibri" pitchFamily="34" charset="-122"/>
                <a:cs typeface="Calibri" pitchFamily="34" charset="-120"/>
              </a:rPr>
              <a:t>The second return value is the evidence sentence printed in the report — a claim the reviewer can check against the page, rather than a confidence score.</a:t>
            </a:r>
            <a:endParaRPr lang="en-US" sz="1200" dirty="0"/>
          </a:p>
        </p:txBody>
      </p:sp>
      <p:sp>
        <p:nvSpPr>
          <p:cNvPr id="10" name="Text 8"/>
          <p:cNvSpPr/>
          <p:nvPr/>
        </p:nvSpPr>
        <p:spPr>
          <a:xfrm>
            <a:off x="566928" y="5806440"/>
            <a:ext cx="11064240" cy="411480"/>
          </a:xfrm>
          <a:prstGeom prst="rect">
            <a:avLst/>
          </a:prstGeom>
          <a:noFill/>
          <a:ln/>
        </p:spPr>
        <p:txBody>
          <a:bodyPr wrap="square" lIns="0" tIns="0" rIns="0" bIns="0" rtlCol="0" anchor="ctr"/>
          <a:lstStyle/>
          <a:p>
            <a:pPr indent="0" marL="0">
              <a:buNone/>
            </a:pPr>
            <a:r>
              <a:rPr lang="en-US" sz="1350" i="1" dirty="0">
                <a:solidFill>
                  <a:srgbClr val="0F2742"/>
                </a:solidFill>
                <a:latin typeface="Calibri" pitchFamily="34" charset="0"/>
                <a:ea typeface="Calibri" pitchFamily="34" charset="-122"/>
                <a:cs typeface="Calibri" pitchFamily="34" charset="-120"/>
              </a:rPr>
              <a:t>Remove this function and the same model scores 38.7% instead of 94.8%.</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4F9"/>
        </a:solidFill>
      </p:bgPr>
    </p:bg>
    <p:spTree>
      <p:nvGrpSpPr>
        <p:cNvPr id="1" name=""/>
        <p:cNvGrpSpPr/>
        <p:nvPr/>
      </p:nvGrpSpPr>
      <p:grpSpPr>
        <a:xfrm>
          <a:off x="0" y="0"/>
          <a:ext cx="0" cy="0"/>
          <a:chOff x="0" y="0"/>
          <a:chExt cx="0" cy="0"/>
        </a:xfrm>
      </p:grpSpPr>
      <p:sp>
        <p:nvSpPr>
          <p:cNvPr id="2" name="Text 0"/>
          <p:cNvSpPr/>
          <p:nvPr/>
        </p:nvSpPr>
        <p:spPr>
          <a:xfrm>
            <a:off x="594360" y="137160"/>
            <a:ext cx="8229600" cy="274320"/>
          </a:xfrm>
          <a:prstGeom prst="rect">
            <a:avLst/>
          </a:prstGeom>
          <a:noFill/>
          <a:ln/>
        </p:spPr>
        <p:txBody>
          <a:bodyPr wrap="square" lIns="0" tIns="0" rIns="0" bIns="0" rtlCol="0" anchor="ctr"/>
          <a:lstStyle/>
          <a:p>
            <a:pPr indent="0" marL="0">
              <a:buNone/>
            </a:pPr>
            <a:r>
              <a:rPr lang="en-US" sz="1150" b="1" spc="220" kern="0" dirty="0">
                <a:solidFill>
                  <a:srgbClr val="FF6A2B"/>
                </a:solidFill>
                <a:latin typeface="Calibri" pitchFamily="34" charset="0"/>
                <a:ea typeface="Calibri" pitchFamily="34" charset="-122"/>
                <a:cs typeface="Calibri" pitchFamily="34" charset="-120"/>
              </a:rPr>
              <a:t>DOES IT ACTUALLY WORK</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200" b="1" dirty="0">
                <a:solidFill>
                  <a:srgbClr val="0F2742"/>
                </a:solidFill>
                <a:latin typeface="Cambria" pitchFamily="34" charset="0"/>
                <a:ea typeface="Cambria" pitchFamily="34" charset="-122"/>
                <a:cs typeface="Cambria" pitchFamily="34" charset="-120"/>
              </a:rPr>
              <a:t>Measured, and re-measured on every push</a:t>
            </a:r>
            <a:endParaRPr lang="en-US" sz="3200" dirty="0"/>
          </a:p>
        </p:txBody>
      </p:sp>
      <p:sp>
        <p:nvSpPr>
          <p:cNvPr id="4" name="Shape 2"/>
          <p:cNvSpPr/>
          <p:nvPr/>
        </p:nvSpPr>
        <p:spPr>
          <a:xfrm>
            <a:off x="566928" y="1417320"/>
            <a:ext cx="3538728" cy="1463040"/>
          </a:xfrm>
          <a:prstGeom prst="roundRect">
            <a:avLst>
              <a:gd name="adj" fmla="val 5625"/>
            </a:avLst>
          </a:prstGeom>
          <a:solidFill>
            <a:srgbClr val="FFFFFF"/>
          </a:solidFill>
          <a:ln/>
          <a:effectLst>
            <a:outerShdw sx="100000" sy="100000" kx="0" ky="0" algn="bl" rotWithShape="0" blurRad="127000" dist="25400" dir="5400000">
              <a:srgbClr val="8FA3B8">
                <a:alpha val="28000"/>
              </a:srgbClr>
            </a:outerShdw>
          </a:effectLst>
        </p:spPr>
      </p:sp>
      <p:sp>
        <p:nvSpPr>
          <p:cNvPr id="5" name="Text 3"/>
          <p:cNvSpPr/>
          <p:nvPr/>
        </p:nvSpPr>
        <p:spPr>
          <a:xfrm>
            <a:off x="841248" y="1554480"/>
            <a:ext cx="3017520" cy="731520"/>
          </a:xfrm>
          <a:prstGeom prst="rect">
            <a:avLst/>
          </a:prstGeom>
          <a:noFill/>
          <a:ln/>
        </p:spPr>
        <p:txBody>
          <a:bodyPr wrap="square" lIns="0" tIns="0" rIns="0" bIns="0" rtlCol="0" anchor="ctr"/>
          <a:lstStyle/>
          <a:p>
            <a:pPr indent="0" marL="0">
              <a:buNone/>
            </a:pPr>
            <a:r>
              <a:rPr lang="en-US" sz="3600" b="1" dirty="0">
                <a:solidFill>
                  <a:srgbClr val="FF6A2B"/>
                </a:solidFill>
                <a:latin typeface="Cambria" pitchFamily="34" charset="0"/>
                <a:ea typeface="Cambria" pitchFamily="34" charset="-122"/>
                <a:cs typeface="Cambria" pitchFamily="34" charset="-120"/>
              </a:rPr>
              <a:t>81 / 81</a:t>
            </a:r>
            <a:endParaRPr lang="en-US" sz="3600" dirty="0"/>
          </a:p>
        </p:txBody>
      </p:sp>
      <p:sp>
        <p:nvSpPr>
          <p:cNvPr id="6" name="Text 4"/>
          <p:cNvSpPr/>
          <p:nvPr/>
        </p:nvSpPr>
        <p:spPr>
          <a:xfrm>
            <a:off x="859536" y="2304288"/>
            <a:ext cx="3017520" cy="411480"/>
          </a:xfrm>
          <a:prstGeom prst="rect">
            <a:avLst/>
          </a:prstGeom>
          <a:noFill/>
          <a:ln/>
        </p:spPr>
        <p:txBody>
          <a:bodyPr wrap="square" lIns="0" tIns="0" rIns="0" bIns="0" rtlCol="0" anchor="ctr"/>
          <a:lstStyle/>
          <a:p>
            <a:pPr indent="0" marL="0">
              <a:buNone/>
            </a:pPr>
            <a:r>
              <a:rPr lang="en-US" sz="1200" dirty="0">
                <a:solidFill>
                  <a:srgbClr val="44566C"/>
                </a:solidFill>
                <a:latin typeface="Calibri" pitchFamily="34" charset="0"/>
                <a:ea typeface="Calibri" pitchFamily="34" charset="-122"/>
                <a:cs typeface="Calibri" pitchFamily="34" charset="-120"/>
              </a:rPr>
              <a:t>injected defects detected</a:t>
            </a:r>
            <a:endParaRPr lang="en-US" sz="1200" dirty="0"/>
          </a:p>
        </p:txBody>
      </p:sp>
      <p:sp>
        <p:nvSpPr>
          <p:cNvPr id="7" name="Shape 5"/>
          <p:cNvSpPr/>
          <p:nvPr/>
        </p:nvSpPr>
        <p:spPr>
          <a:xfrm>
            <a:off x="4325112" y="1417320"/>
            <a:ext cx="3538728" cy="1463040"/>
          </a:xfrm>
          <a:prstGeom prst="roundRect">
            <a:avLst>
              <a:gd name="adj" fmla="val 5625"/>
            </a:avLst>
          </a:prstGeom>
          <a:solidFill>
            <a:srgbClr val="FFFFFF"/>
          </a:solidFill>
          <a:ln/>
          <a:effectLst>
            <a:outerShdw sx="100000" sy="100000" kx="0" ky="0" algn="bl" rotWithShape="0" blurRad="127000" dist="25400" dir="5400000">
              <a:srgbClr val="8FA3B8">
                <a:alpha val="28000"/>
              </a:srgbClr>
            </a:outerShdw>
          </a:effectLst>
        </p:spPr>
      </p:sp>
      <p:sp>
        <p:nvSpPr>
          <p:cNvPr id="8" name="Text 6"/>
          <p:cNvSpPr/>
          <p:nvPr/>
        </p:nvSpPr>
        <p:spPr>
          <a:xfrm>
            <a:off x="4599432" y="1554480"/>
            <a:ext cx="3017520" cy="731520"/>
          </a:xfrm>
          <a:prstGeom prst="rect">
            <a:avLst/>
          </a:prstGeom>
          <a:noFill/>
          <a:ln/>
        </p:spPr>
        <p:txBody>
          <a:bodyPr wrap="square" lIns="0" tIns="0" rIns="0" bIns="0" rtlCol="0" anchor="ctr"/>
          <a:lstStyle/>
          <a:p>
            <a:pPr indent="0" marL="0">
              <a:buNone/>
            </a:pPr>
            <a:r>
              <a:rPr lang="en-US" sz="3600" b="1" dirty="0">
                <a:solidFill>
                  <a:srgbClr val="35608F"/>
                </a:solidFill>
                <a:latin typeface="Cambria" pitchFamily="34" charset="0"/>
                <a:ea typeface="Cambria" pitchFamily="34" charset="-122"/>
                <a:cs typeface="Cambria" pitchFamily="34" charset="-120"/>
              </a:rPr>
              <a:t>0 / 9</a:t>
            </a:r>
            <a:endParaRPr lang="en-US" sz="3600" dirty="0"/>
          </a:p>
        </p:txBody>
      </p:sp>
      <p:sp>
        <p:nvSpPr>
          <p:cNvPr id="9" name="Text 7"/>
          <p:cNvSpPr/>
          <p:nvPr/>
        </p:nvSpPr>
        <p:spPr>
          <a:xfrm>
            <a:off x="4617720" y="2304288"/>
            <a:ext cx="3017520" cy="411480"/>
          </a:xfrm>
          <a:prstGeom prst="rect">
            <a:avLst/>
          </a:prstGeom>
          <a:noFill/>
          <a:ln/>
        </p:spPr>
        <p:txBody>
          <a:bodyPr wrap="square" lIns="0" tIns="0" rIns="0" bIns="0" rtlCol="0" anchor="ctr"/>
          <a:lstStyle/>
          <a:p>
            <a:pPr indent="0" marL="0">
              <a:buNone/>
            </a:pPr>
            <a:r>
              <a:rPr lang="en-US" sz="1200" dirty="0">
                <a:solidFill>
                  <a:srgbClr val="44566C"/>
                </a:solidFill>
                <a:latin typeface="Calibri" pitchFamily="34" charset="0"/>
                <a:ea typeface="Calibri" pitchFamily="34" charset="-122"/>
                <a:cs typeface="Calibri" pitchFamily="34" charset="-120"/>
              </a:rPr>
              <a:t>false alarms on clean controls</a:t>
            </a:r>
            <a:endParaRPr lang="en-US" sz="1200" dirty="0"/>
          </a:p>
        </p:txBody>
      </p:sp>
      <p:sp>
        <p:nvSpPr>
          <p:cNvPr id="10" name="Shape 8"/>
          <p:cNvSpPr/>
          <p:nvPr/>
        </p:nvSpPr>
        <p:spPr>
          <a:xfrm>
            <a:off x="8083296" y="1417320"/>
            <a:ext cx="3538728" cy="1463040"/>
          </a:xfrm>
          <a:prstGeom prst="roundRect">
            <a:avLst>
              <a:gd name="adj" fmla="val 5625"/>
            </a:avLst>
          </a:prstGeom>
          <a:solidFill>
            <a:srgbClr val="FFFFFF"/>
          </a:solidFill>
          <a:ln/>
          <a:effectLst>
            <a:outerShdw sx="100000" sy="100000" kx="0" ky="0" algn="bl" rotWithShape="0" blurRad="127000" dist="25400" dir="5400000">
              <a:srgbClr val="8FA3B8">
                <a:alpha val="28000"/>
              </a:srgbClr>
            </a:outerShdw>
          </a:effectLst>
        </p:spPr>
      </p:sp>
      <p:sp>
        <p:nvSpPr>
          <p:cNvPr id="11" name="Text 9"/>
          <p:cNvSpPr/>
          <p:nvPr/>
        </p:nvSpPr>
        <p:spPr>
          <a:xfrm>
            <a:off x="8357616" y="1554480"/>
            <a:ext cx="3017520" cy="731520"/>
          </a:xfrm>
          <a:prstGeom prst="rect">
            <a:avLst/>
          </a:prstGeom>
          <a:noFill/>
          <a:ln/>
        </p:spPr>
        <p:txBody>
          <a:bodyPr wrap="square" lIns="0" tIns="0" rIns="0" bIns="0" rtlCol="0" anchor="ctr"/>
          <a:lstStyle/>
          <a:p>
            <a:pPr indent="0" marL="0">
              <a:buNone/>
            </a:pPr>
            <a:r>
              <a:rPr lang="en-US" sz="3600" b="1" dirty="0">
                <a:solidFill>
                  <a:srgbClr val="0F2742"/>
                </a:solidFill>
                <a:latin typeface="Cambria" pitchFamily="34" charset="0"/>
                <a:ea typeface="Cambria" pitchFamily="34" charset="-122"/>
                <a:cs typeface="Cambria" pitchFamily="34" charset="-120"/>
              </a:rPr>
              <a:t>94.80%</a:t>
            </a:r>
            <a:endParaRPr lang="en-US" sz="3600" dirty="0"/>
          </a:p>
        </p:txBody>
      </p:sp>
      <p:sp>
        <p:nvSpPr>
          <p:cNvPr id="12" name="Text 10"/>
          <p:cNvSpPr/>
          <p:nvPr/>
        </p:nvSpPr>
        <p:spPr>
          <a:xfrm>
            <a:off x="8375904" y="2304288"/>
            <a:ext cx="3017520" cy="411480"/>
          </a:xfrm>
          <a:prstGeom prst="rect">
            <a:avLst/>
          </a:prstGeom>
          <a:noFill/>
          <a:ln/>
        </p:spPr>
        <p:txBody>
          <a:bodyPr wrap="square" lIns="0" tIns="0" rIns="0" bIns="0" rtlCol="0" anchor="ctr"/>
          <a:lstStyle/>
          <a:p>
            <a:pPr indent="0" marL="0">
              <a:buNone/>
            </a:pPr>
            <a:r>
              <a:rPr lang="en-US" sz="1200" dirty="0">
                <a:solidFill>
                  <a:srgbClr val="44566C"/>
                </a:solidFill>
                <a:latin typeface="Calibri" pitchFamily="34" charset="0"/>
                <a:ea typeface="Calibri" pitchFamily="34" charset="-122"/>
                <a:cs typeface="Calibri" pitchFamily="34" charset="-120"/>
              </a:rPr>
              <a:t>change type named correctly, n = 500</a:t>
            </a:r>
            <a:endParaRPr lang="en-US" sz="1200" dirty="0"/>
          </a:p>
        </p:txBody>
      </p:sp>
      <p:graphicFrame>
        <p:nvGraphicFramePr>
          <p:cNvPr id="13" name="Chart 0" descr=""/>
          <p:cNvGraphicFramePr/>
          <p:nvPr/>
        </p:nvGraphicFramePr>
        <p:xfrm>
          <a:off x="566928" y="3108960"/>
          <a:ext cx="6858000" cy="2743200"/>
        </p:xfrm>
        <a:graphic xmlns:a="http://schemas.openxmlformats.org/drawingml/2006/main">
          <a:graphicData uri="http://schemas.openxmlformats.org/drawingml/2006/chart">
            <c:chart xmlns:c="http://schemas.openxmlformats.org/drawingml/2006/chart" r:id="rId1"/>
          </a:graphicData>
        </a:graphic>
      </p:graphicFrame>
      <p:sp>
        <p:nvSpPr>
          <p:cNvPr id="14" name="Shape 11"/>
          <p:cNvSpPr/>
          <p:nvPr/>
        </p:nvSpPr>
        <p:spPr>
          <a:xfrm>
            <a:off x="7726680" y="3108960"/>
            <a:ext cx="3904488" cy="2743200"/>
          </a:xfrm>
          <a:prstGeom prst="roundRect">
            <a:avLst>
              <a:gd name="adj" fmla="val 3000"/>
            </a:avLst>
          </a:prstGeom>
          <a:solidFill>
            <a:srgbClr val="0F2742"/>
          </a:solidFill>
          <a:ln/>
          <a:effectLst>
            <a:outerShdw sx="100000" sy="100000" kx="0" ky="0" algn="bl" rotWithShape="0" blurRad="127000" dist="25400" dir="5400000">
              <a:srgbClr val="8FA3B8">
                <a:alpha val="28000"/>
              </a:srgbClr>
            </a:outerShdw>
          </a:effectLst>
        </p:spPr>
      </p:sp>
      <p:sp>
        <p:nvSpPr>
          <p:cNvPr id="15" name="Text 12"/>
          <p:cNvSpPr/>
          <p:nvPr/>
        </p:nvSpPr>
        <p:spPr>
          <a:xfrm>
            <a:off x="8001000" y="3291840"/>
            <a:ext cx="3383280" cy="320040"/>
          </a:xfrm>
          <a:prstGeom prst="rect">
            <a:avLst/>
          </a:prstGeom>
          <a:noFill/>
          <a:ln/>
        </p:spPr>
        <p:txBody>
          <a:bodyPr wrap="square" lIns="0" tIns="0" rIns="0" bIns="0" rtlCol="0" anchor="ctr"/>
          <a:lstStyle/>
          <a:p>
            <a:pPr indent="0" marL="0">
              <a:buNone/>
            </a:pPr>
            <a:r>
              <a:rPr lang="en-US" sz="1400" b="1" dirty="0">
                <a:solidFill>
                  <a:srgbClr val="FF6A2B"/>
                </a:solidFill>
                <a:latin typeface="Calibri" pitchFamily="34" charset="0"/>
                <a:ea typeface="Calibri" pitchFamily="34" charset="-122"/>
                <a:cs typeface="Calibri" pitchFamily="34" charset="-120"/>
              </a:rPr>
              <a:t>What the ablation shows</a:t>
            </a:r>
            <a:endParaRPr lang="en-US" sz="1400" dirty="0"/>
          </a:p>
        </p:txBody>
      </p:sp>
      <p:sp>
        <p:nvSpPr>
          <p:cNvPr id="16" name="Text 13"/>
          <p:cNvSpPr/>
          <p:nvPr/>
        </p:nvSpPr>
        <p:spPr>
          <a:xfrm>
            <a:off x="8001000" y="3657600"/>
            <a:ext cx="3383280" cy="2103120"/>
          </a:xfrm>
          <a:prstGeom prst="rect">
            <a:avLst/>
          </a:prstGeom>
          <a:noFill/>
          <a:ln/>
        </p:spPr>
        <p:txBody>
          <a:bodyPr wrap="square" lIns="0" tIns="0" rIns="0" bIns="0" rtlCol="0" anchor="t"/>
          <a:lstStyle/>
          <a:p>
            <a:pPr indent="0" marL="0">
              <a:lnSpc>
                <a:spcPts val="1500"/>
              </a:lnSpc>
              <a:buNone/>
            </a:pPr>
            <a:r>
              <a:rPr lang="en-US" sz="1200" dirty="0">
                <a:solidFill>
                  <a:srgbClr val="9FB5CB"/>
                </a:solidFill>
                <a:latin typeface="Calibri" pitchFamily="34" charset="0"/>
                <a:ea typeface="Calibri" pitchFamily="34" charset="-122"/>
                <a:cs typeface="Calibri" pitchFamily="34" charset="-120"/>
              </a:rPr>
              <a:t>Drop either feature group and accuracy moves less than a point — they overlap. Drop the DOM comparison engine and the system falls to 38.7%, with colour, text and font changes at zero recall.
</a:t>
            </a:r>
            <a:endParaRPr lang="en-US" sz="1200" dirty="0"/>
          </a:p>
          <a:p>
            <a:pPr indent="0" marL="0">
              <a:lnSpc>
                <a:spcPts val="1500"/>
              </a:lnSpc>
              <a:buNone/>
            </a:pPr>
            <a:r>
              <a:rPr lang="en-US" sz="1200" b="1" dirty="0">
                <a:solidFill>
                  <a:srgbClr val="FFFFFF"/>
                </a:solidFill>
                <a:latin typeface="Calibri" pitchFamily="34" charset="0"/>
                <a:ea typeface="Calibri" pitchFamily="34" charset="-122"/>
                <a:cs typeface="Calibri" pitchFamily="34" charset="-120"/>
              </a:rPr>
              <a:t>The structural comparison is the contribution — not the network.
</a:t>
            </a:r>
            <a:endParaRPr lang="en-US" sz="1200" dirty="0"/>
          </a:p>
          <a:p>
            <a:pPr indent="0" marL="0">
              <a:lnSpc>
                <a:spcPts val="1500"/>
              </a:lnSpc>
              <a:buNone/>
            </a:pPr>
            <a:r>
              <a:rPr lang="en-US" sz="1150" dirty="0">
                <a:solidFill>
                  <a:srgbClr val="9FB5CB"/>
                </a:solidFill>
                <a:latin typeface="Calibri" pitchFamily="34" charset="0"/>
                <a:ea typeface="Calibri" pitchFamily="34" charset="-122"/>
                <a:cs typeface="Calibri" pitchFamily="34" charset="-120"/>
              </a:rPr>
              <a:t>Weakest class: missing-element at 87.7% recall. That is where the remaining work is.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1A2B"/>
        </a:solidFill>
      </p:bgPr>
    </p:bg>
    <p:spTree>
      <p:nvGrpSpPr>
        <p:cNvPr id="1" name=""/>
        <p:cNvGrpSpPr/>
        <p:nvPr/>
      </p:nvGrpSpPr>
      <p:grpSpPr>
        <a:xfrm>
          <a:off x="0" y="0"/>
          <a:ext cx="0" cy="0"/>
          <a:chOff x="0" y="0"/>
          <a:chExt cx="0" cy="0"/>
        </a:xfrm>
      </p:grpSpPr>
      <p:sp>
        <p:nvSpPr>
          <p:cNvPr id="2" name="Text 0"/>
          <p:cNvSpPr/>
          <p:nvPr/>
        </p:nvSpPr>
        <p:spPr>
          <a:xfrm>
            <a:off x="594360" y="137160"/>
            <a:ext cx="8229600" cy="274320"/>
          </a:xfrm>
          <a:prstGeom prst="rect">
            <a:avLst/>
          </a:prstGeom>
          <a:noFill/>
          <a:ln/>
        </p:spPr>
        <p:txBody>
          <a:bodyPr wrap="square" lIns="0" tIns="0" rIns="0" bIns="0" rtlCol="0" anchor="ctr"/>
          <a:lstStyle/>
          <a:p>
            <a:pPr indent="0" marL="0">
              <a:buNone/>
            </a:pPr>
            <a:r>
              <a:rPr lang="en-US" sz="1150" b="1" spc="220" kern="0" dirty="0">
                <a:solidFill>
                  <a:srgbClr val="FF6A2B"/>
                </a:solidFill>
                <a:latin typeface="Calibri" pitchFamily="34" charset="0"/>
                <a:ea typeface="Calibri" pitchFamily="34" charset="-122"/>
                <a:cs typeface="Calibri" pitchFamily="34" charset="-120"/>
              </a:rPr>
              <a:t>LIVE DEMONSTRATION</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Seven minutes inside the tool</a:t>
            </a:r>
            <a:endParaRPr lang="en-US" sz="3200" dirty="0"/>
          </a:p>
        </p:txBody>
      </p:sp>
      <p:sp>
        <p:nvSpPr>
          <p:cNvPr id="4" name="Shape 2"/>
          <p:cNvSpPr/>
          <p:nvPr/>
        </p:nvSpPr>
        <p:spPr>
          <a:xfrm>
            <a:off x="566928" y="1463040"/>
            <a:ext cx="3566160" cy="1828800"/>
          </a:xfrm>
          <a:prstGeom prst="roundRect">
            <a:avLst>
              <a:gd name="adj" fmla="val 4500"/>
            </a:avLst>
          </a:prstGeom>
          <a:solidFill>
            <a:srgbClr val="12293F"/>
          </a:solidFill>
          <a:ln/>
        </p:spPr>
      </p:sp>
      <p:sp>
        <p:nvSpPr>
          <p:cNvPr id="5" name="Shape 3"/>
          <p:cNvSpPr/>
          <p:nvPr/>
        </p:nvSpPr>
        <p:spPr>
          <a:xfrm>
            <a:off x="804672" y="1700784"/>
            <a:ext cx="384048" cy="384048"/>
          </a:xfrm>
          <a:prstGeom prst="ellipse">
            <a:avLst/>
          </a:prstGeom>
          <a:solidFill>
            <a:srgbClr val="FF6A2B"/>
          </a:solidFill>
          <a:ln/>
        </p:spPr>
      </p:sp>
      <p:sp>
        <p:nvSpPr>
          <p:cNvPr id="6" name="Text 4"/>
          <p:cNvSpPr/>
          <p:nvPr/>
        </p:nvSpPr>
        <p:spPr>
          <a:xfrm>
            <a:off x="804672" y="17007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3127248" y="1700784"/>
            <a:ext cx="777240" cy="384048"/>
          </a:xfrm>
          <a:prstGeom prst="rect">
            <a:avLst/>
          </a:prstGeom>
          <a:noFill/>
          <a:ln/>
        </p:spPr>
        <p:txBody>
          <a:bodyPr wrap="square" lIns="0" tIns="0" rIns="0" bIns="0" rtlCol="0" anchor="ctr"/>
          <a:lstStyle/>
          <a:p>
            <a:pPr algn="r" indent="0" marL="0">
              <a:buNone/>
            </a:pPr>
            <a:r>
              <a:rPr lang="en-US" sz="1200" b="1" dirty="0">
                <a:solidFill>
                  <a:srgbClr val="FF6A2B"/>
                </a:solidFill>
                <a:latin typeface="Courier New" pitchFamily="34" charset="0"/>
                <a:ea typeface="Courier New" pitchFamily="34" charset="-122"/>
                <a:cs typeface="Courier New" pitchFamily="34" charset="-120"/>
              </a:rPr>
              <a:t>0:45</a:t>
            </a:r>
            <a:endParaRPr lang="en-US" sz="1200" dirty="0"/>
          </a:p>
        </p:txBody>
      </p:sp>
      <p:sp>
        <p:nvSpPr>
          <p:cNvPr id="8" name="Text 6"/>
          <p:cNvSpPr/>
          <p:nvPr/>
        </p:nvSpPr>
        <p:spPr>
          <a:xfrm>
            <a:off x="804672" y="2212848"/>
            <a:ext cx="310896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Dashboard tour</a:t>
            </a:r>
            <a:endParaRPr lang="en-US" sz="1500" dirty="0"/>
          </a:p>
        </p:txBody>
      </p:sp>
      <p:sp>
        <p:nvSpPr>
          <p:cNvPr id="9" name="Text 7"/>
          <p:cNvSpPr/>
          <p:nvPr/>
        </p:nvSpPr>
        <p:spPr>
          <a:xfrm>
            <a:off x="804672" y="2596896"/>
            <a:ext cx="3108960" cy="594360"/>
          </a:xfrm>
          <a:prstGeom prst="rect">
            <a:avLst/>
          </a:prstGeom>
          <a:noFill/>
          <a:ln/>
        </p:spPr>
        <p:txBody>
          <a:bodyPr wrap="square" lIns="0" tIns="0" rIns="0" bIns="0" rtlCol="0" anchor="t"/>
          <a:lstStyle/>
          <a:p>
            <a:pPr indent="0" marL="0">
              <a:buNone/>
            </a:pPr>
            <a:r>
              <a:rPr lang="en-US" sz="1150" dirty="0">
                <a:solidFill>
                  <a:srgbClr val="9FB5CB"/>
                </a:solidFill>
                <a:latin typeface="Calibri" pitchFamily="34" charset="0"/>
                <a:ea typeface="Calibri" pitchFamily="34" charset="-122"/>
                <a:cs typeface="Calibri" pitchFamily="34" charset="-120"/>
              </a:rPr>
              <a:t>runs, filters, status and severity at a glance</a:t>
            </a:r>
            <a:endParaRPr lang="en-US" sz="1150" dirty="0"/>
          </a:p>
        </p:txBody>
      </p:sp>
      <p:sp>
        <p:nvSpPr>
          <p:cNvPr id="10" name="Shape 8"/>
          <p:cNvSpPr/>
          <p:nvPr/>
        </p:nvSpPr>
        <p:spPr>
          <a:xfrm>
            <a:off x="4407408" y="1463040"/>
            <a:ext cx="3566160" cy="1828800"/>
          </a:xfrm>
          <a:prstGeom prst="roundRect">
            <a:avLst>
              <a:gd name="adj" fmla="val 4500"/>
            </a:avLst>
          </a:prstGeom>
          <a:solidFill>
            <a:srgbClr val="12293F"/>
          </a:solidFill>
          <a:ln/>
        </p:spPr>
      </p:sp>
      <p:sp>
        <p:nvSpPr>
          <p:cNvPr id="11" name="Shape 9"/>
          <p:cNvSpPr/>
          <p:nvPr/>
        </p:nvSpPr>
        <p:spPr>
          <a:xfrm>
            <a:off x="4645152" y="1700784"/>
            <a:ext cx="384048" cy="384048"/>
          </a:xfrm>
          <a:prstGeom prst="ellipse">
            <a:avLst/>
          </a:prstGeom>
          <a:solidFill>
            <a:srgbClr val="FF6A2B"/>
          </a:solidFill>
          <a:ln/>
        </p:spPr>
      </p:sp>
      <p:sp>
        <p:nvSpPr>
          <p:cNvPr id="12" name="Text 10"/>
          <p:cNvSpPr/>
          <p:nvPr/>
        </p:nvSpPr>
        <p:spPr>
          <a:xfrm>
            <a:off x="4645152" y="17007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6967728" y="1700784"/>
            <a:ext cx="777240" cy="384048"/>
          </a:xfrm>
          <a:prstGeom prst="rect">
            <a:avLst/>
          </a:prstGeom>
          <a:noFill/>
          <a:ln/>
        </p:spPr>
        <p:txBody>
          <a:bodyPr wrap="square" lIns="0" tIns="0" rIns="0" bIns="0" rtlCol="0" anchor="ctr"/>
          <a:lstStyle/>
          <a:p>
            <a:pPr algn="r" indent="0" marL="0">
              <a:buNone/>
            </a:pPr>
            <a:r>
              <a:rPr lang="en-US" sz="1200" b="1" dirty="0">
                <a:solidFill>
                  <a:srgbClr val="FF6A2B"/>
                </a:solidFill>
                <a:latin typeface="Courier New" pitchFamily="34" charset="0"/>
                <a:ea typeface="Courier New" pitchFamily="34" charset="-122"/>
                <a:cs typeface="Courier New" pitchFamily="34" charset="-120"/>
              </a:rPr>
              <a:t>1:00</a:t>
            </a:r>
            <a:endParaRPr lang="en-US" sz="1200" dirty="0"/>
          </a:p>
        </p:txBody>
      </p:sp>
      <p:sp>
        <p:nvSpPr>
          <p:cNvPr id="14" name="Text 12"/>
          <p:cNvSpPr/>
          <p:nvPr/>
        </p:nvSpPr>
        <p:spPr>
          <a:xfrm>
            <a:off x="4645152" y="2212848"/>
            <a:ext cx="310896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Create a baseline</a:t>
            </a:r>
            <a:endParaRPr lang="en-US" sz="1500" dirty="0"/>
          </a:p>
        </p:txBody>
      </p:sp>
      <p:sp>
        <p:nvSpPr>
          <p:cNvPr id="15" name="Text 13"/>
          <p:cNvSpPr/>
          <p:nvPr/>
        </p:nvSpPr>
        <p:spPr>
          <a:xfrm>
            <a:off x="4645152" y="2596896"/>
            <a:ext cx="3108960" cy="594360"/>
          </a:xfrm>
          <a:prstGeom prst="rect">
            <a:avLst/>
          </a:prstGeom>
          <a:noFill/>
          <a:ln/>
        </p:spPr>
        <p:txBody>
          <a:bodyPr wrap="square" lIns="0" tIns="0" rIns="0" bIns="0" rtlCol="0" anchor="t"/>
          <a:lstStyle/>
          <a:p>
            <a:pPr indent="0" marL="0">
              <a:buNone/>
            </a:pPr>
            <a:r>
              <a:rPr lang="en-US" sz="1150" dirty="0">
                <a:solidFill>
                  <a:srgbClr val="9FB5CB"/>
                </a:solidFill>
                <a:latin typeface="Calibri" pitchFamily="34" charset="0"/>
                <a:ea typeface="Calibri" pitchFamily="34" charset="-122"/>
                <a:cs typeface="Calibri" pitchFamily="34" charset="-120"/>
              </a:rPr>
              <a:t>from a URL, with language and device pinned</a:t>
            </a:r>
            <a:endParaRPr lang="en-US" sz="1150" dirty="0"/>
          </a:p>
        </p:txBody>
      </p:sp>
      <p:sp>
        <p:nvSpPr>
          <p:cNvPr id="16" name="Shape 14"/>
          <p:cNvSpPr/>
          <p:nvPr/>
        </p:nvSpPr>
        <p:spPr>
          <a:xfrm>
            <a:off x="8247888" y="1463040"/>
            <a:ext cx="3566160" cy="1828800"/>
          </a:xfrm>
          <a:prstGeom prst="roundRect">
            <a:avLst>
              <a:gd name="adj" fmla="val 4500"/>
            </a:avLst>
          </a:prstGeom>
          <a:solidFill>
            <a:srgbClr val="12293F"/>
          </a:solidFill>
          <a:ln/>
        </p:spPr>
      </p:sp>
      <p:sp>
        <p:nvSpPr>
          <p:cNvPr id="17" name="Shape 15"/>
          <p:cNvSpPr/>
          <p:nvPr/>
        </p:nvSpPr>
        <p:spPr>
          <a:xfrm>
            <a:off x="8485632" y="1700784"/>
            <a:ext cx="384048" cy="384048"/>
          </a:xfrm>
          <a:prstGeom prst="ellipse">
            <a:avLst/>
          </a:prstGeom>
          <a:solidFill>
            <a:srgbClr val="FF6A2B"/>
          </a:solidFill>
          <a:ln/>
        </p:spPr>
      </p:sp>
      <p:sp>
        <p:nvSpPr>
          <p:cNvPr id="18" name="Text 16"/>
          <p:cNvSpPr/>
          <p:nvPr/>
        </p:nvSpPr>
        <p:spPr>
          <a:xfrm>
            <a:off x="8485632" y="17007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0808208" y="1700784"/>
            <a:ext cx="777240" cy="384048"/>
          </a:xfrm>
          <a:prstGeom prst="rect">
            <a:avLst/>
          </a:prstGeom>
          <a:noFill/>
          <a:ln/>
        </p:spPr>
        <p:txBody>
          <a:bodyPr wrap="square" lIns="0" tIns="0" rIns="0" bIns="0" rtlCol="0" anchor="ctr"/>
          <a:lstStyle/>
          <a:p>
            <a:pPr algn="r" indent="0" marL="0">
              <a:buNone/>
            </a:pPr>
            <a:r>
              <a:rPr lang="en-US" sz="1200" b="1" dirty="0">
                <a:solidFill>
                  <a:srgbClr val="FF6A2B"/>
                </a:solidFill>
                <a:latin typeface="Courier New" pitchFamily="34" charset="0"/>
                <a:ea typeface="Courier New" pitchFamily="34" charset="-122"/>
                <a:cs typeface="Courier New" pitchFamily="34" charset="-120"/>
              </a:rPr>
              <a:t>1:00</a:t>
            </a:r>
            <a:endParaRPr lang="en-US" sz="1200" dirty="0"/>
          </a:p>
        </p:txBody>
      </p:sp>
      <p:sp>
        <p:nvSpPr>
          <p:cNvPr id="20" name="Text 18"/>
          <p:cNvSpPr/>
          <p:nvPr/>
        </p:nvSpPr>
        <p:spPr>
          <a:xfrm>
            <a:off x="8485632" y="2212848"/>
            <a:ext cx="310896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Run the comparison</a:t>
            </a:r>
            <a:endParaRPr lang="en-US" sz="1500" dirty="0"/>
          </a:p>
        </p:txBody>
      </p:sp>
      <p:sp>
        <p:nvSpPr>
          <p:cNvPr id="21" name="Text 19"/>
          <p:cNvSpPr/>
          <p:nvPr/>
        </p:nvSpPr>
        <p:spPr>
          <a:xfrm>
            <a:off x="8485632" y="2596896"/>
            <a:ext cx="3108960" cy="594360"/>
          </a:xfrm>
          <a:prstGeom prst="rect">
            <a:avLst/>
          </a:prstGeom>
          <a:noFill/>
          <a:ln/>
        </p:spPr>
        <p:txBody>
          <a:bodyPr wrap="square" lIns="0" tIns="0" rIns="0" bIns="0" rtlCol="0" anchor="t"/>
          <a:lstStyle/>
          <a:p>
            <a:pPr indent="0" marL="0">
              <a:buNone/>
            </a:pPr>
            <a:r>
              <a:rPr lang="en-US" sz="1150" dirty="0">
                <a:solidFill>
                  <a:srgbClr val="9FB5CB"/>
                </a:solidFill>
                <a:latin typeface="Calibri" pitchFamily="34" charset="0"/>
                <a:ea typeface="Calibri" pitchFamily="34" charset="-122"/>
                <a:cs typeface="Calibri" pitchFamily="34" charset="-120"/>
              </a:rPr>
              <a:t>against the same page carrying an injected defect</a:t>
            </a:r>
            <a:endParaRPr lang="en-US" sz="1150" dirty="0"/>
          </a:p>
        </p:txBody>
      </p:sp>
      <p:sp>
        <p:nvSpPr>
          <p:cNvPr id="22" name="Shape 20"/>
          <p:cNvSpPr/>
          <p:nvPr/>
        </p:nvSpPr>
        <p:spPr>
          <a:xfrm>
            <a:off x="566928" y="3566160"/>
            <a:ext cx="3566160" cy="1828800"/>
          </a:xfrm>
          <a:prstGeom prst="roundRect">
            <a:avLst>
              <a:gd name="adj" fmla="val 4500"/>
            </a:avLst>
          </a:prstGeom>
          <a:solidFill>
            <a:srgbClr val="12293F"/>
          </a:solidFill>
          <a:ln/>
        </p:spPr>
      </p:sp>
      <p:sp>
        <p:nvSpPr>
          <p:cNvPr id="23" name="Shape 21"/>
          <p:cNvSpPr/>
          <p:nvPr/>
        </p:nvSpPr>
        <p:spPr>
          <a:xfrm>
            <a:off x="804672" y="3803904"/>
            <a:ext cx="384048" cy="384048"/>
          </a:xfrm>
          <a:prstGeom prst="ellipse">
            <a:avLst/>
          </a:prstGeom>
          <a:solidFill>
            <a:srgbClr val="FF6A2B"/>
          </a:solidFill>
          <a:ln/>
        </p:spPr>
      </p:sp>
      <p:sp>
        <p:nvSpPr>
          <p:cNvPr id="24" name="Text 22"/>
          <p:cNvSpPr/>
          <p:nvPr/>
        </p:nvSpPr>
        <p:spPr>
          <a:xfrm>
            <a:off x="804672" y="3803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3127248" y="3803904"/>
            <a:ext cx="777240" cy="384048"/>
          </a:xfrm>
          <a:prstGeom prst="rect">
            <a:avLst/>
          </a:prstGeom>
          <a:noFill/>
          <a:ln/>
        </p:spPr>
        <p:txBody>
          <a:bodyPr wrap="square" lIns="0" tIns="0" rIns="0" bIns="0" rtlCol="0" anchor="ctr"/>
          <a:lstStyle/>
          <a:p>
            <a:pPr algn="r" indent="0" marL="0">
              <a:buNone/>
            </a:pPr>
            <a:r>
              <a:rPr lang="en-US" sz="1200" b="1" dirty="0">
                <a:solidFill>
                  <a:srgbClr val="FF6A2B"/>
                </a:solidFill>
                <a:latin typeface="Courier New" pitchFamily="34" charset="0"/>
                <a:ea typeface="Courier New" pitchFamily="34" charset="-122"/>
                <a:cs typeface="Courier New" pitchFamily="34" charset="-120"/>
              </a:rPr>
              <a:t>1:15</a:t>
            </a:r>
            <a:endParaRPr lang="en-US" sz="1200" dirty="0"/>
          </a:p>
        </p:txBody>
      </p:sp>
      <p:sp>
        <p:nvSpPr>
          <p:cNvPr id="26" name="Text 24"/>
          <p:cNvSpPr/>
          <p:nvPr/>
        </p:nvSpPr>
        <p:spPr>
          <a:xfrm>
            <a:off x="804672" y="4315968"/>
            <a:ext cx="310896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Read the verdict</a:t>
            </a:r>
            <a:endParaRPr lang="en-US" sz="1500" dirty="0"/>
          </a:p>
        </p:txBody>
      </p:sp>
      <p:sp>
        <p:nvSpPr>
          <p:cNvPr id="27" name="Text 25"/>
          <p:cNvSpPr/>
          <p:nvPr/>
        </p:nvSpPr>
        <p:spPr>
          <a:xfrm>
            <a:off x="804672" y="4700016"/>
            <a:ext cx="3108960" cy="594360"/>
          </a:xfrm>
          <a:prstGeom prst="rect">
            <a:avLst/>
          </a:prstGeom>
          <a:noFill/>
          <a:ln/>
        </p:spPr>
        <p:txBody>
          <a:bodyPr wrap="square" lIns="0" tIns="0" rIns="0" bIns="0" rtlCol="0" anchor="t"/>
          <a:lstStyle/>
          <a:p>
            <a:pPr indent="0" marL="0">
              <a:buNone/>
            </a:pPr>
            <a:r>
              <a:rPr lang="en-US" sz="1150" dirty="0">
                <a:solidFill>
                  <a:srgbClr val="9FB5CB"/>
                </a:solidFill>
                <a:latin typeface="Calibri" pitchFamily="34" charset="0"/>
                <a:ea typeface="Calibri" pitchFamily="34" charset="-122"/>
                <a:cs typeface="Calibri" pitchFamily="34" charset="-120"/>
              </a:rPr>
              <a:t>overlay, severity, named class, and the DOM evidence sentence</a:t>
            </a:r>
            <a:endParaRPr lang="en-US" sz="1150" dirty="0"/>
          </a:p>
        </p:txBody>
      </p:sp>
      <p:sp>
        <p:nvSpPr>
          <p:cNvPr id="28" name="Shape 26"/>
          <p:cNvSpPr/>
          <p:nvPr/>
        </p:nvSpPr>
        <p:spPr>
          <a:xfrm>
            <a:off x="4407408" y="3566160"/>
            <a:ext cx="3566160" cy="1828800"/>
          </a:xfrm>
          <a:prstGeom prst="roundRect">
            <a:avLst>
              <a:gd name="adj" fmla="val 4500"/>
            </a:avLst>
          </a:prstGeom>
          <a:solidFill>
            <a:srgbClr val="12293F"/>
          </a:solidFill>
          <a:ln/>
        </p:spPr>
      </p:sp>
      <p:sp>
        <p:nvSpPr>
          <p:cNvPr id="29" name="Shape 27"/>
          <p:cNvSpPr/>
          <p:nvPr/>
        </p:nvSpPr>
        <p:spPr>
          <a:xfrm>
            <a:off x="4645152" y="3803904"/>
            <a:ext cx="384048" cy="384048"/>
          </a:xfrm>
          <a:prstGeom prst="ellipse">
            <a:avLst/>
          </a:prstGeom>
          <a:solidFill>
            <a:srgbClr val="FF6A2B"/>
          </a:solidFill>
          <a:ln/>
        </p:spPr>
      </p:sp>
      <p:sp>
        <p:nvSpPr>
          <p:cNvPr id="30" name="Text 28"/>
          <p:cNvSpPr/>
          <p:nvPr/>
        </p:nvSpPr>
        <p:spPr>
          <a:xfrm>
            <a:off x="4645152" y="3803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p:nvPr/>
        </p:nvSpPr>
        <p:spPr>
          <a:xfrm>
            <a:off x="6967728" y="3803904"/>
            <a:ext cx="777240" cy="384048"/>
          </a:xfrm>
          <a:prstGeom prst="rect">
            <a:avLst/>
          </a:prstGeom>
          <a:noFill/>
          <a:ln/>
        </p:spPr>
        <p:txBody>
          <a:bodyPr wrap="square" lIns="0" tIns="0" rIns="0" bIns="0" rtlCol="0" anchor="ctr"/>
          <a:lstStyle/>
          <a:p>
            <a:pPr algn="r" indent="0" marL="0">
              <a:buNone/>
            </a:pPr>
            <a:r>
              <a:rPr lang="en-US" sz="1200" b="1" dirty="0">
                <a:solidFill>
                  <a:srgbClr val="FF6A2B"/>
                </a:solidFill>
                <a:latin typeface="Courier New" pitchFamily="34" charset="0"/>
                <a:ea typeface="Courier New" pitchFamily="34" charset="-122"/>
                <a:cs typeface="Courier New" pitchFamily="34" charset="-120"/>
              </a:rPr>
              <a:t>1:00</a:t>
            </a:r>
            <a:endParaRPr lang="en-US" sz="1200" dirty="0"/>
          </a:p>
        </p:txBody>
      </p:sp>
      <p:sp>
        <p:nvSpPr>
          <p:cNvPr id="32" name="Text 30"/>
          <p:cNvSpPr/>
          <p:nvPr/>
        </p:nvSpPr>
        <p:spPr>
          <a:xfrm>
            <a:off x="4645152" y="4315968"/>
            <a:ext cx="310896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Ignore region, then approve</a:t>
            </a:r>
            <a:endParaRPr lang="en-US" sz="1500" dirty="0"/>
          </a:p>
        </p:txBody>
      </p:sp>
      <p:sp>
        <p:nvSpPr>
          <p:cNvPr id="33" name="Text 31"/>
          <p:cNvSpPr/>
          <p:nvPr/>
        </p:nvSpPr>
        <p:spPr>
          <a:xfrm>
            <a:off x="4645152" y="4700016"/>
            <a:ext cx="3108960" cy="594360"/>
          </a:xfrm>
          <a:prstGeom prst="rect">
            <a:avLst/>
          </a:prstGeom>
          <a:noFill/>
          <a:ln/>
        </p:spPr>
        <p:txBody>
          <a:bodyPr wrap="square" lIns="0" tIns="0" rIns="0" bIns="0" rtlCol="0" anchor="t"/>
          <a:lstStyle/>
          <a:p>
            <a:pPr indent="0" marL="0">
              <a:buNone/>
            </a:pPr>
            <a:r>
              <a:rPr lang="en-US" sz="1150" dirty="0">
                <a:solidFill>
                  <a:srgbClr val="9FB5CB"/>
                </a:solidFill>
                <a:latin typeface="Calibri" pitchFamily="34" charset="0"/>
                <a:ea typeface="Calibri" pitchFamily="34" charset="-122"/>
                <a:cs typeface="Calibri" pitchFamily="34" charset="-120"/>
              </a:rPr>
              <a:t>draw over the dynamic block, re-run, approve — written back to the report</a:t>
            </a:r>
            <a:endParaRPr lang="en-US" sz="1150" dirty="0"/>
          </a:p>
        </p:txBody>
      </p:sp>
      <p:sp>
        <p:nvSpPr>
          <p:cNvPr id="34" name="Shape 32"/>
          <p:cNvSpPr/>
          <p:nvPr/>
        </p:nvSpPr>
        <p:spPr>
          <a:xfrm>
            <a:off x="8247888" y="3566160"/>
            <a:ext cx="3566160" cy="1828800"/>
          </a:xfrm>
          <a:prstGeom prst="roundRect">
            <a:avLst>
              <a:gd name="adj" fmla="val 4500"/>
            </a:avLst>
          </a:prstGeom>
          <a:solidFill>
            <a:srgbClr val="12293F"/>
          </a:solidFill>
          <a:ln/>
        </p:spPr>
      </p:sp>
      <p:sp>
        <p:nvSpPr>
          <p:cNvPr id="35" name="Shape 33"/>
          <p:cNvSpPr/>
          <p:nvPr/>
        </p:nvSpPr>
        <p:spPr>
          <a:xfrm>
            <a:off x="8485632" y="3803904"/>
            <a:ext cx="384048" cy="384048"/>
          </a:xfrm>
          <a:prstGeom prst="ellipse">
            <a:avLst/>
          </a:prstGeom>
          <a:solidFill>
            <a:srgbClr val="FF6A2B"/>
          </a:solidFill>
          <a:ln/>
        </p:spPr>
      </p:sp>
      <p:sp>
        <p:nvSpPr>
          <p:cNvPr id="36" name="Text 34"/>
          <p:cNvSpPr/>
          <p:nvPr/>
        </p:nvSpPr>
        <p:spPr>
          <a:xfrm>
            <a:off x="8485632" y="3803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7" name="Text 35"/>
          <p:cNvSpPr/>
          <p:nvPr/>
        </p:nvSpPr>
        <p:spPr>
          <a:xfrm>
            <a:off x="10808208" y="3803904"/>
            <a:ext cx="777240" cy="384048"/>
          </a:xfrm>
          <a:prstGeom prst="rect">
            <a:avLst/>
          </a:prstGeom>
          <a:noFill/>
          <a:ln/>
        </p:spPr>
        <p:txBody>
          <a:bodyPr wrap="square" lIns="0" tIns="0" rIns="0" bIns="0" rtlCol="0" anchor="ctr"/>
          <a:lstStyle/>
          <a:p>
            <a:pPr algn="r" indent="0" marL="0">
              <a:buNone/>
            </a:pPr>
            <a:r>
              <a:rPr lang="en-US" sz="1200" b="1" dirty="0">
                <a:solidFill>
                  <a:srgbClr val="FF6A2B"/>
                </a:solidFill>
                <a:latin typeface="Courier New" pitchFamily="34" charset="0"/>
                <a:ea typeface="Courier New" pitchFamily="34" charset="-122"/>
                <a:cs typeface="Courier New" pitchFamily="34" charset="-120"/>
              </a:rPr>
              <a:t>2:00</a:t>
            </a:r>
            <a:endParaRPr lang="en-US" sz="1200" dirty="0"/>
          </a:p>
        </p:txBody>
      </p:sp>
      <p:sp>
        <p:nvSpPr>
          <p:cNvPr id="38" name="Text 36"/>
          <p:cNvSpPr/>
          <p:nvPr/>
        </p:nvSpPr>
        <p:spPr>
          <a:xfrm>
            <a:off x="8485632" y="4315968"/>
            <a:ext cx="310896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The code and the CI gate</a:t>
            </a:r>
            <a:endParaRPr lang="en-US" sz="1500" dirty="0"/>
          </a:p>
        </p:txBody>
      </p:sp>
      <p:sp>
        <p:nvSpPr>
          <p:cNvPr id="39" name="Text 37"/>
          <p:cNvSpPr/>
          <p:nvPr/>
        </p:nvSpPr>
        <p:spPr>
          <a:xfrm>
            <a:off x="8485632" y="4700016"/>
            <a:ext cx="3108960" cy="594360"/>
          </a:xfrm>
          <a:prstGeom prst="rect">
            <a:avLst/>
          </a:prstGeom>
          <a:noFill/>
          <a:ln/>
        </p:spPr>
        <p:txBody>
          <a:bodyPr wrap="square" lIns="0" tIns="0" rIns="0" bIns="0" rtlCol="0" anchor="t"/>
          <a:lstStyle/>
          <a:p>
            <a:pPr indent="0" marL="0">
              <a:buNone/>
            </a:pPr>
            <a:r>
              <a:rPr lang="en-US" sz="1150" dirty="0">
                <a:solidFill>
                  <a:srgbClr val="9FB5CB"/>
                </a:solidFill>
                <a:latin typeface="Calibri" pitchFamily="34" charset="0"/>
                <a:ea typeface="Calibri" pitchFamily="34" charset="-122"/>
                <a:cs typeface="Calibri" pitchFamily="34" charset="-120"/>
              </a:rPr>
              <a:t>the three files in the editor, then the build that fails on one miss</a:t>
            </a:r>
            <a:endParaRPr lang="en-US" sz="1150" dirty="0"/>
          </a:p>
        </p:txBody>
      </p:sp>
      <p:sp>
        <p:nvSpPr>
          <p:cNvPr id="40" name="Text 38"/>
          <p:cNvSpPr/>
          <p:nvPr/>
        </p:nvSpPr>
        <p:spPr>
          <a:xfrm>
            <a:off x="566928" y="5715000"/>
            <a:ext cx="5486400" cy="457200"/>
          </a:xfrm>
          <a:prstGeom prst="rect">
            <a:avLst/>
          </a:prstGeom>
          <a:noFill/>
          <a:ln/>
        </p:spPr>
        <p:txBody>
          <a:bodyPr wrap="square" lIns="0" tIns="0" rIns="0" bIns="0" rtlCol="0" anchor="ctr"/>
          <a:lstStyle/>
          <a:p>
            <a:pPr indent="0" marL="0">
              <a:buNone/>
            </a:pPr>
            <a:r>
              <a:rPr lang="en-US" sz="1400" b="1" dirty="0">
                <a:solidFill>
                  <a:srgbClr val="FF6A2B"/>
                </a:solidFill>
                <a:latin typeface="Courier New" pitchFamily="34" charset="0"/>
                <a:ea typeface="Courier New" pitchFamily="34" charset="-122"/>
                <a:cs typeface="Courier New" pitchFamily="34" charset="-120"/>
              </a:rPr>
              <a:t>http://127.0.0.1:8130/</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1A2B"/>
        </a:solidFill>
      </p:bgPr>
    </p:bg>
    <p:spTree>
      <p:nvGrpSpPr>
        <p:cNvPr id="1" name=""/>
        <p:cNvGrpSpPr/>
        <p:nvPr/>
      </p:nvGrpSpPr>
      <p:grpSpPr>
        <a:xfrm>
          <a:off x="0" y="0"/>
          <a:ext cx="0" cy="0"/>
          <a:chOff x="0" y="0"/>
          <a:chExt cx="0" cy="0"/>
        </a:xfrm>
      </p:grpSpPr>
      <p:sp>
        <p:nvSpPr>
          <p:cNvPr id="2" name="Text 0"/>
          <p:cNvSpPr/>
          <p:nvPr/>
        </p:nvSpPr>
        <p:spPr>
          <a:xfrm>
            <a:off x="658368" y="1554480"/>
            <a:ext cx="6858000"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3" name="Text 1"/>
          <p:cNvSpPr/>
          <p:nvPr/>
        </p:nvSpPr>
        <p:spPr>
          <a:xfrm>
            <a:off x="685800" y="2542032"/>
            <a:ext cx="6858000" cy="457200"/>
          </a:xfrm>
          <a:prstGeom prst="rect">
            <a:avLst/>
          </a:prstGeom>
          <a:noFill/>
          <a:ln/>
        </p:spPr>
        <p:txBody>
          <a:bodyPr wrap="square" lIns="0" tIns="0" rIns="0" bIns="0" rtlCol="0" anchor="ctr"/>
          <a:lstStyle/>
          <a:p>
            <a:pPr indent="0" marL="0">
              <a:buNone/>
            </a:pPr>
            <a:r>
              <a:rPr lang="en-US" sz="1700" dirty="0">
                <a:solidFill>
                  <a:srgbClr val="AFC3D8"/>
                </a:solidFill>
                <a:latin typeface="Calibri" pitchFamily="34" charset="0"/>
                <a:ea typeface="Calibri" pitchFamily="34" charset="-122"/>
                <a:cs typeface="Calibri" pitchFamily="34" charset="-120"/>
              </a:rPr>
              <a:t>Questions welcome.</a:t>
            </a:r>
            <a:endParaRPr lang="en-US" sz="1700" dirty="0"/>
          </a:p>
        </p:txBody>
      </p:sp>
      <p:sp>
        <p:nvSpPr>
          <p:cNvPr id="4" name="Text 2"/>
          <p:cNvSpPr/>
          <p:nvPr/>
        </p:nvSpPr>
        <p:spPr>
          <a:xfrm>
            <a:off x="685800" y="3520440"/>
            <a:ext cx="2194560" cy="457200"/>
          </a:xfrm>
          <a:prstGeom prst="rect">
            <a:avLst/>
          </a:prstGeom>
          <a:noFill/>
          <a:ln/>
        </p:spPr>
        <p:txBody>
          <a:bodyPr wrap="square" lIns="0" tIns="0" rIns="0" bIns="0" rtlCol="0" anchor="ctr"/>
          <a:lstStyle/>
          <a:p>
            <a:pPr indent="0" marL="0">
              <a:buNone/>
            </a:pPr>
            <a:r>
              <a:rPr lang="en-US" sz="1900" b="1" dirty="0">
                <a:solidFill>
                  <a:srgbClr val="FF6A2B"/>
                </a:solidFill>
                <a:latin typeface="Cambria" pitchFamily="34" charset="0"/>
                <a:ea typeface="Cambria" pitchFamily="34" charset="-122"/>
                <a:cs typeface="Cambria" pitchFamily="34" charset="-120"/>
              </a:rPr>
              <a:t>The buyer</a:t>
            </a:r>
            <a:endParaRPr lang="en-US" sz="1900" dirty="0"/>
          </a:p>
        </p:txBody>
      </p:sp>
      <p:sp>
        <p:nvSpPr>
          <p:cNvPr id="5" name="Text 3"/>
          <p:cNvSpPr/>
          <p:nvPr/>
        </p:nvSpPr>
        <p:spPr>
          <a:xfrm>
            <a:off x="3017520" y="3575304"/>
            <a:ext cx="4754880" cy="411480"/>
          </a:xfrm>
          <a:prstGeom prst="rect">
            <a:avLst/>
          </a:prstGeom>
          <a:noFill/>
          <a:ln/>
        </p:spPr>
        <p:txBody>
          <a:bodyPr wrap="square" lIns="0" tIns="0" rIns="0" bIns="0" rtlCol="0" anchor="ctr"/>
          <a:lstStyle/>
          <a:p>
            <a:pPr indent="0" marL="0">
              <a:buNone/>
            </a:pPr>
            <a:r>
              <a:rPr lang="en-US" sz="1400" dirty="0">
                <a:solidFill>
                  <a:srgbClr val="AFC3D8"/>
                </a:solidFill>
                <a:latin typeface="Calibri" pitchFamily="34" charset="0"/>
                <a:ea typeface="Calibri" pitchFamily="34" charset="-122"/>
                <a:cs typeface="Calibri" pitchFamily="34" charset="-120"/>
              </a:rPr>
              <a:t>teams shipping weekly, self-hosting, multi-language</a:t>
            </a:r>
            <a:endParaRPr lang="en-US" sz="1400" dirty="0"/>
          </a:p>
        </p:txBody>
      </p:sp>
      <p:sp>
        <p:nvSpPr>
          <p:cNvPr id="6" name="Text 4"/>
          <p:cNvSpPr/>
          <p:nvPr/>
        </p:nvSpPr>
        <p:spPr>
          <a:xfrm>
            <a:off x="685800" y="4297680"/>
            <a:ext cx="2194560" cy="457200"/>
          </a:xfrm>
          <a:prstGeom prst="rect">
            <a:avLst/>
          </a:prstGeom>
          <a:noFill/>
          <a:ln/>
        </p:spPr>
        <p:txBody>
          <a:bodyPr wrap="square" lIns="0" tIns="0" rIns="0" bIns="0" rtlCol="0" anchor="ctr"/>
          <a:lstStyle/>
          <a:p>
            <a:pPr indent="0" marL="0">
              <a:buNone/>
            </a:pPr>
            <a:r>
              <a:rPr lang="en-US" sz="1900" b="1" dirty="0">
                <a:solidFill>
                  <a:srgbClr val="FF6A2B"/>
                </a:solidFill>
                <a:latin typeface="Cambria" pitchFamily="34" charset="0"/>
                <a:ea typeface="Cambria" pitchFamily="34" charset="-122"/>
                <a:cs typeface="Cambria" pitchFamily="34" charset="-120"/>
              </a:rPr>
              <a:t>The edge</a:t>
            </a:r>
            <a:endParaRPr lang="en-US" sz="1900" dirty="0"/>
          </a:p>
        </p:txBody>
      </p:sp>
      <p:sp>
        <p:nvSpPr>
          <p:cNvPr id="7" name="Text 5"/>
          <p:cNvSpPr/>
          <p:nvPr/>
        </p:nvSpPr>
        <p:spPr>
          <a:xfrm>
            <a:off x="3017520" y="4352544"/>
            <a:ext cx="4754880" cy="411480"/>
          </a:xfrm>
          <a:prstGeom prst="rect">
            <a:avLst/>
          </a:prstGeom>
          <a:noFill/>
          <a:ln/>
        </p:spPr>
        <p:txBody>
          <a:bodyPr wrap="square" lIns="0" tIns="0" rIns="0" bIns="0" rtlCol="0" anchor="ctr"/>
          <a:lstStyle/>
          <a:p>
            <a:pPr indent="0" marL="0">
              <a:buNone/>
            </a:pPr>
            <a:r>
              <a:rPr lang="en-US" sz="1400" dirty="0">
                <a:solidFill>
                  <a:srgbClr val="AFC3D8"/>
                </a:solidFill>
                <a:latin typeface="Calibri" pitchFamily="34" charset="0"/>
                <a:ea typeface="Calibri" pitchFamily="34" charset="-122"/>
                <a:cs typeface="Calibri" pitchFamily="34" charset="-120"/>
              </a:rPr>
              <a:t>it names the defect, and it runs on their machines</a:t>
            </a:r>
            <a:endParaRPr lang="en-US" sz="1400" dirty="0"/>
          </a:p>
        </p:txBody>
      </p:sp>
      <p:sp>
        <p:nvSpPr>
          <p:cNvPr id="8" name="Text 6"/>
          <p:cNvSpPr/>
          <p:nvPr/>
        </p:nvSpPr>
        <p:spPr>
          <a:xfrm>
            <a:off x="685800" y="5074920"/>
            <a:ext cx="2194560" cy="457200"/>
          </a:xfrm>
          <a:prstGeom prst="rect">
            <a:avLst/>
          </a:prstGeom>
          <a:noFill/>
          <a:ln/>
        </p:spPr>
        <p:txBody>
          <a:bodyPr wrap="square" lIns="0" tIns="0" rIns="0" bIns="0" rtlCol="0" anchor="ctr"/>
          <a:lstStyle/>
          <a:p>
            <a:pPr indent="0" marL="0">
              <a:buNone/>
            </a:pPr>
            <a:r>
              <a:rPr lang="en-US" sz="1900" b="1" dirty="0">
                <a:solidFill>
                  <a:srgbClr val="FF6A2B"/>
                </a:solidFill>
                <a:latin typeface="Cambria" pitchFamily="34" charset="0"/>
                <a:ea typeface="Cambria" pitchFamily="34" charset="-122"/>
                <a:cs typeface="Cambria" pitchFamily="34" charset="-120"/>
              </a:rPr>
              <a:t>The proof</a:t>
            </a:r>
            <a:endParaRPr lang="en-US" sz="1900" dirty="0"/>
          </a:p>
        </p:txBody>
      </p:sp>
      <p:sp>
        <p:nvSpPr>
          <p:cNvPr id="9" name="Text 7"/>
          <p:cNvSpPr/>
          <p:nvPr/>
        </p:nvSpPr>
        <p:spPr>
          <a:xfrm>
            <a:off x="3017520" y="5129784"/>
            <a:ext cx="4754880" cy="411480"/>
          </a:xfrm>
          <a:prstGeom prst="rect">
            <a:avLst/>
          </a:prstGeom>
          <a:noFill/>
          <a:ln/>
        </p:spPr>
        <p:txBody>
          <a:bodyPr wrap="square" lIns="0" tIns="0" rIns="0" bIns="0" rtlCol="0" anchor="ctr"/>
          <a:lstStyle/>
          <a:p>
            <a:pPr indent="0" marL="0">
              <a:buNone/>
            </a:pPr>
            <a:r>
              <a:rPr lang="en-US" sz="1400" dirty="0">
                <a:solidFill>
                  <a:srgbClr val="AFC3D8"/>
                </a:solidFill>
                <a:latin typeface="Calibri" pitchFamily="34" charset="0"/>
                <a:ea typeface="Calibri" pitchFamily="34" charset="-122"/>
                <a:cs typeface="Calibri" pitchFamily="34" charset="-120"/>
              </a:rPr>
              <a:t>81/81 detected, 94.80% named, re-run on every push</a:t>
            </a:r>
            <a:endParaRPr lang="en-US" sz="1400" dirty="0"/>
          </a:p>
        </p:txBody>
      </p:sp>
      <p:sp>
        <p:nvSpPr>
          <p:cNvPr id="10" name="Shape 8"/>
          <p:cNvSpPr/>
          <p:nvPr/>
        </p:nvSpPr>
        <p:spPr>
          <a:xfrm>
            <a:off x="8229600" y="1554480"/>
            <a:ext cx="3291840" cy="4343400"/>
          </a:xfrm>
          <a:prstGeom prst="roundRect">
            <a:avLst>
              <a:gd name="adj" fmla="val 2500"/>
            </a:avLst>
          </a:prstGeom>
          <a:solidFill>
            <a:srgbClr val="12293F"/>
          </a:solidFill>
          <a:ln/>
        </p:spPr>
      </p:sp>
      <p:sp>
        <p:nvSpPr>
          <p:cNvPr id="11" name="Text 9"/>
          <p:cNvSpPr/>
          <p:nvPr/>
        </p:nvSpPr>
        <p:spPr>
          <a:xfrm>
            <a:off x="8549640" y="1874520"/>
            <a:ext cx="27432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Tan Kia Yen</a:t>
            </a:r>
            <a:endParaRPr lang="en-US" sz="1600" dirty="0"/>
          </a:p>
        </p:txBody>
      </p:sp>
      <p:sp>
        <p:nvSpPr>
          <p:cNvPr id="12" name="Text 10"/>
          <p:cNvSpPr/>
          <p:nvPr/>
        </p:nvSpPr>
        <p:spPr>
          <a:xfrm>
            <a:off x="8549640" y="2286000"/>
            <a:ext cx="2743200" cy="548640"/>
          </a:xfrm>
          <a:prstGeom prst="rect">
            <a:avLst/>
          </a:prstGeom>
          <a:noFill/>
          <a:ln/>
        </p:spPr>
        <p:txBody>
          <a:bodyPr wrap="square" lIns="0" tIns="0" rIns="0" bIns="0" rtlCol="0" anchor="ctr"/>
          <a:lstStyle/>
          <a:p>
            <a:pPr indent="0" marL="0">
              <a:buNone/>
            </a:pPr>
            <a:r>
              <a:rPr lang="en-US" sz="1300" dirty="0">
                <a:solidFill>
                  <a:srgbClr val="9FB5CB"/>
                </a:solidFill>
                <a:latin typeface="Calibri" pitchFamily="34" charset="0"/>
                <a:ea typeface="Calibri" pitchFamily="34" charset="-122"/>
                <a:cs typeface="Calibri" pitchFamily="34" charset="-120"/>
              </a:rPr>
              <a:t>Visual Regression Workbench</a:t>
            </a:r>
            <a:endParaRPr lang="en-US" sz="1300" dirty="0"/>
          </a:p>
        </p:txBody>
      </p:sp>
      <p:sp>
        <p:nvSpPr>
          <p:cNvPr id="13" name="Text 11"/>
          <p:cNvSpPr/>
          <p:nvPr/>
        </p:nvSpPr>
        <p:spPr>
          <a:xfrm>
            <a:off x="8549640" y="2880360"/>
            <a:ext cx="2743200" cy="2743200"/>
          </a:xfrm>
          <a:prstGeom prst="rect">
            <a:avLst/>
          </a:prstGeom>
          <a:noFill/>
          <a:ln/>
        </p:spPr>
        <p:txBody>
          <a:bodyPr wrap="square" lIns="0" tIns="0" rIns="0" bIns="0" rtlCol="0" anchor="t"/>
          <a:lstStyle/>
          <a:p>
            <a:pPr indent="0" marL="0">
              <a:buNone/>
            </a:pPr>
            <a:r>
              <a:rPr lang="en-US" sz="1150" b="1" dirty="0">
                <a:solidFill>
                  <a:srgbClr val="FF6A2B"/>
                </a:solidFill>
                <a:latin typeface="Calibri" pitchFamily="34" charset="0"/>
                <a:ea typeface="Calibri" pitchFamily="34" charset="-122"/>
                <a:cs typeface="Calibri" pitchFamily="34" charset="-120"/>
              </a:rPr>
              <a:t>Try it
</a:t>
            </a:r>
            <a:endParaRPr lang="en-US" sz="1150" dirty="0"/>
          </a:p>
          <a:p>
            <a:pPr indent="0" marL="0">
              <a:buNone/>
            </a:pPr>
            <a:r>
              <a:rPr lang="en-US" sz="1100" dirty="0">
                <a:solidFill>
                  <a:srgbClr val="9FB5CB"/>
                </a:solidFill>
                <a:latin typeface="Courier New" pitchFamily="34" charset="0"/>
                <a:ea typeface="Courier New" pitchFamily="34" charset="-122"/>
                <a:cs typeface="Courier New" pitchFamily="34" charset="-120"/>
              </a:rPr>
              <a:t>docker-compose up --build
</a:t>
            </a:r>
            <a:endParaRPr lang="en-US" sz="1150" dirty="0"/>
          </a:p>
          <a:p>
            <a:pPr indent="0" marL="0">
              <a:buNone/>
            </a:pPr>
            <a:r>
              <a:rPr lang="en-US" sz="1150" b="1" dirty="0">
                <a:solidFill>
                  <a:srgbClr val="FF6A2B"/>
                </a:solidFill>
                <a:latin typeface="Calibri" pitchFamily="34" charset="0"/>
                <a:ea typeface="Calibri" pitchFamily="34" charset="-122"/>
                <a:cs typeface="Calibri" pitchFamily="34" charset="-120"/>
              </a:rPr>
              <a:t>Reproduce the number
</a:t>
            </a:r>
            <a:endParaRPr lang="en-US" sz="1150" dirty="0"/>
          </a:p>
          <a:p>
            <a:pPr indent="0" marL="0">
              <a:buNone/>
            </a:pPr>
            <a:r>
              <a:rPr lang="en-US" sz="1100" dirty="0">
                <a:solidFill>
                  <a:srgbClr val="9FB5CB"/>
                </a:solidFill>
                <a:latin typeface="Courier New" pitchFamily="34" charset="0"/>
                <a:ea typeface="Courier New" pitchFamily="34" charset="-122"/>
                <a:cs typeface="Courier New" pitchFamily="34" charset="-120"/>
              </a:rPr>
              <a:t>python scripts/live_eval_multiseed.py</a:t>
            </a:r>
            <a:endParaRPr lang="en-US" sz="1150" dirty="0"/>
          </a:p>
          <a:p>
            <a:pPr indent="0" marL="0">
              <a:buNone/>
            </a:pPr>
            <a:r>
              <a:rPr lang="en-US" sz="1100" dirty="0">
                <a:solidFill>
                  <a:srgbClr val="9FB5CB"/>
                </a:solidFill>
                <a:latin typeface="Courier New" pitchFamily="34" charset="0"/>
                <a:ea typeface="Courier New" pitchFamily="34" charset="-122"/>
                <a:cs typeface="Courier New" pitchFamily="34" charset="-120"/>
              </a:rPr>
              <a:t>  --seeds 10 --trials 50</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 Regression Workbench — A6 Presentation</dc:title>
  <dc:subject>PptxGenJS Presentation</dc:subject>
  <dc:creator>Tan Kia Yen</dc:creator>
  <cp:lastModifiedBy>Tan Kia Yen</cp:lastModifiedBy>
  <cp:revision>1</cp:revision>
  <dcterms:created xsi:type="dcterms:W3CDTF">2026-08-13T08:20:44Z</dcterms:created>
  <dcterms:modified xsi:type="dcterms:W3CDTF">2026-08-13T08:20:44Z</dcterms:modified>
</cp:coreProperties>
</file>
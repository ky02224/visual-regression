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742"/>
                </a:solidFill>
                <a:latin typeface="Calibri"/>
              </a:defRPr>
            </a:pPr>
            <a:r>
              <a:rPr sz="1300" b="0" i="0" u="none" strike="noStrike">
                <a:solidFill>
                  <a:srgbClr val="0F2742"/>
                </a:solidFill>
                <a:latin typeface="Calibri"/>
              </a:rPr>
              <a:t>Per-class recall  (%)</a:t>
            </a:r>
          </a:p>
        </c:rich>
      </c:tx>
      <c:layout/>
      <c:overlay val="0"/>
    </c:title>
    <c:autoTitleDeleted val="0"/>
    <c:plotArea>
      <c:layout/>
      <c:barChart>
        <c:barDir val="bar"/>
        <c:grouping val="clustered"/>
        <c:varyColors val="0"/>
        <c:ser>
          <c:idx val="0"/>
          <c:order val="0"/>
          <c:tx>
            <c:strRef>
              <c:f>Sheet1!$B$1</c:f>
              <c:strCache>
                <c:ptCount val="1"/>
                <c:pt idx="0">
                  <c:v>Recall</c:v>
                </c:pt>
              </c:strCache>
            </c:strRef>
          </c:tx>
          <c:spPr>
            <a:solidFill>
              <a:srgbClr val="35608F"/>
            </a:solidFill>
            <a:effectLst/>
          </c:spPr>
          <c:invertIfNegative val="0"/>
          <c:dLbls>
            <c:numFmt formatCode="0.0" sourceLinked="0"/>
            <c:txPr>
              <a:bodyPr/>
              <a:lstStyle/>
              <a:p>
                <a:pPr>
                  <a:defRPr b="0" i="0" strike="noStrike" sz="1000" u="none">
                    <a:solidFill>
                      <a:srgbClr val="44566C"/>
                    </a:solidFill>
                    <a:latin typeface="Arial"/>
                  </a:defRPr>
                </a:pPr>
              </a:p>
            </c:txPr>
            <c:showLegendKey val="0"/>
            <c:showVal val="1"/>
            <c:showCatName val="0"/>
            <c:showSerName val="0"/>
            <c:showPercent val="0"/>
            <c:showBubbleSize val="0"/>
            <c:showLeaderLines val="0"/>
          </c:dLbls>
          <c:cat>
            <c:multiLvlStrRef>
              <c:f>Sheet1!$A$2:$A$7</c:f>
              <c:multiLvlStrCache>
                <c:ptCount val="6"/>
                <c:lvl>
                  <c:pt idx="0">
                    <c:v>font-change</c:v>
                  </c:pt>
                  <c:pt idx="1">
                    <c:v>insignificant</c:v>
                  </c:pt>
                  <c:pt idx="2">
                    <c:v>color-regression</c:v>
                  </c:pt>
                  <c:pt idx="3">
                    <c:v>broken-image</c:v>
                  </c:pt>
                  <c:pt idx="4">
                    <c:v>text-issue</c:v>
                  </c:pt>
                  <c:pt idx="5">
                    <c:v>missing-element</c:v>
                  </c:pt>
                </c:lvl>
              </c:multiLvlStrCache>
            </c:multiLvlStrRef>
          </c:cat>
          <c:val>
            <c:numRef>
              <c:f>Sheet1!$B$2:$B$7</c:f>
              <c:numCache>
                <c:formatCode>General</c:formatCode>
                <c:ptCount val="6"/>
                <c:pt idx="0">
                  <c:v>100</c:v>
                </c:pt>
                <c:pt idx="1">
                  <c:v>100</c:v>
                </c:pt>
                <c:pt idx="2">
                  <c:v>98.97</c:v>
                </c:pt>
                <c:pt idx="3">
                  <c:v>93.18</c:v>
                </c:pt>
                <c:pt idx="4">
                  <c:v>93.15</c:v>
                </c:pt>
                <c:pt idx="5">
                  <c:v>87.68</c:v>
                </c:pt>
              </c:numCache>
            </c:numRef>
          </c:val>
        </c:ser>
        <c:dLbls>
          <c:numFmt formatCode="0.0" sourceLinked="0"/>
          <c:txPr>
            <a:bodyPr/>
            <a:lstStyle/>
            <a:p>
              <a:pPr>
                <a:defRPr b="0" i="0" strike="noStrike" sz="1000" u="none">
                  <a:solidFill>
                    <a:srgbClr val="44566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566C"/>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DC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566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Pooled accuracy</c:v>
                </c:pt>
              </c:strCache>
            </c:strRef>
          </c:tx>
          <c:spPr>
            <a:solidFill>
              <a:srgbClr val="35608F"/>
            </a:solidFill>
            <a:effectLst/>
          </c:spPr>
          <c:invertIfNegative val="0"/>
          <c:dLbls>
            <c:numFmt formatCode="0.0" sourceLinked="0"/>
            <c:txPr>
              <a:bodyPr/>
              <a:lstStyle/>
              <a:p>
                <a:pPr>
                  <a:defRPr b="0" i="0" strike="noStrike" sz="1200" u="none">
                    <a:solidFill>
                      <a:srgbClr val="44566C"/>
                    </a:solidFill>
                    <a:latin typeface="Arial"/>
                  </a:defRPr>
                </a:pPr>
              </a:p>
            </c:txPr>
            <c:showLegendKey val="0"/>
            <c:showVal val="1"/>
            <c:showCatName val="0"/>
            <c:showSerName val="0"/>
            <c:showPercent val="0"/>
            <c:showBubbleSize val="0"/>
            <c:showLeaderLines val="0"/>
          </c:dLbls>
          <c:dPt>
            <c:idx val="0"/>
            <c:invertIfNegative val="0"/>
            <c:bubble3D val="0"/>
            <c:spPr>
              <a:solidFill>
                <a:srgbClr val="35608F"/>
              </a:solidFill>
              <a:effectLst/>
            </c:spPr>
          </c:dPt>
          <c:dPt>
            <c:idx val="1"/>
            <c:invertIfNegative val="0"/>
            <c:bubble3D val="0"/>
            <c:spPr>
              <a:solidFill>
                <a:srgbClr val="35608F"/>
              </a:solidFill>
              <a:effectLst/>
            </c:spPr>
          </c:dPt>
          <c:dPt>
            <c:idx val="2"/>
            <c:invertIfNegative val="0"/>
            <c:bubble3D val="0"/>
            <c:spPr>
              <a:solidFill>
                <a:srgbClr val="35608F"/>
              </a:solidFill>
              <a:effectLst/>
            </c:spPr>
          </c:dPt>
          <c:dPt>
            <c:idx val="3"/>
            <c:invertIfNegative val="0"/>
            <c:bubble3D val="0"/>
            <c:spPr>
              <a:solidFill>
                <a:srgbClr val="E8298F"/>
              </a:solidFill>
              <a:effectLst/>
            </c:spPr>
          </c:dPt>
          <c:cat>
            <c:multiLvlStrRef>
              <c:f>Sheet1!$A$2:$A$5</c:f>
              <c:multiLvlStrCache>
                <c:ptCount val="4"/>
                <c:lvl>
                  <c:pt idx="0">
                    <c:v>Full system</c:v>
                  </c:pt>
                  <c:pt idx="1">
                    <c:v>Pixel features removed</c:v>
                  </c:pt>
                  <c:pt idx="2">
                    <c:v>DOM features removed</c:v>
                  </c:pt>
                  <c:pt idx="3">
                    <c:v>DOM engine removed</c:v>
                  </c:pt>
                </c:lvl>
              </c:multiLvlStrCache>
            </c:multiLvlStrRef>
          </c:cat>
          <c:val>
            <c:numRef>
              <c:f>Sheet1!$B$2:$B$5</c:f>
              <c:numCache>
                <c:formatCode>General</c:formatCode>
                <c:ptCount val="4"/>
                <c:pt idx="0">
                  <c:v>94.8</c:v>
                </c:pt>
                <c:pt idx="1">
                  <c:v>94.67</c:v>
                </c:pt>
                <c:pt idx="2">
                  <c:v>94</c:v>
                </c:pt>
                <c:pt idx="3">
                  <c:v>38.67</c:v>
                </c:pt>
              </c:numCache>
            </c:numRef>
          </c:val>
        </c:ser>
        <c:dLbls>
          <c:numFmt formatCode="0.0" sourceLinked="0"/>
          <c:txPr>
            <a:bodyPr/>
            <a:lstStyle/>
            <a:p>
              <a:pPr>
                <a:defRPr b="0" i="0" strike="noStrike" sz="1200" u="none">
                  <a:solidFill>
                    <a:srgbClr val="44566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2742"/>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DC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566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I'm Tan Kia Yen. My final year project is the Visual Regression Workbench — a testing platform that catches unintended changes to a website's appearance and tells you what kind of change it is. I'll cover the problem, the system, the results, then show you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Visual bugs are a blind spot. Nothing throws an exception when a call-to-action disappears or an image fails to decode, so the test suite stays green while the page is broken. The fallback is a human checking every page across browsers, devices and languages, which does not scale. On the right: the approved baseline, the page after a code change, and the difference the tool highlights.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[0:45-1:10] Commercial tools like Percy compare pixels. That says where something changed, not what changed or whether it matters — so a human still opens every screenshot, and false alarms from dynamic content train teams to ignore the suite. My objective was to detect the change, classify it into one of six types, and back that label with structural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[1:10-1:45] Work comes in from three places — the dashboard, a CI pipeline, or a Playwright SDK that drops into an existing suite — and all three hit the same five-stage pipeline: capture, normalise, pixel diff, classify, decide. Two design points. Capture is pinned to a fixed viewport, locale and timezone, so the same page in two languages is two baselines rather than one flaky one. And the screenshot travels with a DOM snapshot — that is what makes classification explainable instead of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[1:45-2:15] Classification fuses three kinds of evidence: the DOM diff says which elements were added, removed, moved or restyled; a ResNet50 Siamese head reads crops of the changed region from both sides; and rule features carry mismatch, SSIM and region geometry. Calibrated fusion outputs one of six labels. One rule to note — a DOM-confirmed defect bypasses the pixel noise floor, because a small text change is often too faint to clear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[2:15-2:50] I report detection and classification separately, because they fail for different reasons — detection is pixel arithmetic and close to exact, classification is a learned model and is not. Detection: 81 of 81 injected defects caught, zero false alarms on nine clean controls. Classification: 94.8% over 500 trials on real third-party pages, 95% confidence interval 92.85 to 96.75. The chart is per-class recall — five of six above 93%. Both numbers are re-checked by CI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[2:50-3:15] To check the accuracy comes from the design rather than a big model absorbing everything, I ran an ablation. Removing either feature group costs under a point — they overlap. Removing the DOM comparison engine drops the system to 38.7%, with colour, text and font changes at zero recall. The structural comparison is the load-bearing contribution, not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[3:15-3:40] Three honest limits. missing-element is the weakest class at 87.7% recall and accounts for most residual errors. A few small but real changes are discarded by the noise floor. And the six-class taxonomy was settled after seeing results — defensible, but I don't claim it as independent evidence; under the old seven-class rule the same trials score 92.6%.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[3:40-3:50] Let me show you the tool. I'll capture a baseline, run a comparison against a page with an injected defect, read the verdict and its evidence, and approve the result. [SWITCH TO BROWSER — dashboard already on port 8130] [DEMO: about 2 minutes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[6:20-6:35] To summarise: every injected defect detected with no false alarms, the change type named correctly 94.8% of the time on real pages, and the ablation shows that accuracy comes from the DOM-fused design.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A2B"/>
        </a:solidFill>
      </p:bgPr>
    </p:bg>
    <p:spTree>
      <p:nvGrpSpPr>
        <p:cNvPr id="1" name=""/>
        <p:cNvGrpSpPr/>
        <p:nvPr/>
      </p:nvGrpSpPr>
      <p:grpSpPr>
        <a:xfrm>
          <a:off x="0" y="0"/>
          <a:ext cx="0" cy="0"/>
          <a:chOff x="0" y="0"/>
          <a:chExt cx="0" cy="0"/>
        </a:xfrm>
      </p:grpSpPr>
      <p:sp>
        <p:nvSpPr>
          <p:cNvPr id="2" name="Shape 0"/>
          <p:cNvSpPr/>
          <p:nvPr/>
        </p:nvSpPr>
        <p:spPr>
          <a:xfrm>
            <a:off x="8549640" y="1188720"/>
            <a:ext cx="2880360" cy="1600200"/>
          </a:xfrm>
          <a:prstGeom prst="roundRect">
            <a:avLst>
              <a:gd name="adj" fmla="val 4571"/>
            </a:avLst>
          </a:prstGeom>
          <a:solidFill>
            <a:srgbClr val="091A2B"/>
          </a:solidFill>
          <a:ln w="19050">
            <a:solidFill>
              <a:srgbClr val="35608F"/>
            </a:solidFill>
            <a:prstDash val="solid"/>
          </a:ln>
        </p:spPr>
      </p:sp>
      <p:sp>
        <p:nvSpPr>
          <p:cNvPr id="3" name="Text 1"/>
          <p:cNvSpPr/>
          <p:nvPr/>
        </p:nvSpPr>
        <p:spPr>
          <a:xfrm>
            <a:off x="8549640" y="1188720"/>
            <a:ext cx="2880360" cy="1600200"/>
          </a:xfrm>
          <a:prstGeom prst="rect">
            <a:avLst/>
          </a:prstGeom>
          <a:noFill/>
          <a:ln/>
        </p:spPr>
        <p:txBody>
          <a:bodyPr wrap="square" lIns="0" tIns="0" rIns="0" bIns="0" rtlCol="0" anchor="ctr"/>
          <a:lstStyle/>
          <a:p>
            <a:pPr algn="ctr" indent="0" marL="0">
              <a:buNone/>
            </a:pPr>
            <a:r>
              <a:rPr lang="en-US" sz="1100" b="1" spc="200" kern="0" dirty="0">
                <a:solidFill>
                  <a:srgbClr val="6B8CAE"/>
                </a:solidFill>
                <a:latin typeface="Calibri" pitchFamily="34" charset="0"/>
                <a:ea typeface="Calibri" pitchFamily="34" charset="-122"/>
                <a:cs typeface="Calibri" pitchFamily="34" charset="-120"/>
              </a:rPr>
              <a:t>BASELINE</a:t>
            </a:r>
            <a:endParaRPr lang="en-US" sz="1100" dirty="0"/>
          </a:p>
        </p:txBody>
      </p:sp>
      <p:sp>
        <p:nvSpPr>
          <p:cNvPr id="4" name="Shape 2"/>
          <p:cNvSpPr/>
          <p:nvPr/>
        </p:nvSpPr>
        <p:spPr>
          <a:xfrm>
            <a:off x="8275320" y="2788920"/>
            <a:ext cx="2880360" cy="1600200"/>
          </a:xfrm>
          <a:prstGeom prst="roundRect">
            <a:avLst>
              <a:gd name="adj" fmla="val 4571"/>
            </a:avLst>
          </a:prstGeom>
          <a:solidFill>
            <a:srgbClr val="091A2B"/>
          </a:solidFill>
          <a:ln w="19050">
            <a:solidFill>
              <a:srgbClr val="6B8CAE"/>
            </a:solidFill>
            <a:prstDash val="solid"/>
          </a:ln>
        </p:spPr>
      </p:sp>
      <p:sp>
        <p:nvSpPr>
          <p:cNvPr id="5" name="Text 3"/>
          <p:cNvSpPr/>
          <p:nvPr/>
        </p:nvSpPr>
        <p:spPr>
          <a:xfrm>
            <a:off x="8275320" y="2788920"/>
            <a:ext cx="2880360" cy="1600200"/>
          </a:xfrm>
          <a:prstGeom prst="rect">
            <a:avLst/>
          </a:prstGeom>
          <a:noFill/>
          <a:ln/>
        </p:spPr>
        <p:txBody>
          <a:bodyPr wrap="square" lIns="0" tIns="0" rIns="0" bIns="0" rtlCol="0" anchor="ctr"/>
          <a:lstStyle/>
          <a:p>
            <a:pPr algn="ctr" indent="0" marL="0">
              <a:buNone/>
            </a:pPr>
            <a:r>
              <a:rPr lang="en-US" sz="1100" b="1" spc="200" kern="0" dirty="0">
                <a:solidFill>
                  <a:srgbClr val="6B8CAE"/>
                </a:solidFill>
                <a:latin typeface="Calibri" pitchFamily="34" charset="0"/>
                <a:ea typeface="Calibri" pitchFamily="34" charset="-122"/>
                <a:cs typeface="Calibri" pitchFamily="34" charset="-120"/>
              </a:rPr>
              <a:t>CURRENT</a:t>
            </a:r>
            <a:endParaRPr lang="en-US" sz="1100" dirty="0"/>
          </a:p>
        </p:txBody>
      </p:sp>
      <p:sp>
        <p:nvSpPr>
          <p:cNvPr id="6" name="Shape 4"/>
          <p:cNvSpPr/>
          <p:nvPr/>
        </p:nvSpPr>
        <p:spPr>
          <a:xfrm>
            <a:off x="8001000" y="4389120"/>
            <a:ext cx="2880360" cy="1600200"/>
          </a:xfrm>
          <a:prstGeom prst="roundRect">
            <a:avLst>
              <a:gd name="adj" fmla="val 4571"/>
            </a:avLst>
          </a:prstGeom>
          <a:solidFill>
            <a:srgbClr val="1B0F22"/>
          </a:solidFill>
          <a:ln w="25400">
            <a:solidFill>
              <a:srgbClr val="E8298F"/>
            </a:solidFill>
            <a:prstDash val="solid"/>
          </a:ln>
        </p:spPr>
      </p:sp>
      <p:sp>
        <p:nvSpPr>
          <p:cNvPr id="7" name="Text 5"/>
          <p:cNvSpPr/>
          <p:nvPr/>
        </p:nvSpPr>
        <p:spPr>
          <a:xfrm>
            <a:off x="8001000" y="4389120"/>
            <a:ext cx="2880360" cy="1600200"/>
          </a:xfrm>
          <a:prstGeom prst="rect">
            <a:avLst/>
          </a:prstGeom>
          <a:noFill/>
          <a:ln/>
        </p:spPr>
        <p:txBody>
          <a:bodyPr wrap="square" lIns="0" tIns="0" rIns="0" bIns="0" rtlCol="0" anchor="ctr"/>
          <a:lstStyle/>
          <a:p>
            <a:pPr algn="ctr" indent="0" marL="0">
              <a:buNone/>
            </a:pPr>
            <a:r>
              <a:rPr lang="en-US" sz="1100" b="1" spc="200" kern="0" dirty="0">
                <a:solidFill>
                  <a:srgbClr val="E8298F"/>
                </a:solidFill>
                <a:latin typeface="Calibri" pitchFamily="34" charset="0"/>
                <a:ea typeface="Calibri" pitchFamily="34" charset="-122"/>
                <a:cs typeface="Calibri" pitchFamily="34" charset="-120"/>
              </a:rPr>
              <a:t>DIFF  →  CLASSIFY</a:t>
            </a:r>
            <a:endParaRPr lang="en-US" sz="1100" dirty="0"/>
          </a:p>
        </p:txBody>
      </p:sp>
      <p:sp>
        <p:nvSpPr>
          <p:cNvPr id="8" name="Shape 6"/>
          <p:cNvSpPr/>
          <p:nvPr/>
        </p:nvSpPr>
        <p:spPr>
          <a:xfrm>
            <a:off x="685800" y="1234440"/>
            <a:ext cx="2331720" cy="329184"/>
          </a:xfrm>
          <a:prstGeom prst="roundRect">
            <a:avLst>
              <a:gd name="adj" fmla="val 50000"/>
            </a:avLst>
          </a:prstGeom>
          <a:solidFill>
            <a:srgbClr val="FF6A2B"/>
          </a:solidFill>
          <a:ln/>
        </p:spPr>
      </p:sp>
      <p:sp>
        <p:nvSpPr>
          <p:cNvPr id="9" name="Text 7"/>
          <p:cNvSpPr/>
          <p:nvPr/>
        </p:nvSpPr>
        <p:spPr>
          <a:xfrm>
            <a:off x="685800" y="1234440"/>
            <a:ext cx="2331720" cy="329184"/>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FINAL YEAR PROJECT</a:t>
            </a:r>
            <a:endParaRPr lang="en-US" sz="1050" dirty="0"/>
          </a:p>
        </p:txBody>
      </p:sp>
      <p:sp>
        <p:nvSpPr>
          <p:cNvPr id="10" name="Text 8"/>
          <p:cNvSpPr/>
          <p:nvPr/>
        </p:nvSpPr>
        <p:spPr>
          <a:xfrm>
            <a:off x="658368" y="1874520"/>
            <a:ext cx="7040880" cy="182880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Visual Regression</a:t>
            </a:r>
            <a:endParaRPr lang="en-US" sz="4400" dirty="0"/>
          </a:p>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Workbench</a:t>
            </a:r>
            <a:endParaRPr lang="en-US" sz="4400" dirty="0"/>
          </a:p>
        </p:txBody>
      </p:sp>
      <p:sp>
        <p:nvSpPr>
          <p:cNvPr id="11" name="Text 9"/>
          <p:cNvSpPr/>
          <p:nvPr/>
        </p:nvSpPr>
        <p:spPr>
          <a:xfrm>
            <a:off x="685800" y="3794760"/>
            <a:ext cx="6766560" cy="822960"/>
          </a:xfrm>
          <a:prstGeom prst="rect">
            <a:avLst/>
          </a:prstGeom>
          <a:noFill/>
          <a:ln/>
        </p:spPr>
        <p:txBody>
          <a:bodyPr wrap="square" lIns="0" tIns="0" rIns="0" bIns="0" rtlCol="0" anchor="ctr"/>
          <a:lstStyle/>
          <a:p>
            <a:pPr indent="0" marL="0">
              <a:buNone/>
            </a:pPr>
            <a:r>
              <a:rPr lang="en-US" sz="1700" dirty="0">
                <a:solidFill>
                  <a:srgbClr val="AFC3D8"/>
                </a:solidFill>
                <a:latin typeface="Calibri" pitchFamily="34" charset="0"/>
                <a:ea typeface="Calibri" pitchFamily="34" charset="-122"/>
                <a:cs typeface="Calibri" pitchFamily="34" charset="-120"/>
              </a:rPr>
              <a:t>Catching and naming unintended UI changes with DOM-fused deep learning</a:t>
            </a:r>
            <a:endParaRPr lang="en-US" sz="1700" dirty="0"/>
          </a:p>
        </p:txBody>
      </p:sp>
      <p:sp>
        <p:nvSpPr>
          <p:cNvPr id="12" name="Text 10"/>
          <p:cNvSpPr/>
          <p:nvPr/>
        </p:nvSpPr>
        <p:spPr>
          <a:xfrm>
            <a:off x="685800" y="5623560"/>
            <a:ext cx="6949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Tan Kia Yen</a:t>
            </a:r>
            <a:pPr indent="0" marL="0">
              <a:buNone/>
            </a:pPr>
            <a:r>
              <a:rPr lang="en-US" sz="1300" dirty="0">
                <a:solidFill>
                  <a:srgbClr val="6B8CAE"/>
                </a:solidFill>
                <a:latin typeface="Calibri" pitchFamily="34" charset="0"/>
                <a:ea typeface="Calibri" pitchFamily="34" charset="-122"/>
                <a:cs typeface="Calibri" pitchFamily="34" charset="-120"/>
              </a:rPr>
              <a:t>     Bachelor of Computer Science     </a:t>
            </a:r>
            <a:pPr indent="0" marL="0">
              <a:buNone/>
            </a:pPr>
            <a:r>
              <a:rPr lang="en-US" sz="1300" b="1" dirty="0">
                <a:solidFill>
                  <a:srgbClr val="FF6A2B"/>
                </a:solidFill>
                <a:latin typeface="Calibri" pitchFamily="34" charset="0"/>
                <a:ea typeface="Calibri" pitchFamily="34" charset="-122"/>
                <a:cs typeface="Calibri" pitchFamily="34" charset="-120"/>
              </a:rPr>
              <a:t>vr-workbench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0F2742"/>
                </a:solidFill>
                <a:latin typeface="Cambria" pitchFamily="34" charset="0"/>
                <a:ea typeface="Cambria" pitchFamily="34" charset="-122"/>
                <a:cs typeface="Cambria" pitchFamily="34" charset="-120"/>
              </a:rPr>
              <a:t>A page can break without anything failing</a:t>
            </a:r>
            <a:endParaRPr lang="en-US" sz="3400" dirty="0"/>
          </a:p>
        </p:txBody>
      </p:sp>
      <p:sp>
        <p:nvSpPr>
          <p:cNvPr id="4" name="Shape 2"/>
          <p:cNvSpPr/>
          <p:nvPr/>
        </p:nvSpPr>
        <p:spPr>
          <a:xfrm>
            <a:off x="566928" y="1508760"/>
            <a:ext cx="5440680" cy="1417320"/>
          </a:xfrm>
          <a:prstGeom prst="roundRect">
            <a:avLst>
              <a:gd name="adj" fmla="val 5806"/>
            </a:avLst>
          </a:prstGeom>
          <a:solidFill>
            <a:srgbClr val="FFFFFF"/>
          </a:solidFill>
          <a:ln/>
          <a:effectLst>
            <a:outerShdw sx="100000" sy="100000" kx="0" ky="0" algn="bl" rotWithShape="0" blurRad="127000" dist="25400" dir="5400000">
              <a:srgbClr val="8FA3B8">
                <a:alpha val="28000"/>
              </a:srgbClr>
            </a:outerShdw>
          </a:effectLst>
        </p:spPr>
      </p:sp>
      <p:sp>
        <p:nvSpPr>
          <p:cNvPr id="5" name="Shape 3"/>
          <p:cNvSpPr/>
          <p:nvPr/>
        </p:nvSpPr>
        <p:spPr>
          <a:xfrm>
            <a:off x="841248" y="1892808"/>
            <a:ext cx="402336" cy="402336"/>
          </a:xfrm>
          <a:prstGeom prst="ellipse">
            <a:avLst/>
          </a:prstGeom>
          <a:solidFill>
            <a:srgbClr val="FF6A2B"/>
          </a:solidFill>
          <a:ln/>
        </p:spPr>
      </p:sp>
      <p:sp>
        <p:nvSpPr>
          <p:cNvPr id="6" name="Text 4"/>
          <p:cNvSpPr/>
          <p:nvPr/>
        </p:nvSpPr>
        <p:spPr>
          <a:xfrm>
            <a:off x="841248" y="18928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9888" y="1709928"/>
            <a:ext cx="4480560" cy="320040"/>
          </a:xfrm>
          <a:prstGeom prst="rect">
            <a:avLst/>
          </a:prstGeom>
          <a:noFill/>
          <a:ln/>
        </p:spPr>
        <p:txBody>
          <a:bodyPr wrap="square" lIns="0" tIns="0" rIns="0" bIns="0" rtlCol="0" anchor="ctr"/>
          <a:lstStyle/>
          <a:p>
            <a:pPr indent="0" marL="0">
              <a:buNone/>
            </a:pPr>
            <a:r>
              <a:rPr lang="en-US" sz="1600" b="1" dirty="0">
                <a:solidFill>
                  <a:srgbClr val="0F2742"/>
                </a:solidFill>
                <a:latin typeface="Calibri" pitchFamily="34" charset="0"/>
                <a:ea typeface="Calibri" pitchFamily="34" charset="-122"/>
                <a:cs typeface="Calibri" pitchFamily="34" charset="-120"/>
              </a:rPr>
              <a:t>Tests pass, the page is wrong</a:t>
            </a:r>
            <a:endParaRPr lang="en-US" sz="1600" dirty="0"/>
          </a:p>
        </p:txBody>
      </p:sp>
      <p:sp>
        <p:nvSpPr>
          <p:cNvPr id="8" name="Text 6"/>
          <p:cNvSpPr/>
          <p:nvPr/>
        </p:nvSpPr>
        <p:spPr>
          <a:xfrm>
            <a:off x="1389888" y="2093976"/>
            <a:ext cx="4480560" cy="68580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A missing CTA, a broken image or a shifted card throws no error. Unit and API tests stay green.</a:t>
            </a:r>
            <a:endParaRPr lang="en-US" sz="1300" dirty="0"/>
          </a:p>
        </p:txBody>
      </p:sp>
      <p:sp>
        <p:nvSpPr>
          <p:cNvPr id="9" name="Shape 7"/>
          <p:cNvSpPr/>
          <p:nvPr/>
        </p:nvSpPr>
        <p:spPr>
          <a:xfrm>
            <a:off x="566928" y="3108960"/>
            <a:ext cx="5440680" cy="1417320"/>
          </a:xfrm>
          <a:prstGeom prst="roundRect">
            <a:avLst>
              <a:gd name="adj" fmla="val 5806"/>
            </a:avLst>
          </a:prstGeom>
          <a:solidFill>
            <a:srgbClr val="FFFFFF"/>
          </a:solidFill>
          <a:ln/>
          <a:effectLst>
            <a:outerShdw sx="100000" sy="100000" kx="0" ky="0" algn="bl" rotWithShape="0" blurRad="127000" dist="25400" dir="5400000">
              <a:srgbClr val="8FA3B8">
                <a:alpha val="28000"/>
              </a:srgbClr>
            </a:outerShdw>
          </a:effectLst>
        </p:spPr>
      </p:sp>
      <p:sp>
        <p:nvSpPr>
          <p:cNvPr id="10" name="Shape 8"/>
          <p:cNvSpPr/>
          <p:nvPr/>
        </p:nvSpPr>
        <p:spPr>
          <a:xfrm>
            <a:off x="841248" y="3493008"/>
            <a:ext cx="402336" cy="402336"/>
          </a:xfrm>
          <a:prstGeom prst="ellipse">
            <a:avLst/>
          </a:prstGeom>
          <a:solidFill>
            <a:srgbClr val="FF6A2B"/>
          </a:solidFill>
          <a:ln/>
        </p:spPr>
      </p:sp>
      <p:sp>
        <p:nvSpPr>
          <p:cNvPr id="11" name="Text 9"/>
          <p:cNvSpPr/>
          <p:nvPr/>
        </p:nvSpPr>
        <p:spPr>
          <a:xfrm>
            <a:off x="841248" y="34930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89888" y="3310128"/>
            <a:ext cx="4480560" cy="320040"/>
          </a:xfrm>
          <a:prstGeom prst="rect">
            <a:avLst/>
          </a:prstGeom>
          <a:noFill/>
          <a:ln/>
        </p:spPr>
        <p:txBody>
          <a:bodyPr wrap="square" lIns="0" tIns="0" rIns="0" bIns="0" rtlCol="0" anchor="ctr"/>
          <a:lstStyle/>
          <a:p>
            <a:pPr indent="0" marL="0">
              <a:buNone/>
            </a:pPr>
            <a:r>
              <a:rPr lang="en-US" sz="1600" b="1" dirty="0">
                <a:solidFill>
                  <a:srgbClr val="0F2742"/>
                </a:solidFill>
                <a:latin typeface="Calibri" pitchFamily="34" charset="0"/>
                <a:ea typeface="Calibri" pitchFamily="34" charset="-122"/>
                <a:cs typeface="Calibri" pitchFamily="34" charset="-120"/>
              </a:rPr>
              <a:t>Review does not scale</a:t>
            </a:r>
            <a:endParaRPr lang="en-US" sz="1600" dirty="0"/>
          </a:p>
        </p:txBody>
      </p:sp>
      <p:sp>
        <p:nvSpPr>
          <p:cNvPr id="13" name="Text 11"/>
          <p:cNvSpPr/>
          <p:nvPr/>
        </p:nvSpPr>
        <p:spPr>
          <a:xfrm>
            <a:off x="1389888" y="3694176"/>
            <a:ext cx="4480560" cy="68580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Every release means re-checking pages across browsers, devices and locales, by eye.</a:t>
            </a:r>
            <a:endParaRPr lang="en-US" sz="1300" dirty="0"/>
          </a:p>
        </p:txBody>
      </p:sp>
      <p:sp>
        <p:nvSpPr>
          <p:cNvPr id="14" name="Shape 12"/>
          <p:cNvSpPr/>
          <p:nvPr/>
        </p:nvSpPr>
        <p:spPr>
          <a:xfrm>
            <a:off x="566928" y="4709160"/>
            <a:ext cx="5440680" cy="1417320"/>
          </a:xfrm>
          <a:prstGeom prst="roundRect">
            <a:avLst>
              <a:gd name="adj" fmla="val 5806"/>
            </a:avLst>
          </a:prstGeom>
          <a:solidFill>
            <a:srgbClr val="FFFFFF"/>
          </a:solidFill>
          <a:ln/>
          <a:effectLst>
            <a:outerShdw sx="100000" sy="100000" kx="0" ky="0" algn="bl" rotWithShape="0" blurRad="127000" dist="25400" dir="5400000">
              <a:srgbClr val="8FA3B8">
                <a:alpha val="28000"/>
              </a:srgbClr>
            </a:outerShdw>
          </a:effectLst>
        </p:spPr>
      </p:sp>
      <p:sp>
        <p:nvSpPr>
          <p:cNvPr id="15" name="Shape 13"/>
          <p:cNvSpPr/>
          <p:nvPr/>
        </p:nvSpPr>
        <p:spPr>
          <a:xfrm>
            <a:off x="841248" y="5093208"/>
            <a:ext cx="402336" cy="402336"/>
          </a:xfrm>
          <a:prstGeom prst="ellipse">
            <a:avLst/>
          </a:prstGeom>
          <a:solidFill>
            <a:srgbClr val="FF6A2B"/>
          </a:solidFill>
          <a:ln/>
        </p:spPr>
      </p:sp>
      <p:sp>
        <p:nvSpPr>
          <p:cNvPr id="16" name="Text 14"/>
          <p:cNvSpPr/>
          <p:nvPr/>
        </p:nvSpPr>
        <p:spPr>
          <a:xfrm>
            <a:off x="841248" y="50932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89888" y="4910328"/>
            <a:ext cx="4480560" cy="320040"/>
          </a:xfrm>
          <a:prstGeom prst="rect">
            <a:avLst/>
          </a:prstGeom>
          <a:noFill/>
          <a:ln/>
        </p:spPr>
        <p:txBody>
          <a:bodyPr wrap="square" lIns="0" tIns="0" rIns="0" bIns="0" rtlCol="0" anchor="ctr"/>
          <a:lstStyle/>
          <a:p>
            <a:pPr indent="0" marL="0">
              <a:buNone/>
            </a:pPr>
            <a:r>
              <a:rPr lang="en-US" sz="1600" b="1" dirty="0">
                <a:solidFill>
                  <a:srgbClr val="0F2742"/>
                </a:solidFill>
                <a:latin typeface="Calibri" pitchFamily="34" charset="0"/>
                <a:ea typeface="Calibri" pitchFamily="34" charset="-122"/>
                <a:cs typeface="Calibri" pitchFamily="34" charset="-120"/>
              </a:rPr>
              <a:t>Cost lands on the user</a:t>
            </a:r>
            <a:endParaRPr lang="en-US" sz="1600" dirty="0"/>
          </a:p>
        </p:txBody>
      </p:sp>
      <p:sp>
        <p:nvSpPr>
          <p:cNvPr id="18" name="Text 16"/>
          <p:cNvSpPr/>
          <p:nvPr/>
        </p:nvSpPr>
        <p:spPr>
          <a:xfrm>
            <a:off x="1389888" y="5294376"/>
            <a:ext cx="4480560" cy="68580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A broken checkout button is found by customers, not by the pipeline.</a:t>
            </a:r>
            <a:endParaRPr lang="en-US" sz="1300" dirty="0"/>
          </a:p>
        </p:txBody>
      </p:sp>
      <p:pic>
        <p:nvPicPr>
          <p:cNvPr id="19" name="Image 0" descr="/sessions/tender-wizardly-brahmagupta/mnt/outputs/img/triptych.png">    </p:cNvPr>
          <p:cNvPicPr>
            <a:picLocks noChangeAspect="1"/>
          </p:cNvPicPr>
          <p:nvPr/>
        </p:nvPicPr>
        <p:blipFill>
          <a:blip r:embed="rId1"/>
          <a:stretch>
            <a:fillRect/>
          </a:stretch>
        </p:blipFill>
        <p:spPr>
          <a:xfrm>
            <a:off x="6309360" y="1508760"/>
            <a:ext cx="5321808" cy="3456432"/>
          </a:xfrm>
          <a:prstGeom prst="rect">
            <a:avLst/>
          </a:prstGeom>
        </p:spPr>
      </p:pic>
      <p:sp>
        <p:nvSpPr>
          <p:cNvPr id="20" name="Text 17"/>
          <p:cNvSpPr/>
          <p:nvPr/>
        </p:nvSpPr>
        <p:spPr>
          <a:xfrm>
            <a:off x="6309360" y="5138928"/>
            <a:ext cx="5321808" cy="457200"/>
          </a:xfrm>
          <a:prstGeom prst="rect">
            <a:avLst/>
          </a:prstGeom>
          <a:noFill/>
          <a:ln/>
        </p:spPr>
        <p:txBody>
          <a:bodyPr wrap="square" lIns="0" tIns="0" rIns="0" bIns="0" rtlCol="0" anchor="ctr"/>
          <a:lstStyle/>
          <a:p>
            <a:pPr indent="0" marL="0">
              <a:buNone/>
            </a:pPr>
            <a:r>
              <a:rPr lang="en-US" sz="1150" i="1" dirty="0">
                <a:solidFill>
                  <a:srgbClr val="7A8DA0"/>
                </a:solidFill>
                <a:latin typeface="Calibri" pitchFamily="34" charset="0"/>
                <a:ea typeface="Calibri" pitchFamily="34" charset="-122"/>
                <a:cs typeface="Calibri" pitchFamily="34" charset="-120"/>
              </a:rPr>
              <a:t>The same page before and after a code change, and the pixel diff the tool produces.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WHERE EXISTING TOOLS STOP</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0F2742"/>
                </a:solidFill>
                <a:latin typeface="Cambria" pitchFamily="34" charset="0"/>
                <a:ea typeface="Cambria" pitchFamily="34" charset="-122"/>
                <a:cs typeface="Cambria" pitchFamily="34" charset="-120"/>
              </a:rPr>
              <a:t>A pixel diff says where. It never says what.</a:t>
            </a:r>
            <a:endParaRPr lang="en-US" sz="3400" dirty="0"/>
          </a:p>
        </p:txBody>
      </p:sp>
      <p:sp>
        <p:nvSpPr>
          <p:cNvPr id="4" name="Shape 2"/>
          <p:cNvSpPr/>
          <p:nvPr/>
        </p:nvSpPr>
        <p:spPr>
          <a:xfrm>
            <a:off x="566928" y="1554480"/>
            <a:ext cx="5349240" cy="3657600"/>
          </a:xfrm>
          <a:prstGeom prst="roundRect">
            <a:avLst>
              <a:gd name="adj" fmla="val 2250"/>
            </a:avLst>
          </a:prstGeom>
          <a:solidFill>
            <a:srgbClr val="FFFFFF"/>
          </a:solidFill>
          <a:ln/>
          <a:effectLst>
            <a:outerShdw sx="100000" sy="100000" kx="0" ky="0" algn="bl" rotWithShape="0" blurRad="127000" dist="25400" dir="5400000">
              <a:srgbClr val="8FA3B8">
                <a:alpha val="28000"/>
              </a:srgbClr>
            </a:outerShdw>
          </a:effectLst>
        </p:spPr>
      </p:sp>
      <p:sp>
        <p:nvSpPr>
          <p:cNvPr id="5" name="Text 3"/>
          <p:cNvSpPr/>
          <p:nvPr/>
        </p:nvSpPr>
        <p:spPr>
          <a:xfrm>
            <a:off x="914400" y="1828800"/>
            <a:ext cx="4663440" cy="320040"/>
          </a:xfrm>
          <a:prstGeom prst="rect">
            <a:avLst/>
          </a:prstGeom>
          <a:noFill/>
          <a:ln/>
        </p:spPr>
        <p:txBody>
          <a:bodyPr wrap="square" lIns="0" tIns="0" rIns="0" bIns="0" rtlCol="0" anchor="ctr"/>
          <a:lstStyle/>
          <a:p>
            <a:pPr indent="0" marL="0">
              <a:buNone/>
            </a:pPr>
            <a:r>
              <a:rPr lang="en-US" sz="1200" b="1" spc="160" kern="0" dirty="0">
                <a:solidFill>
                  <a:srgbClr val="6B8CAE"/>
                </a:solidFill>
                <a:latin typeface="Calibri" pitchFamily="34" charset="0"/>
                <a:ea typeface="Calibri" pitchFamily="34" charset="-122"/>
                <a:cs typeface="Calibri" pitchFamily="34" charset="-120"/>
              </a:rPr>
              <a:t>PIXEL-ONLY TOOLS</a:t>
            </a:r>
            <a:endParaRPr lang="en-US" sz="1200" dirty="0"/>
          </a:p>
        </p:txBody>
      </p:sp>
      <p:sp>
        <p:nvSpPr>
          <p:cNvPr id="6" name="Text 4"/>
          <p:cNvSpPr/>
          <p:nvPr/>
        </p:nvSpPr>
        <p:spPr>
          <a:xfrm>
            <a:off x="914400" y="2286000"/>
            <a:ext cx="4663440" cy="1005840"/>
          </a:xfrm>
          <a:prstGeom prst="rect">
            <a:avLst/>
          </a:prstGeom>
          <a:noFill/>
          <a:ln/>
        </p:spPr>
        <p:txBody>
          <a:bodyPr wrap="square" lIns="0" tIns="0" rIns="0" bIns="0" rtlCol="0" anchor="ctr"/>
          <a:lstStyle/>
          <a:p>
            <a:pPr indent="0" marL="0">
              <a:buNone/>
            </a:pPr>
            <a:r>
              <a:rPr lang="en-US" sz="5400" b="1" dirty="0">
                <a:solidFill>
                  <a:srgbClr val="6B8CAE"/>
                </a:solidFill>
                <a:latin typeface="Cambria" pitchFamily="34" charset="0"/>
                <a:ea typeface="Cambria" pitchFamily="34" charset="-122"/>
                <a:cs typeface="Cambria" pitchFamily="34" charset="-120"/>
              </a:rPr>
              <a:t>2.7%</a:t>
            </a:r>
            <a:endParaRPr lang="en-US" sz="5400" dirty="0"/>
          </a:p>
        </p:txBody>
      </p:sp>
      <p:sp>
        <p:nvSpPr>
          <p:cNvPr id="7" name="Text 5"/>
          <p:cNvSpPr/>
          <p:nvPr/>
        </p:nvSpPr>
        <p:spPr>
          <a:xfrm>
            <a:off x="914400" y="3429000"/>
            <a:ext cx="4663440" cy="1554480"/>
          </a:xfrm>
          <a:prstGeom prst="rect">
            <a:avLst/>
          </a:prstGeom>
          <a:noFill/>
          <a:ln/>
        </p:spPr>
        <p:txBody>
          <a:bodyPr wrap="square" lIns="0" tIns="0" rIns="0" bIns="0" rtlCol="0" anchor="ctr"/>
          <a:lstStyle/>
          <a:p>
            <a:pPr indent="0" marL="0">
              <a:buNone/>
            </a:pPr>
            <a:r>
              <a:rPr lang="en-US" sz="1400" b="1" dirty="0">
                <a:solidFill>
                  <a:srgbClr val="0F2742"/>
                </a:solidFill>
                <a:latin typeface="Calibri" pitchFamily="34" charset="0"/>
                <a:ea typeface="Calibri" pitchFamily="34" charset="-122"/>
                <a:cs typeface="Calibri" pitchFamily="34" charset="-120"/>
              </a:rPr>
              <a:t>of pixels changed — now go look</a:t>
            </a:r>
            <a:endParaRPr lang="en-US" sz="1400" dirty="0"/>
          </a:p>
          <a:p>
            <a:pPr indent="0" marL="0">
              <a:buNone/>
            </a:pPr>
            <a:r>
              <a:rPr lang="en-US" sz="1250" dirty="0">
                <a:solidFill>
                  <a:srgbClr val="44566C"/>
                </a:solidFill>
                <a:latin typeface="Calibri" pitchFamily="34" charset="0"/>
                <a:ea typeface="Calibri" pitchFamily="34" charset="-122"/>
                <a:cs typeface="Calibri" pitchFamily="34" charset="-120"/>
              </a:rPr>
              <a:t>Every reviewer still opens the screenshot to work out whether the change matters. Dynamic content triggers alarms nobody trusts, so the suite gets muted.</a:t>
            </a:r>
            <a:endParaRPr lang="en-US" sz="1400" dirty="0"/>
          </a:p>
        </p:txBody>
      </p:sp>
      <p:sp>
        <p:nvSpPr>
          <p:cNvPr id="8" name="Shape 6"/>
          <p:cNvSpPr/>
          <p:nvPr/>
        </p:nvSpPr>
        <p:spPr>
          <a:xfrm>
            <a:off x="6272784" y="1554480"/>
            <a:ext cx="5349240" cy="3657600"/>
          </a:xfrm>
          <a:prstGeom prst="roundRect">
            <a:avLst>
              <a:gd name="adj" fmla="val 2250"/>
            </a:avLst>
          </a:prstGeom>
          <a:solidFill>
            <a:srgbClr val="0F2742"/>
          </a:solidFill>
          <a:ln/>
          <a:effectLst>
            <a:outerShdw sx="100000" sy="100000" kx="0" ky="0" algn="bl" rotWithShape="0" blurRad="127000" dist="25400" dir="5400000">
              <a:srgbClr val="8FA3B8">
                <a:alpha val="28000"/>
              </a:srgbClr>
            </a:outerShdw>
          </a:effectLst>
        </p:spPr>
      </p:sp>
      <p:sp>
        <p:nvSpPr>
          <p:cNvPr id="9" name="Text 7"/>
          <p:cNvSpPr/>
          <p:nvPr/>
        </p:nvSpPr>
        <p:spPr>
          <a:xfrm>
            <a:off x="6620256" y="1828800"/>
            <a:ext cx="4663440" cy="320040"/>
          </a:xfrm>
          <a:prstGeom prst="rect">
            <a:avLst/>
          </a:prstGeom>
          <a:noFill/>
          <a:ln/>
        </p:spPr>
        <p:txBody>
          <a:bodyPr wrap="square" lIns="0" tIns="0" rIns="0" bIns="0" rtlCol="0" anchor="ctr"/>
          <a:lstStyle/>
          <a:p>
            <a:pPr indent="0" marL="0">
              <a:buNone/>
            </a:pPr>
            <a:r>
              <a:rPr lang="en-US" sz="1200" b="1" spc="160" kern="0" dirty="0">
                <a:solidFill>
                  <a:srgbClr val="FF6A2B"/>
                </a:solidFill>
                <a:latin typeface="Calibri" pitchFamily="34" charset="0"/>
                <a:ea typeface="Calibri" pitchFamily="34" charset="-122"/>
                <a:cs typeface="Calibri" pitchFamily="34" charset="-120"/>
              </a:rPr>
              <a:t>THIS PROJECT</a:t>
            </a:r>
            <a:endParaRPr lang="en-US" sz="1200" dirty="0"/>
          </a:p>
        </p:txBody>
      </p:sp>
      <p:sp>
        <p:nvSpPr>
          <p:cNvPr id="10" name="Text 8"/>
          <p:cNvSpPr/>
          <p:nvPr/>
        </p:nvSpPr>
        <p:spPr>
          <a:xfrm>
            <a:off x="6620256" y="2331720"/>
            <a:ext cx="466344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missing-element</a:t>
            </a:r>
            <a:endParaRPr lang="en-US" sz="3400" dirty="0"/>
          </a:p>
        </p:txBody>
      </p:sp>
      <p:sp>
        <p:nvSpPr>
          <p:cNvPr id="11" name="Text 9"/>
          <p:cNvSpPr/>
          <p:nvPr/>
        </p:nvSpPr>
        <p:spPr>
          <a:xfrm>
            <a:off x="6620256" y="3429000"/>
            <a:ext cx="4663440" cy="1554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named change type, with evidence</a:t>
            </a:r>
            <a:endParaRPr lang="en-US" sz="1400" dirty="0"/>
          </a:p>
          <a:p>
            <a:pPr indent="0" marL="0">
              <a:buNone/>
            </a:pPr>
            <a:r>
              <a:rPr lang="en-US" sz="1250" dirty="0">
                <a:solidFill>
                  <a:srgbClr val="B9CBDD"/>
                </a:solidFill>
                <a:latin typeface="Calibri" pitchFamily="34" charset="0"/>
                <a:ea typeface="Calibri" pitchFamily="34" charset="-122"/>
                <a:cs typeface="Calibri" pitchFamily="34" charset="-120"/>
              </a:rPr>
              <a:t>The verdict comes with a checkable sentence from the DOM — which element, at which coordinates, and what happened to it — so a reviewer can act without opening the page.</a:t>
            </a:r>
            <a:endParaRPr lang="en-US" sz="1400" dirty="0"/>
          </a:p>
        </p:txBody>
      </p:sp>
      <p:sp>
        <p:nvSpPr>
          <p:cNvPr id="12" name="Text 10"/>
          <p:cNvSpPr/>
          <p:nvPr/>
        </p:nvSpPr>
        <p:spPr>
          <a:xfrm>
            <a:off x="566928" y="5577840"/>
            <a:ext cx="11064240" cy="548640"/>
          </a:xfrm>
          <a:prstGeom prst="rect">
            <a:avLst/>
          </a:prstGeom>
          <a:noFill/>
          <a:ln/>
        </p:spPr>
        <p:txBody>
          <a:bodyPr wrap="square" lIns="0" tIns="0" rIns="0" bIns="0" rtlCol="0" anchor="ctr"/>
          <a:lstStyle/>
          <a:p>
            <a:pPr indent="0" marL="0">
              <a:buNone/>
            </a:pPr>
            <a:r>
              <a:rPr lang="en-US" sz="1450" i="1" dirty="0">
                <a:solidFill>
                  <a:srgbClr val="0F2742"/>
                </a:solidFill>
                <a:latin typeface="Calibri" pitchFamily="34" charset="0"/>
                <a:ea typeface="Calibri" pitchFamily="34" charset="-122"/>
                <a:cs typeface="Calibri" pitchFamily="34" charset="-120"/>
              </a:rPr>
              <a:t>Objective  —  detect the change, classify it into one of six types, and justify the label with structural evidence rather than a percentage.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HOW IT WORKS</a:t>
            </a:r>
            <a:endParaRPr lang="en-US" sz="1150" dirty="0"/>
          </a:p>
        </p:txBody>
      </p:sp>
      <p:sp>
        <p:nvSpPr>
          <p:cNvPr id="3" name="Text 1"/>
          <p:cNvSpPr/>
          <p:nvPr/>
        </p:nvSpPr>
        <p:spPr>
          <a:xfrm>
            <a:off x="566928" y="384048"/>
            <a:ext cx="6400800" cy="777240"/>
          </a:xfrm>
          <a:prstGeom prst="rect">
            <a:avLst/>
          </a:prstGeom>
          <a:noFill/>
          <a:ln/>
        </p:spPr>
        <p:txBody>
          <a:bodyPr wrap="square" lIns="0" tIns="0" rIns="0" bIns="0" rtlCol="0" anchor="ctr"/>
          <a:lstStyle/>
          <a:p>
            <a:pPr algn="l" indent="0" marL="0">
              <a:buNone/>
            </a:pPr>
            <a:r>
              <a:rPr lang="en-US" sz="3400" b="1" dirty="0">
                <a:solidFill>
                  <a:srgbClr val="0F2742"/>
                </a:solidFill>
                <a:latin typeface="Cambria" pitchFamily="34" charset="0"/>
                <a:ea typeface="Cambria" pitchFamily="34" charset="-122"/>
                <a:cs typeface="Cambria" pitchFamily="34" charset="-120"/>
              </a:rPr>
              <a:t>One pipeline, three ways in</a:t>
            </a:r>
            <a:endParaRPr lang="en-US" sz="3400" dirty="0"/>
          </a:p>
        </p:txBody>
      </p:sp>
      <p:pic>
        <p:nvPicPr>
          <p:cNvPr id="4" name="Image 0" descr="/sessions/tender-wizardly-brahmagupta/mnt/outputs/img/architecture.png">    </p:cNvPr>
          <p:cNvPicPr>
            <a:picLocks noChangeAspect="1"/>
          </p:cNvPicPr>
          <p:nvPr/>
        </p:nvPicPr>
        <p:blipFill>
          <a:blip r:embed="rId1"/>
          <a:stretch>
            <a:fillRect/>
          </a:stretch>
        </p:blipFill>
        <p:spPr>
          <a:xfrm>
            <a:off x="5532120" y="1353312"/>
            <a:ext cx="6099048" cy="4946904"/>
          </a:xfrm>
          <a:prstGeom prst="rect">
            <a:avLst/>
          </a:prstGeom>
        </p:spPr>
      </p:pic>
      <p:sp>
        <p:nvSpPr>
          <p:cNvPr id="5" name="Text 2"/>
          <p:cNvSpPr/>
          <p:nvPr/>
        </p:nvSpPr>
        <p:spPr>
          <a:xfrm>
            <a:off x="566928" y="1481328"/>
            <a:ext cx="4663440" cy="548640"/>
          </a:xfrm>
          <a:prstGeom prst="rect">
            <a:avLst/>
          </a:prstGeom>
          <a:noFill/>
          <a:ln/>
        </p:spPr>
        <p:txBody>
          <a:bodyPr wrap="square" lIns="0" tIns="0" rIns="0" bIns="0" rtlCol="0" anchor="ctr"/>
          <a:lstStyle/>
          <a:p>
            <a:pPr indent="0" marL="0">
              <a:buNone/>
            </a:pPr>
            <a:r>
              <a:rPr lang="en-US" sz="1550" b="1" dirty="0">
                <a:solidFill>
                  <a:srgbClr val="0F2742"/>
                </a:solidFill>
                <a:latin typeface="Calibri" pitchFamily="34" charset="0"/>
                <a:ea typeface="Calibri" pitchFamily="34" charset="-122"/>
                <a:cs typeface="Calibri" pitchFamily="34" charset="-120"/>
              </a:rPr>
              <a:t>Capture is reproducible</a:t>
            </a:r>
            <a:endParaRPr lang="en-US" sz="1550" dirty="0"/>
          </a:p>
        </p:txBody>
      </p:sp>
      <p:sp>
        <p:nvSpPr>
          <p:cNvPr id="6" name="Text 3"/>
          <p:cNvSpPr/>
          <p:nvPr/>
        </p:nvSpPr>
        <p:spPr>
          <a:xfrm>
            <a:off x="566928" y="2048256"/>
            <a:ext cx="4663440" cy="91440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Playwright with animations off and a fixed viewport, locale and timezone — those three define a baseline's identity.</a:t>
            </a:r>
            <a:endParaRPr lang="en-US" sz="1300" dirty="0"/>
          </a:p>
        </p:txBody>
      </p:sp>
      <p:sp>
        <p:nvSpPr>
          <p:cNvPr id="7" name="Text 4"/>
          <p:cNvSpPr/>
          <p:nvPr/>
        </p:nvSpPr>
        <p:spPr>
          <a:xfrm>
            <a:off x="566928" y="2990088"/>
            <a:ext cx="4663440" cy="548640"/>
          </a:xfrm>
          <a:prstGeom prst="rect">
            <a:avLst/>
          </a:prstGeom>
          <a:noFill/>
          <a:ln/>
        </p:spPr>
        <p:txBody>
          <a:bodyPr wrap="square" lIns="0" tIns="0" rIns="0" bIns="0" rtlCol="0" anchor="ctr"/>
          <a:lstStyle/>
          <a:p>
            <a:pPr indent="0" marL="0">
              <a:buNone/>
            </a:pPr>
            <a:r>
              <a:rPr lang="en-US" sz="1550" b="1" dirty="0">
                <a:solidFill>
                  <a:srgbClr val="0F2742"/>
                </a:solidFill>
                <a:latin typeface="Calibri" pitchFamily="34" charset="0"/>
                <a:ea typeface="Calibri" pitchFamily="34" charset="-122"/>
                <a:cs typeface="Calibri" pitchFamily="34" charset="-120"/>
              </a:rPr>
              <a:t>A DOM sidecar travels with the screenshot</a:t>
            </a:r>
            <a:endParaRPr lang="en-US" sz="1550" dirty="0"/>
          </a:p>
        </p:txBody>
      </p:sp>
      <p:sp>
        <p:nvSpPr>
          <p:cNvPr id="8" name="Text 5"/>
          <p:cNvSpPr/>
          <p:nvPr/>
        </p:nvSpPr>
        <p:spPr>
          <a:xfrm>
            <a:off x="566928" y="3557016"/>
            <a:ext cx="4663440" cy="91440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The structural snapshot is what turns an image comparison into an explainable one.</a:t>
            </a:r>
            <a:endParaRPr lang="en-US" sz="1300" dirty="0"/>
          </a:p>
        </p:txBody>
      </p:sp>
      <p:sp>
        <p:nvSpPr>
          <p:cNvPr id="9" name="Text 6"/>
          <p:cNvSpPr/>
          <p:nvPr/>
        </p:nvSpPr>
        <p:spPr>
          <a:xfrm>
            <a:off x="566928" y="4498848"/>
            <a:ext cx="4663440" cy="548640"/>
          </a:xfrm>
          <a:prstGeom prst="rect">
            <a:avLst/>
          </a:prstGeom>
          <a:noFill/>
          <a:ln/>
        </p:spPr>
        <p:txBody>
          <a:bodyPr wrap="square" lIns="0" tIns="0" rIns="0" bIns="0" rtlCol="0" anchor="ctr"/>
          <a:lstStyle/>
          <a:p>
            <a:pPr indent="0" marL="0">
              <a:buNone/>
            </a:pPr>
            <a:r>
              <a:rPr lang="en-US" sz="1550" b="1" dirty="0">
                <a:solidFill>
                  <a:srgbClr val="0F2742"/>
                </a:solidFill>
                <a:latin typeface="Calibri" pitchFamily="34" charset="0"/>
                <a:ea typeface="Calibri" pitchFamily="34" charset="-122"/>
                <a:cs typeface="Calibri" pitchFamily="34" charset="-120"/>
              </a:rPr>
              <a:t>The AI is optional at every point</a:t>
            </a:r>
            <a:endParaRPr lang="en-US" sz="1550" dirty="0"/>
          </a:p>
        </p:txBody>
      </p:sp>
      <p:sp>
        <p:nvSpPr>
          <p:cNvPr id="10" name="Text 7"/>
          <p:cNvSpPr/>
          <p:nvPr/>
        </p:nvSpPr>
        <p:spPr>
          <a:xfrm>
            <a:off x="566928" y="5065776"/>
            <a:ext cx="4663440" cy="91440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With no model the tool still detects changes, it just stops naming them. CI runs on that path deliberately.</a:t>
            </a:r>
            <a:endParaRPr lang="en-US" sz="1300" dirty="0"/>
          </a:p>
        </p:txBody>
      </p:sp>
      <p:sp>
        <p:nvSpPr>
          <p:cNvPr id="11" name="Text 8"/>
          <p:cNvSpPr/>
          <p:nvPr/>
        </p:nvSpPr>
        <p:spPr>
          <a:xfrm>
            <a:off x="566928" y="5852160"/>
            <a:ext cx="4709160" cy="822960"/>
          </a:xfrm>
          <a:prstGeom prst="rect">
            <a:avLst/>
          </a:prstGeom>
          <a:noFill/>
          <a:ln/>
        </p:spPr>
        <p:txBody>
          <a:bodyPr wrap="square" lIns="0" tIns="0" rIns="0" bIns="0" rtlCol="0" anchor="ctr"/>
          <a:lstStyle/>
          <a:p>
            <a:pPr indent="0" marL="0">
              <a:buNone/>
            </a:pPr>
            <a:r>
              <a:rPr lang="en-US" sz="1200" b="1" dirty="0">
                <a:solidFill>
                  <a:srgbClr val="0F2742"/>
                </a:solidFill>
                <a:latin typeface="Calibri" pitchFamily="34" charset="0"/>
                <a:ea typeface="Calibri" pitchFamily="34" charset="-122"/>
                <a:cs typeface="Calibri" pitchFamily="34" charset="-120"/>
              </a:rPr>
              <a:t>Stack   </a:t>
            </a:r>
            <a:pPr indent="0" marL="0">
              <a:buNone/>
            </a:pPr>
            <a:r>
              <a:rPr lang="en-US" sz="1200" dirty="0">
                <a:solidFill>
                  <a:srgbClr val="44566C"/>
                </a:solidFill>
                <a:latin typeface="Calibri" pitchFamily="34" charset="0"/>
                <a:ea typeface="Calibri" pitchFamily="34" charset="-122"/>
                <a:cs typeface="Calibri" pitchFamily="34" charset="-120"/>
              </a:rPr>
              <a:t>FastAPI · Playwright · PyTorch · OpenCV · React + Vite · SQLite / PostgreSQL · Docker · GitHub Actions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THE MODEL</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0F2742"/>
                </a:solidFill>
                <a:latin typeface="Cambria" pitchFamily="34" charset="0"/>
                <a:ea typeface="Cambria" pitchFamily="34" charset="-122"/>
                <a:cs typeface="Cambria" pitchFamily="34" charset="-120"/>
              </a:rPr>
              <a:t>Three kinds of evidence, one label</a:t>
            </a:r>
            <a:endParaRPr lang="en-US" sz="3400" dirty="0"/>
          </a:p>
        </p:txBody>
      </p:sp>
      <p:sp>
        <p:nvSpPr>
          <p:cNvPr id="4" name="Shape 2"/>
          <p:cNvSpPr/>
          <p:nvPr/>
        </p:nvSpPr>
        <p:spPr>
          <a:xfrm>
            <a:off x="566928" y="1554480"/>
            <a:ext cx="3977640" cy="1188720"/>
          </a:xfrm>
          <a:prstGeom prst="roundRect">
            <a:avLst>
              <a:gd name="adj" fmla="val 6923"/>
            </a:avLst>
          </a:prstGeom>
          <a:solidFill>
            <a:srgbClr val="FFFFFF"/>
          </a:solidFill>
          <a:ln/>
          <a:effectLst>
            <a:outerShdw sx="100000" sy="100000" kx="0" ky="0" algn="bl" rotWithShape="0" blurRad="127000" dist="25400" dir="5400000">
              <a:srgbClr val="8FA3B8">
                <a:alpha val="28000"/>
              </a:srgbClr>
            </a:outerShdw>
          </a:effectLst>
        </p:spPr>
      </p:sp>
      <p:sp>
        <p:nvSpPr>
          <p:cNvPr id="5" name="Shape 3"/>
          <p:cNvSpPr/>
          <p:nvPr/>
        </p:nvSpPr>
        <p:spPr>
          <a:xfrm>
            <a:off x="777240" y="1984248"/>
            <a:ext cx="329184" cy="329184"/>
          </a:xfrm>
          <a:prstGeom prst="ellipse">
            <a:avLst/>
          </a:prstGeom>
          <a:solidFill>
            <a:srgbClr val="FF6A2B"/>
          </a:solidFill>
          <a:ln/>
        </p:spPr>
      </p:sp>
      <p:sp>
        <p:nvSpPr>
          <p:cNvPr id="6" name="Text 4"/>
          <p:cNvSpPr/>
          <p:nvPr/>
        </p:nvSpPr>
        <p:spPr>
          <a:xfrm>
            <a:off x="1261872" y="1773936"/>
            <a:ext cx="3200400" cy="310896"/>
          </a:xfrm>
          <a:prstGeom prst="rect">
            <a:avLst/>
          </a:prstGeom>
          <a:noFill/>
          <a:ln/>
        </p:spPr>
        <p:txBody>
          <a:bodyPr wrap="square" lIns="0" tIns="0" rIns="0" bIns="0" rtlCol="0" anchor="ctr"/>
          <a:lstStyle/>
          <a:p>
            <a:pPr indent="0" marL="0">
              <a:buNone/>
            </a:pPr>
            <a:r>
              <a:rPr lang="en-US" sz="1450" b="1" dirty="0">
                <a:solidFill>
                  <a:srgbClr val="0F2742"/>
                </a:solidFill>
                <a:latin typeface="Calibri" pitchFamily="34" charset="0"/>
                <a:ea typeface="Calibri" pitchFamily="34" charset="-122"/>
                <a:cs typeface="Calibri" pitchFamily="34" charset="-120"/>
              </a:rPr>
              <a:t>DOM structural diff</a:t>
            </a:r>
            <a:endParaRPr lang="en-US" sz="1450" dirty="0"/>
          </a:p>
        </p:txBody>
      </p:sp>
      <p:sp>
        <p:nvSpPr>
          <p:cNvPr id="7" name="Text 5"/>
          <p:cNvSpPr/>
          <p:nvPr/>
        </p:nvSpPr>
        <p:spPr>
          <a:xfrm>
            <a:off x="1261872" y="2130552"/>
            <a:ext cx="3200400" cy="41148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elements added, removed, moved, restyled</a:t>
            </a:r>
            <a:endParaRPr lang="en-US" sz="1200" dirty="0"/>
          </a:p>
        </p:txBody>
      </p:sp>
      <p:sp>
        <p:nvSpPr>
          <p:cNvPr id="8" name="Shape 6"/>
          <p:cNvSpPr/>
          <p:nvPr/>
        </p:nvSpPr>
        <p:spPr>
          <a:xfrm>
            <a:off x="566928" y="2898648"/>
            <a:ext cx="3977640" cy="1188720"/>
          </a:xfrm>
          <a:prstGeom prst="roundRect">
            <a:avLst>
              <a:gd name="adj" fmla="val 6923"/>
            </a:avLst>
          </a:prstGeom>
          <a:solidFill>
            <a:srgbClr val="FFFFFF"/>
          </a:solidFill>
          <a:ln/>
          <a:effectLst>
            <a:outerShdw sx="100000" sy="100000" kx="0" ky="0" algn="bl" rotWithShape="0" blurRad="127000" dist="25400" dir="5400000">
              <a:srgbClr val="8FA3B8">
                <a:alpha val="28000"/>
              </a:srgbClr>
            </a:outerShdw>
          </a:effectLst>
        </p:spPr>
      </p:sp>
      <p:sp>
        <p:nvSpPr>
          <p:cNvPr id="9" name="Shape 7"/>
          <p:cNvSpPr/>
          <p:nvPr/>
        </p:nvSpPr>
        <p:spPr>
          <a:xfrm>
            <a:off x="777240" y="3328416"/>
            <a:ext cx="329184" cy="329184"/>
          </a:xfrm>
          <a:prstGeom prst="ellipse">
            <a:avLst/>
          </a:prstGeom>
          <a:solidFill>
            <a:srgbClr val="35608F"/>
          </a:solidFill>
          <a:ln/>
        </p:spPr>
      </p:sp>
      <p:sp>
        <p:nvSpPr>
          <p:cNvPr id="10" name="Text 8"/>
          <p:cNvSpPr/>
          <p:nvPr/>
        </p:nvSpPr>
        <p:spPr>
          <a:xfrm>
            <a:off x="1261872" y="3118104"/>
            <a:ext cx="3200400" cy="310896"/>
          </a:xfrm>
          <a:prstGeom prst="rect">
            <a:avLst/>
          </a:prstGeom>
          <a:noFill/>
          <a:ln/>
        </p:spPr>
        <p:txBody>
          <a:bodyPr wrap="square" lIns="0" tIns="0" rIns="0" bIns="0" rtlCol="0" anchor="ctr"/>
          <a:lstStyle/>
          <a:p>
            <a:pPr indent="0" marL="0">
              <a:buNone/>
            </a:pPr>
            <a:r>
              <a:rPr lang="en-US" sz="1450" b="1" dirty="0">
                <a:solidFill>
                  <a:srgbClr val="0F2742"/>
                </a:solidFill>
                <a:latin typeface="Calibri" pitchFamily="34" charset="0"/>
                <a:ea typeface="Calibri" pitchFamily="34" charset="-122"/>
                <a:cs typeface="Calibri" pitchFamily="34" charset="-120"/>
              </a:rPr>
              <a:t>ResNet50 Siamese head</a:t>
            </a:r>
            <a:endParaRPr lang="en-US" sz="1450" dirty="0"/>
          </a:p>
        </p:txBody>
      </p:sp>
      <p:sp>
        <p:nvSpPr>
          <p:cNvPr id="11" name="Text 9"/>
          <p:cNvSpPr/>
          <p:nvPr/>
        </p:nvSpPr>
        <p:spPr>
          <a:xfrm>
            <a:off x="1261872" y="3474720"/>
            <a:ext cx="3200400" cy="41148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crops of the changed region, both sides</a:t>
            </a:r>
            <a:endParaRPr lang="en-US" sz="1200" dirty="0"/>
          </a:p>
        </p:txBody>
      </p:sp>
      <p:sp>
        <p:nvSpPr>
          <p:cNvPr id="12" name="Shape 10"/>
          <p:cNvSpPr/>
          <p:nvPr/>
        </p:nvSpPr>
        <p:spPr>
          <a:xfrm>
            <a:off x="566928" y="4242816"/>
            <a:ext cx="3977640" cy="1188720"/>
          </a:xfrm>
          <a:prstGeom prst="roundRect">
            <a:avLst>
              <a:gd name="adj" fmla="val 6923"/>
            </a:avLst>
          </a:prstGeom>
          <a:solidFill>
            <a:srgbClr val="FFFFFF"/>
          </a:solidFill>
          <a:ln/>
          <a:effectLst>
            <a:outerShdw sx="100000" sy="100000" kx="0" ky="0" algn="bl" rotWithShape="0" blurRad="127000" dist="25400" dir="5400000">
              <a:srgbClr val="8FA3B8">
                <a:alpha val="28000"/>
              </a:srgbClr>
            </a:outerShdw>
          </a:effectLst>
        </p:spPr>
      </p:sp>
      <p:sp>
        <p:nvSpPr>
          <p:cNvPr id="13" name="Shape 11"/>
          <p:cNvSpPr/>
          <p:nvPr/>
        </p:nvSpPr>
        <p:spPr>
          <a:xfrm>
            <a:off x="777240" y="4672584"/>
            <a:ext cx="329184" cy="329184"/>
          </a:xfrm>
          <a:prstGeom prst="ellipse">
            <a:avLst/>
          </a:prstGeom>
          <a:solidFill>
            <a:srgbClr val="35608F"/>
          </a:solidFill>
          <a:ln/>
        </p:spPr>
      </p:sp>
      <p:sp>
        <p:nvSpPr>
          <p:cNvPr id="14" name="Text 12"/>
          <p:cNvSpPr/>
          <p:nvPr/>
        </p:nvSpPr>
        <p:spPr>
          <a:xfrm>
            <a:off x="1261872" y="4462272"/>
            <a:ext cx="3200400" cy="310896"/>
          </a:xfrm>
          <a:prstGeom prst="rect">
            <a:avLst/>
          </a:prstGeom>
          <a:noFill/>
          <a:ln/>
        </p:spPr>
        <p:txBody>
          <a:bodyPr wrap="square" lIns="0" tIns="0" rIns="0" bIns="0" rtlCol="0" anchor="ctr"/>
          <a:lstStyle/>
          <a:p>
            <a:pPr indent="0" marL="0">
              <a:buNone/>
            </a:pPr>
            <a:r>
              <a:rPr lang="en-US" sz="1450" b="1" dirty="0">
                <a:solidFill>
                  <a:srgbClr val="0F2742"/>
                </a:solidFill>
                <a:latin typeface="Calibri" pitchFamily="34" charset="0"/>
                <a:ea typeface="Calibri" pitchFamily="34" charset="-122"/>
                <a:cs typeface="Calibri" pitchFamily="34" charset="-120"/>
              </a:rPr>
              <a:t>Rule features</a:t>
            </a:r>
            <a:endParaRPr lang="en-US" sz="1450" dirty="0"/>
          </a:p>
        </p:txBody>
      </p:sp>
      <p:sp>
        <p:nvSpPr>
          <p:cNvPr id="15" name="Text 13"/>
          <p:cNvSpPr/>
          <p:nvPr/>
        </p:nvSpPr>
        <p:spPr>
          <a:xfrm>
            <a:off x="1261872" y="4818888"/>
            <a:ext cx="3200400" cy="411480"/>
          </a:xfrm>
          <a:prstGeom prst="rect">
            <a:avLst/>
          </a:prstGeom>
          <a:noFill/>
          <a:ln/>
        </p:spPr>
        <p:txBody>
          <a:bodyPr wrap="square" lIns="0" tIns="0" rIns="0" bIns="0" rtlCol="0" anchor="ctr"/>
          <a:lstStyle/>
          <a:p>
            <a:pPr indent="0" marL="0">
              <a:buNone/>
            </a:pPr>
            <a:r>
              <a:rPr lang="en-US" sz="1200" dirty="0">
                <a:solidFill>
                  <a:srgbClr val="44566C"/>
                </a:solidFill>
                <a:latin typeface="Calibri" pitchFamily="34" charset="0"/>
                <a:ea typeface="Calibri" pitchFamily="34" charset="-122"/>
                <a:cs typeface="Calibri" pitchFamily="34" charset="-120"/>
              </a:rPr>
              <a:t>mismatch %, SSIM, region geometry</a:t>
            </a:r>
            <a:endParaRPr lang="en-US" sz="1200" dirty="0"/>
          </a:p>
        </p:txBody>
      </p:sp>
      <p:sp>
        <p:nvSpPr>
          <p:cNvPr id="16" name="Shape 14"/>
          <p:cNvSpPr/>
          <p:nvPr/>
        </p:nvSpPr>
        <p:spPr>
          <a:xfrm>
            <a:off x="4892040" y="1554480"/>
            <a:ext cx="2286000" cy="3054096"/>
          </a:xfrm>
          <a:prstGeom prst="roundRect">
            <a:avLst>
              <a:gd name="adj" fmla="val 3600"/>
            </a:avLst>
          </a:prstGeom>
          <a:solidFill>
            <a:srgbClr val="0F2742"/>
          </a:solidFill>
          <a:ln/>
          <a:effectLst>
            <a:outerShdw sx="100000" sy="100000" kx="0" ky="0" algn="bl" rotWithShape="0" blurRad="127000" dist="25400" dir="5400000">
              <a:srgbClr val="8FA3B8">
                <a:alpha val="28000"/>
              </a:srgbClr>
            </a:outerShdw>
          </a:effectLst>
        </p:spPr>
      </p:sp>
      <p:sp>
        <p:nvSpPr>
          <p:cNvPr id="17" name="Text 15"/>
          <p:cNvSpPr/>
          <p:nvPr/>
        </p:nvSpPr>
        <p:spPr>
          <a:xfrm>
            <a:off x="4892040" y="1554480"/>
            <a:ext cx="2286000" cy="3054096"/>
          </a:xfrm>
          <a:prstGeom prst="rect">
            <a:avLst/>
          </a:prstGeom>
          <a:noFill/>
          <a:ln/>
        </p:spPr>
        <p:txBody>
          <a:bodyPr wrap="square" lIns="0" tIns="0" rIns="0" bIns="0" rtlCol="0" anchor="ctr"/>
          <a:lstStyle/>
          <a:p>
            <a:pPr algn="ctr" indent="0" marL="0">
              <a:lnSpc>
                <a:spcPts val="2200"/>
              </a:lnSpc>
              <a:buNone/>
            </a:pPr>
            <a:r>
              <a:rPr lang="en-US" sz="1400" b="1" spc="140" kern="0" dirty="0">
                <a:solidFill>
                  <a:srgbClr val="FFFFFF"/>
                </a:solidFill>
                <a:latin typeface="Calibri" pitchFamily="34" charset="0"/>
                <a:ea typeface="Calibri" pitchFamily="34" charset="-122"/>
                <a:cs typeface="Calibri" pitchFamily="34" charset="-120"/>
              </a:rPr>
              <a:t>FUSION</a:t>
            </a:r>
            <a:endParaRPr lang="en-US" sz="1400" dirty="0"/>
          </a:p>
          <a:p>
            <a:pPr algn="ctr" indent="0" marL="0">
              <a:lnSpc>
                <a:spcPts val="2200"/>
              </a:lnSpc>
              <a:buNone/>
            </a:pPr>
            <a:r>
              <a:rPr lang="en-US" sz="1400" b="1" spc="140" kern="0" dirty="0">
                <a:solidFill>
                  <a:srgbClr val="FFFFFF"/>
                </a:solidFill>
                <a:latin typeface="Calibri" pitchFamily="34" charset="0"/>
                <a:ea typeface="Calibri" pitchFamily="34" charset="-122"/>
                <a:cs typeface="Calibri" pitchFamily="34" charset="-120"/>
              </a:rPr>
              <a:t>+</a:t>
            </a:r>
            <a:endParaRPr lang="en-US" sz="1400" dirty="0"/>
          </a:p>
          <a:p>
            <a:pPr algn="ctr" indent="0" marL="0">
              <a:lnSpc>
                <a:spcPts val="2200"/>
              </a:lnSpc>
              <a:buNone/>
            </a:pPr>
            <a:r>
              <a:rPr lang="en-US" sz="1400" b="1" spc="140" kern="0" dirty="0">
                <a:solidFill>
                  <a:srgbClr val="FFFFFF"/>
                </a:solidFill>
                <a:latin typeface="Calibri" pitchFamily="34" charset="0"/>
                <a:ea typeface="Calibri" pitchFamily="34" charset="-122"/>
                <a:cs typeface="Calibri" pitchFamily="34" charset="-120"/>
              </a:rPr>
              <a:t>CALIBRATION</a:t>
            </a:r>
            <a:endParaRPr lang="en-US" sz="1400" dirty="0"/>
          </a:p>
        </p:txBody>
      </p:sp>
      <p:sp>
        <p:nvSpPr>
          <p:cNvPr id="18" name="Text 16"/>
          <p:cNvSpPr/>
          <p:nvPr/>
        </p:nvSpPr>
        <p:spPr>
          <a:xfrm>
            <a:off x="4846320" y="4736592"/>
            <a:ext cx="2377440" cy="822960"/>
          </a:xfrm>
          <a:prstGeom prst="rect">
            <a:avLst/>
          </a:prstGeom>
          <a:noFill/>
          <a:ln/>
        </p:spPr>
        <p:txBody>
          <a:bodyPr wrap="square" lIns="0" tIns="0" rIns="0" bIns="0" rtlCol="0" anchor="ctr"/>
          <a:lstStyle/>
          <a:p>
            <a:pPr indent="0" marL="0">
              <a:buNone/>
            </a:pPr>
            <a:r>
              <a:rPr lang="en-US" sz="1150" i="1" dirty="0">
                <a:solidFill>
                  <a:srgbClr val="7A8DA0"/>
                </a:solidFill>
                <a:latin typeface="Calibri" pitchFamily="34" charset="0"/>
                <a:ea typeface="Calibri" pitchFamily="34" charset="-122"/>
                <a:cs typeface="Calibri" pitchFamily="34" charset="-120"/>
              </a:rPr>
              <a:t>A DOM-confirmed defect bypasses the pixel noise floor — a faint text change is still a defect.</a:t>
            </a:r>
            <a:endParaRPr lang="en-US" sz="1150" dirty="0"/>
          </a:p>
        </p:txBody>
      </p:sp>
      <p:sp>
        <p:nvSpPr>
          <p:cNvPr id="19" name="Text 17"/>
          <p:cNvSpPr/>
          <p:nvPr/>
        </p:nvSpPr>
        <p:spPr>
          <a:xfrm>
            <a:off x="7589520" y="1554480"/>
            <a:ext cx="4023360" cy="274320"/>
          </a:xfrm>
          <a:prstGeom prst="rect">
            <a:avLst/>
          </a:prstGeom>
          <a:noFill/>
          <a:ln/>
        </p:spPr>
        <p:txBody>
          <a:bodyPr wrap="square" lIns="0" tIns="0" rIns="0" bIns="0" rtlCol="0" anchor="ctr"/>
          <a:lstStyle/>
          <a:p>
            <a:pPr indent="0" marL="0">
              <a:buNone/>
            </a:pPr>
            <a:r>
              <a:rPr lang="en-US" sz="1150" b="1" spc="160" kern="0" dirty="0">
                <a:solidFill>
                  <a:srgbClr val="6B8CAE"/>
                </a:solidFill>
                <a:latin typeface="Calibri" pitchFamily="34" charset="0"/>
                <a:ea typeface="Calibri" pitchFamily="34" charset="-122"/>
                <a:cs typeface="Calibri" pitchFamily="34" charset="-120"/>
              </a:rPr>
              <a:t>SIX OUTPUT CLASSES</a:t>
            </a:r>
            <a:endParaRPr lang="en-US" sz="1150" dirty="0"/>
          </a:p>
        </p:txBody>
      </p:sp>
      <p:sp>
        <p:nvSpPr>
          <p:cNvPr id="20" name="Shape 18"/>
          <p:cNvSpPr/>
          <p:nvPr/>
        </p:nvSpPr>
        <p:spPr>
          <a:xfrm>
            <a:off x="7589520" y="1965960"/>
            <a:ext cx="4041648" cy="438912"/>
          </a:xfrm>
          <a:prstGeom prst="roundRect">
            <a:avLst>
              <a:gd name="adj" fmla="val 20833"/>
            </a:avLst>
          </a:prstGeom>
          <a:solidFill>
            <a:srgbClr val="FFFFFF"/>
          </a:solidFill>
          <a:ln/>
        </p:spPr>
      </p:sp>
      <p:sp>
        <p:nvSpPr>
          <p:cNvPr id="21" name="Shape 19"/>
          <p:cNvSpPr/>
          <p:nvPr/>
        </p:nvSpPr>
        <p:spPr>
          <a:xfrm>
            <a:off x="7818120" y="2121408"/>
            <a:ext cx="137160" cy="137160"/>
          </a:xfrm>
          <a:prstGeom prst="ellipse">
            <a:avLst/>
          </a:prstGeom>
          <a:solidFill>
            <a:srgbClr val="E8298F"/>
          </a:solidFill>
          <a:ln/>
        </p:spPr>
      </p:sp>
      <p:sp>
        <p:nvSpPr>
          <p:cNvPr id="22" name="Text 20"/>
          <p:cNvSpPr/>
          <p:nvPr/>
        </p:nvSpPr>
        <p:spPr>
          <a:xfrm>
            <a:off x="8119872" y="1965960"/>
            <a:ext cx="2743200" cy="438912"/>
          </a:xfrm>
          <a:prstGeom prst="rect">
            <a:avLst/>
          </a:prstGeom>
          <a:noFill/>
          <a:ln/>
        </p:spPr>
        <p:txBody>
          <a:bodyPr wrap="square" lIns="0" tIns="0" rIns="0" bIns="0" rtlCol="0" anchor="ctr"/>
          <a:lstStyle/>
          <a:p>
            <a:pPr indent="0" marL="0">
              <a:buNone/>
            </a:pPr>
            <a:r>
              <a:rPr lang="en-US" sz="1350" b="1" dirty="0">
                <a:solidFill>
                  <a:srgbClr val="0F2742"/>
                </a:solidFill>
                <a:latin typeface="Calibri" pitchFamily="34" charset="0"/>
                <a:ea typeface="Calibri" pitchFamily="34" charset="-122"/>
                <a:cs typeface="Calibri" pitchFamily="34" charset="-120"/>
              </a:rPr>
              <a:t>missing-element</a:t>
            </a:r>
            <a:endParaRPr lang="en-US" sz="1350" dirty="0"/>
          </a:p>
        </p:txBody>
      </p:sp>
      <p:sp>
        <p:nvSpPr>
          <p:cNvPr id="23" name="Text 21"/>
          <p:cNvSpPr/>
          <p:nvPr/>
        </p:nvSpPr>
        <p:spPr>
          <a:xfrm>
            <a:off x="10424160" y="1965960"/>
            <a:ext cx="1005840" cy="438912"/>
          </a:xfrm>
          <a:prstGeom prst="rect">
            <a:avLst/>
          </a:prstGeom>
          <a:noFill/>
          <a:ln/>
        </p:spPr>
        <p:txBody>
          <a:bodyPr wrap="square" lIns="0" tIns="0" rIns="0" bIns="0" rtlCol="0" anchor="ctr"/>
          <a:lstStyle/>
          <a:p>
            <a:pPr algn="r" indent="0" marL="0">
              <a:buNone/>
            </a:pPr>
            <a:r>
              <a:rPr lang="en-US" sz="1150" dirty="0">
                <a:solidFill>
                  <a:srgbClr val="6B8CAE"/>
                </a:solidFill>
                <a:latin typeface="Calibri" pitchFamily="34" charset="0"/>
                <a:ea typeface="Calibri" pitchFamily="34" charset="-122"/>
                <a:cs typeface="Calibri" pitchFamily="34" charset="-120"/>
              </a:rPr>
              <a:t>n = 138</a:t>
            </a:r>
            <a:endParaRPr lang="en-US" sz="1150" dirty="0"/>
          </a:p>
        </p:txBody>
      </p:sp>
      <p:sp>
        <p:nvSpPr>
          <p:cNvPr id="24" name="Shape 22"/>
          <p:cNvSpPr/>
          <p:nvPr/>
        </p:nvSpPr>
        <p:spPr>
          <a:xfrm>
            <a:off x="7589520" y="2532888"/>
            <a:ext cx="4041648" cy="438912"/>
          </a:xfrm>
          <a:prstGeom prst="roundRect">
            <a:avLst>
              <a:gd name="adj" fmla="val 20833"/>
            </a:avLst>
          </a:prstGeom>
          <a:solidFill>
            <a:srgbClr val="FFFFFF"/>
          </a:solidFill>
          <a:ln/>
        </p:spPr>
      </p:sp>
      <p:sp>
        <p:nvSpPr>
          <p:cNvPr id="25" name="Shape 23"/>
          <p:cNvSpPr/>
          <p:nvPr/>
        </p:nvSpPr>
        <p:spPr>
          <a:xfrm>
            <a:off x="7818120" y="2688336"/>
            <a:ext cx="137160" cy="137160"/>
          </a:xfrm>
          <a:prstGeom prst="ellipse">
            <a:avLst/>
          </a:prstGeom>
          <a:solidFill>
            <a:srgbClr val="E8298F"/>
          </a:solidFill>
          <a:ln/>
        </p:spPr>
      </p:sp>
      <p:sp>
        <p:nvSpPr>
          <p:cNvPr id="26" name="Text 24"/>
          <p:cNvSpPr/>
          <p:nvPr/>
        </p:nvSpPr>
        <p:spPr>
          <a:xfrm>
            <a:off x="8119872" y="2532888"/>
            <a:ext cx="2743200" cy="438912"/>
          </a:xfrm>
          <a:prstGeom prst="rect">
            <a:avLst/>
          </a:prstGeom>
          <a:noFill/>
          <a:ln/>
        </p:spPr>
        <p:txBody>
          <a:bodyPr wrap="square" lIns="0" tIns="0" rIns="0" bIns="0" rtlCol="0" anchor="ctr"/>
          <a:lstStyle/>
          <a:p>
            <a:pPr indent="0" marL="0">
              <a:buNone/>
            </a:pPr>
            <a:r>
              <a:rPr lang="en-US" sz="1350" b="1" dirty="0">
                <a:solidFill>
                  <a:srgbClr val="0F2742"/>
                </a:solidFill>
                <a:latin typeface="Calibri" pitchFamily="34" charset="0"/>
                <a:ea typeface="Calibri" pitchFamily="34" charset="-122"/>
                <a:cs typeface="Calibri" pitchFamily="34" charset="-120"/>
              </a:rPr>
              <a:t>color-regression</a:t>
            </a:r>
            <a:endParaRPr lang="en-US" sz="1350" dirty="0"/>
          </a:p>
        </p:txBody>
      </p:sp>
      <p:sp>
        <p:nvSpPr>
          <p:cNvPr id="27" name="Text 25"/>
          <p:cNvSpPr/>
          <p:nvPr/>
        </p:nvSpPr>
        <p:spPr>
          <a:xfrm>
            <a:off x="10424160" y="2532888"/>
            <a:ext cx="1005840" cy="438912"/>
          </a:xfrm>
          <a:prstGeom prst="rect">
            <a:avLst/>
          </a:prstGeom>
          <a:noFill/>
          <a:ln/>
        </p:spPr>
        <p:txBody>
          <a:bodyPr wrap="square" lIns="0" tIns="0" rIns="0" bIns="0" rtlCol="0" anchor="ctr"/>
          <a:lstStyle/>
          <a:p>
            <a:pPr algn="r" indent="0" marL="0">
              <a:buNone/>
            </a:pPr>
            <a:r>
              <a:rPr lang="en-US" sz="1150" dirty="0">
                <a:solidFill>
                  <a:srgbClr val="6B8CAE"/>
                </a:solidFill>
                <a:latin typeface="Calibri" pitchFamily="34" charset="0"/>
                <a:ea typeface="Calibri" pitchFamily="34" charset="-122"/>
                <a:cs typeface="Calibri" pitchFamily="34" charset="-120"/>
              </a:rPr>
              <a:t>n = 97</a:t>
            </a:r>
            <a:endParaRPr lang="en-US" sz="1150" dirty="0"/>
          </a:p>
        </p:txBody>
      </p:sp>
      <p:sp>
        <p:nvSpPr>
          <p:cNvPr id="28" name="Shape 26"/>
          <p:cNvSpPr/>
          <p:nvPr/>
        </p:nvSpPr>
        <p:spPr>
          <a:xfrm>
            <a:off x="7589520" y="3099816"/>
            <a:ext cx="4041648" cy="438912"/>
          </a:xfrm>
          <a:prstGeom prst="roundRect">
            <a:avLst>
              <a:gd name="adj" fmla="val 20833"/>
            </a:avLst>
          </a:prstGeom>
          <a:solidFill>
            <a:srgbClr val="FFFFFF"/>
          </a:solidFill>
          <a:ln/>
        </p:spPr>
      </p:sp>
      <p:sp>
        <p:nvSpPr>
          <p:cNvPr id="29" name="Shape 27"/>
          <p:cNvSpPr/>
          <p:nvPr/>
        </p:nvSpPr>
        <p:spPr>
          <a:xfrm>
            <a:off x="7818120" y="3255264"/>
            <a:ext cx="137160" cy="137160"/>
          </a:xfrm>
          <a:prstGeom prst="ellipse">
            <a:avLst/>
          </a:prstGeom>
          <a:solidFill>
            <a:srgbClr val="E8298F"/>
          </a:solidFill>
          <a:ln/>
        </p:spPr>
      </p:sp>
      <p:sp>
        <p:nvSpPr>
          <p:cNvPr id="30" name="Text 28"/>
          <p:cNvSpPr/>
          <p:nvPr/>
        </p:nvSpPr>
        <p:spPr>
          <a:xfrm>
            <a:off x="8119872" y="3099816"/>
            <a:ext cx="2743200" cy="438912"/>
          </a:xfrm>
          <a:prstGeom prst="rect">
            <a:avLst/>
          </a:prstGeom>
          <a:noFill/>
          <a:ln/>
        </p:spPr>
        <p:txBody>
          <a:bodyPr wrap="square" lIns="0" tIns="0" rIns="0" bIns="0" rtlCol="0" anchor="ctr"/>
          <a:lstStyle/>
          <a:p>
            <a:pPr indent="0" marL="0">
              <a:buNone/>
            </a:pPr>
            <a:r>
              <a:rPr lang="en-US" sz="1350" b="1" dirty="0">
                <a:solidFill>
                  <a:srgbClr val="0F2742"/>
                </a:solidFill>
                <a:latin typeface="Calibri" pitchFamily="34" charset="0"/>
                <a:ea typeface="Calibri" pitchFamily="34" charset="-122"/>
                <a:cs typeface="Calibri" pitchFamily="34" charset="-120"/>
              </a:rPr>
              <a:t>insignificant-change</a:t>
            </a:r>
            <a:endParaRPr lang="en-US" sz="1350" dirty="0"/>
          </a:p>
        </p:txBody>
      </p:sp>
      <p:sp>
        <p:nvSpPr>
          <p:cNvPr id="31" name="Text 29"/>
          <p:cNvSpPr/>
          <p:nvPr/>
        </p:nvSpPr>
        <p:spPr>
          <a:xfrm>
            <a:off x="10424160" y="3099816"/>
            <a:ext cx="1005840" cy="438912"/>
          </a:xfrm>
          <a:prstGeom prst="rect">
            <a:avLst/>
          </a:prstGeom>
          <a:noFill/>
          <a:ln/>
        </p:spPr>
        <p:txBody>
          <a:bodyPr wrap="square" lIns="0" tIns="0" rIns="0" bIns="0" rtlCol="0" anchor="ctr"/>
          <a:lstStyle/>
          <a:p>
            <a:pPr algn="r" indent="0" marL="0">
              <a:buNone/>
            </a:pPr>
            <a:r>
              <a:rPr lang="en-US" sz="1150" dirty="0">
                <a:solidFill>
                  <a:srgbClr val="6B8CAE"/>
                </a:solidFill>
                <a:latin typeface="Calibri" pitchFamily="34" charset="0"/>
                <a:ea typeface="Calibri" pitchFamily="34" charset="-122"/>
                <a:cs typeface="Calibri" pitchFamily="34" charset="-120"/>
              </a:rPr>
              <a:t>n = 86</a:t>
            </a:r>
            <a:endParaRPr lang="en-US" sz="1150" dirty="0"/>
          </a:p>
        </p:txBody>
      </p:sp>
      <p:sp>
        <p:nvSpPr>
          <p:cNvPr id="32" name="Shape 30"/>
          <p:cNvSpPr/>
          <p:nvPr/>
        </p:nvSpPr>
        <p:spPr>
          <a:xfrm>
            <a:off x="7589520" y="3666744"/>
            <a:ext cx="4041648" cy="438912"/>
          </a:xfrm>
          <a:prstGeom prst="roundRect">
            <a:avLst>
              <a:gd name="adj" fmla="val 20833"/>
            </a:avLst>
          </a:prstGeom>
          <a:solidFill>
            <a:srgbClr val="FFFFFF"/>
          </a:solidFill>
          <a:ln/>
        </p:spPr>
      </p:sp>
      <p:sp>
        <p:nvSpPr>
          <p:cNvPr id="33" name="Shape 31"/>
          <p:cNvSpPr/>
          <p:nvPr/>
        </p:nvSpPr>
        <p:spPr>
          <a:xfrm>
            <a:off x="7818120" y="3822192"/>
            <a:ext cx="137160" cy="137160"/>
          </a:xfrm>
          <a:prstGeom prst="ellipse">
            <a:avLst/>
          </a:prstGeom>
          <a:solidFill>
            <a:srgbClr val="E8298F"/>
          </a:solidFill>
          <a:ln/>
        </p:spPr>
      </p:sp>
      <p:sp>
        <p:nvSpPr>
          <p:cNvPr id="34" name="Text 32"/>
          <p:cNvSpPr/>
          <p:nvPr/>
        </p:nvSpPr>
        <p:spPr>
          <a:xfrm>
            <a:off x="8119872" y="3666744"/>
            <a:ext cx="2743200" cy="438912"/>
          </a:xfrm>
          <a:prstGeom prst="rect">
            <a:avLst/>
          </a:prstGeom>
          <a:noFill/>
          <a:ln/>
        </p:spPr>
        <p:txBody>
          <a:bodyPr wrap="square" lIns="0" tIns="0" rIns="0" bIns="0" rtlCol="0" anchor="ctr"/>
          <a:lstStyle/>
          <a:p>
            <a:pPr indent="0" marL="0">
              <a:buNone/>
            </a:pPr>
            <a:r>
              <a:rPr lang="en-US" sz="1350" b="1" dirty="0">
                <a:solidFill>
                  <a:srgbClr val="0F2742"/>
                </a:solidFill>
                <a:latin typeface="Calibri" pitchFamily="34" charset="0"/>
                <a:ea typeface="Calibri" pitchFamily="34" charset="-122"/>
                <a:cs typeface="Calibri" pitchFamily="34" charset="-120"/>
              </a:rPr>
              <a:t>text-issue</a:t>
            </a:r>
            <a:endParaRPr lang="en-US" sz="1350" dirty="0"/>
          </a:p>
        </p:txBody>
      </p:sp>
      <p:sp>
        <p:nvSpPr>
          <p:cNvPr id="35" name="Text 33"/>
          <p:cNvSpPr/>
          <p:nvPr/>
        </p:nvSpPr>
        <p:spPr>
          <a:xfrm>
            <a:off x="10424160" y="3666744"/>
            <a:ext cx="1005840" cy="438912"/>
          </a:xfrm>
          <a:prstGeom prst="rect">
            <a:avLst/>
          </a:prstGeom>
          <a:noFill/>
          <a:ln/>
        </p:spPr>
        <p:txBody>
          <a:bodyPr wrap="square" lIns="0" tIns="0" rIns="0" bIns="0" rtlCol="0" anchor="ctr"/>
          <a:lstStyle/>
          <a:p>
            <a:pPr algn="r" indent="0" marL="0">
              <a:buNone/>
            </a:pPr>
            <a:r>
              <a:rPr lang="en-US" sz="1150" dirty="0">
                <a:solidFill>
                  <a:srgbClr val="6B8CAE"/>
                </a:solidFill>
                <a:latin typeface="Calibri" pitchFamily="34" charset="0"/>
                <a:ea typeface="Calibri" pitchFamily="34" charset="-122"/>
                <a:cs typeface="Calibri" pitchFamily="34" charset="-120"/>
              </a:rPr>
              <a:t>n = 73</a:t>
            </a:r>
            <a:endParaRPr lang="en-US" sz="1150" dirty="0"/>
          </a:p>
        </p:txBody>
      </p:sp>
      <p:sp>
        <p:nvSpPr>
          <p:cNvPr id="36" name="Shape 34"/>
          <p:cNvSpPr/>
          <p:nvPr/>
        </p:nvSpPr>
        <p:spPr>
          <a:xfrm>
            <a:off x="7589520" y="4233672"/>
            <a:ext cx="4041648" cy="438912"/>
          </a:xfrm>
          <a:prstGeom prst="roundRect">
            <a:avLst>
              <a:gd name="adj" fmla="val 20833"/>
            </a:avLst>
          </a:prstGeom>
          <a:solidFill>
            <a:srgbClr val="FFFFFF"/>
          </a:solidFill>
          <a:ln/>
        </p:spPr>
      </p:sp>
      <p:sp>
        <p:nvSpPr>
          <p:cNvPr id="37" name="Shape 35"/>
          <p:cNvSpPr/>
          <p:nvPr/>
        </p:nvSpPr>
        <p:spPr>
          <a:xfrm>
            <a:off x="7818120" y="4389120"/>
            <a:ext cx="137160" cy="137160"/>
          </a:xfrm>
          <a:prstGeom prst="ellipse">
            <a:avLst/>
          </a:prstGeom>
          <a:solidFill>
            <a:srgbClr val="E8298F"/>
          </a:solidFill>
          <a:ln/>
        </p:spPr>
      </p:sp>
      <p:sp>
        <p:nvSpPr>
          <p:cNvPr id="38" name="Text 36"/>
          <p:cNvSpPr/>
          <p:nvPr/>
        </p:nvSpPr>
        <p:spPr>
          <a:xfrm>
            <a:off x="8119872" y="4233672"/>
            <a:ext cx="2743200" cy="438912"/>
          </a:xfrm>
          <a:prstGeom prst="rect">
            <a:avLst/>
          </a:prstGeom>
          <a:noFill/>
          <a:ln/>
        </p:spPr>
        <p:txBody>
          <a:bodyPr wrap="square" lIns="0" tIns="0" rIns="0" bIns="0" rtlCol="0" anchor="ctr"/>
          <a:lstStyle/>
          <a:p>
            <a:pPr indent="0" marL="0">
              <a:buNone/>
            </a:pPr>
            <a:r>
              <a:rPr lang="en-US" sz="1350" b="1" dirty="0">
                <a:solidFill>
                  <a:srgbClr val="0F2742"/>
                </a:solidFill>
                <a:latin typeface="Calibri" pitchFamily="34" charset="0"/>
                <a:ea typeface="Calibri" pitchFamily="34" charset="-122"/>
                <a:cs typeface="Calibri" pitchFamily="34" charset="-120"/>
              </a:rPr>
              <a:t>font-change</a:t>
            </a:r>
            <a:endParaRPr lang="en-US" sz="1350" dirty="0"/>
          </a:p>
        </p:txBody>
      </p:sp>
      <p:sp>
        <p:nvSpPr>
          <p:cNvPr id="39" name="Text 37"/>
          <p:cNvSpPr/>
          <p:nvPr/>
        </p:nvSpPr>
        <p:spPr>
          <a:xfrm>
            <a:off x="10424160" y="4233672"/>
            <a:ext cx="1005840" cy="438912"/>
          </a:xfrm>
          <a:prstGeom prst="rect">
            <a:avLst/>
          </a:prstGeom>
          <a:noFill/>
          <a:ln/>
        </p:spPr>
        <p:txBody>
          <a:bodyPr wrap="square" lIns="0" tIns="0" rIns="0" bIns="0" rtlCol="0" anchor="ctr"/>
          <a:lstStyle/>
          <a:p>
            <a:pPr algn="r" indent="0" marL="0">
              <a:buNone/>
            </a:pPr>
            <a:r>
              <a:rPr lang="en-US" sz="1150" dirty="0">
                <a:solidFill>
                  <a:srgbClr val="6B8CAE"/>
                </a:solidFill>
                <a:latin typeface="Calibri" pitchFamily="34" charset="0"/>
                <a:ea typeface="Calibri" pitchFamily="34" charset="-122"/>
                <a:cs typeface="Calibri" pitchFamily="34" charset="-120"/>
              </a:rPr>
              <a:t>n = 62</a:t>
            </a:r>
            <a:endParaRPr lang="en-US" sz="1150" dirty="0"/>
          </a:p>
        </p:txBody>
      </p:sp>
      <p:sp>
        <p:nvSpPr>
          <p:cNvPr id="40" name="Shape 38"/>
          <p:cNvSpPr/>
          <p:nvPr/>
        </p:nvSpPr>
        <p:spPr>
          <a:xfrm>
            <a:off x="7589520" y="4800600"/>
            <a:ext cx="4041648" cy="438912"/>
          </a:xfrm>
          <a:prstGeom prst="roundRect">
            <a:avLst>
              <a:gd name="adj" fmla="val 20833"/>
            </a:avLst>
          </a:prstGeom>
          <a:solidFill>
            <a:srgbClr val="FFFFFF"/>
          </a:solidFill>
          <a:ln/>
        </p:spPr>
      </p:sp>
      <p:sp>
        <p:nvSpPr>
          <p:cNvPr id="41" name="Shape 39"/>
          <p:cNvSpPr/>
          <p:nvPr/>
        </p:nvSpPr>
        <p:spPr>
          <a:xfrm>
            <a:off x="7818120" y="4956048"/>
            <a:ext cx="137160" cy="137160"/>
          </a:xfrm>
          <a:prstGeom prst="ellipse">
            <a:avLst/>
          </a:prstGeom>
          <a:solidFill>
            <a:srgbClr val="E8298F"/>
          </a:solidFill>
          <a:ln/>
        </p:spPr>
      </p:sp>
      <p:sp>
        <p:nvSpPr>
          <p:cNvPr id="42" name="Text 40"/>
          <p:cNvSpPr/>
          <p:nvPr/>
        </p:nvSpPr>
        <p:spPr>
          <a:xfrm>
            <a:off x="8119872" y="4800600"/>
            <a:ext cx="2743200" cy="438912"/>
          </a:xfrm>
          <a:prstGeom prst="rect">
            <a:avLst/>
          </a:prstGeom>
          <a:noFill/>
          <a:ln/>
        </p:spPr>
        <p:txBody>
          <a:bodyPr wrap="square" lIns="0" tIns="0" rIns="0" bIns="0" rtlCol="0" anchor="ctr"/>
          <a:lstStyle/>
          <a:p>
            <a:pPr indent="0" marL="0">
              <a:buNone/>
            </a:pPr>
            <a:r>
              <a:rPr lang="en-US" sz="1350" b="1" dirty="0">
                <a:solidFill>
                  <a:srgbClr val="0F2742"/>
                </a:solidFill>
                <a:latin typeface="Calibri" pitchFamily="34" charset="0"/>
                <a:ea typeface="Calibri" pitchFamily="34" charset="-122"/>
                <a:cs typeface="Calibri" pitchFamily="34" charset="-120"/>
              </a:rPr>
              <a:t>broken-image</a:t>
            </a:r>
            <a:endParaRPr lang="en-US" sz="1350" dirty="0"/>
          </a:p>
        </p:txBody>
      </p:sp>
      <p:sp>
        <p:nvSpPr>
          <p:cNvPr id="43" name="Text 41"/>
          <p:cNvSpPr/>
          <p:nvPr/>
        </p:nvSpPr>
        <p:spPr>
          <a:xfrm>
            <a:off x="10424160" y="4800600"/>
            <a:ext cx="1005840" cy="438912"/>
          </a:xfrm>
          <a:prstGeom prst="rect">
            <a:avLst/>
          </a:prstGeom>
          <a:noFill/>
          <a:ln/>
        </p:spPr>
        <p:txBody>
          <a:bodyPr wrap="square" lIns="0" tIns="0" rIns="0" bIns="0" rtlCol="0" anchor="ctr"/>
          <a:lstStyle/>
          <a:p>
            <a:pPr algn="r" indent="0" marL="0">
              <a:buNone/>
            </a:pPr>
            <a:r>
              <a:rPr lang="en-US" sz="1150" dirty="0">
                <a:solidFill>
                  <a:srgbClr val="6B8CAE"/>
                </a:solidFill>
                <a:latin typeface="Calibri" pitchFamily="34" charset="0"/>
                <a:ea typeface="Calibri" pitchFamily="34" charset="-122"/>
                <a:cs typeface="Calibri" pitchFamily="34" charset="-120"/>
              </a:rPr>
              <a:t>n = 44</a:t>
            </a:r>
            <a:endParaRPr lang="en-US" sz="1150" dirty="0"/>
          </a:p>
        </p:txBody>
      </p:sp>
      <p:sp>
        <p:nvSpPr>
          <p:cNvPr id="44" name="Text 42"/>
          <p:cNvSpPr/>
          <p:nvPr/>
        </p:nvSpPr>
        <p:spPr>
          <a:xfrm>
            <a:off x="566928" y="5897880"/>
            <a:ext cx="11064240" cy="457200"/>
          </a:xfrm>
          <a:prstGeom prst="rect">
            <a:avLst/>
          </a:prstGeom>
          <a:noFill/>
          <a:ln/>
        </p:spPr>
        <p:txBody>
          <a:bodyPr wrap="square" lIns="0" tIns="0" rIns="0" bIns="0" rtlCol="0" anchor="ctr"/>
          <a:lstStyle/>
          <a:p>
            <a:pPr indent="0" marL="0">
              <a:buNone/>
            </a:pPr>
            <a:r>
              <a:rPr lang="en-US" sz="1250" i="1" dirty="0">
                <a:solidFill>
                  <a:srgbClr val="44566C"/>
                </a:solidFill>
                <a:latin typeface="Calibri" pitchFamily="34" charset="0"/>
                <a:ea typeface="Calibri" pitchFamily="34" charset="-122"/>
                <a:cs typeface="Calibri" pitchFamily="34" charset="-120"/>
              </a:rPr>
              <a:t>layout-issue was folded into missing-element: removing an element and the reflow it causes are one event seen from two angles.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MEASURED RESULTS</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0F2742"/>
                </a:solidFill>
                <a:latin typeface="Cambria" pitchFamily="34" charset="0"/>
                <a:ea typeface="Cambria" pitchFamily="34" charset="-122"/>
                <a:cs typeface="Cambria" pitchFamily="34" charset="-120"/>
              </a:rPr>
              <a:t>Detection and classification, scored separately</a:t>
            </a:r>
            <a:endParaRPr lang="en-US" sz="3400" dirty="0"/>
          </a:p>
        </p:txBody>
      </p:sp>
      <p:sp>
        <p:nvSpPr>
          <p:cNvPr id="4" name="Shape 2"/>
          <p:cNvSpPr/>
          <p:nvPr/>
        </p:nvSpPr>
        <p:spPr>
          <a:xfrm>
            <a:off x="566928" y="1417320"/>
            <a:ext cx="3538728" cy="1572768"/>
          </a:xfrm>
          <a:prstGeom prst="roundRect">
            <a:avLst>
              <a:gd name="adj" fmla="val 5233"/>
            </a:avLst>
          </a:prstGeom>
          <a:solidFill>
            <a:srgbClr val="FFFFFF"/>
          </a:solidFill>
          <a:ln/>
          <a:effectLst>
            <a:outerShdw sx="100000" sy="100000" kx="0" ky="0" algn="bl" rotWithShape="0" blurRad="127000" dist="25400" dir="5400000">
              <a:srgbClr val="8FA3B8">
                <a:alpha val="28000"/>
              </a:srgbClr>
            </a:outerShdw>
          </a:effectLst>
        </p:spPr>
      </p:sp>
      <p:sp>
        <p:nvSpPr>
          <p:cNvPr id="5" name="Text 3"/>
          <p:cNvSpPr/>
          <p:nvPr/>
        </p:nvSpPr>
        <p:spPr>
          <a:xfrm>
            <a:off x="841248" y="1572768"/>
            <a:ext cx="3017520" cy="777240"/>
          </a:xfrm>
          <a:prstGeom prst="rect">
            <a:avLst/>
          </a:prstGeom>
          <a:noFill/>
          <a:ln/>
        </p:spPr>
        <p:txBody>
          <a:bodyPr wrap="square" lIns="0" tIns="0" rIns="0" bIns="0" rtlCol="0" anchor="ctr"/>
          <a:lstStyle/>
          <a:p>
            <a:pPr indent="0" marL="0">
              <a:buNone/>
            </a:pPr>
            <a:r>
              <a:rPr lang="en-US" sz="4000" b="1" dirty="0">
                <a:solidFill>
                  <a:srgbClr val="FF6A2B"/>
                </a:solidFill>
                <a:latin typeface="Cambria" pitchFamily="34" charset="0"/>
                <a:ea typeface="Cambria" pitchFamily="34" charset="-122"/>
                <a:cs typeface="Cambria" pitchFamily="34" charset="-120"/>
              </a:rPr>
              <a:t>81 / 81</a:t>
            </a:r>
            <a:endParaRPr lang="en-US" sz="4000" dirty="0"/>
          </a:p>
        </p:txBody>
      </p:sp>
      <p:sp>
        <p:nvSpPr>
          <p:cNvPr id="6" name="Text 4"/>
          <p:cNvSpPr/>
          <p:nvPr/>
        </p:nvSpPr>
        <p:spPr>
          <a:xfrm>
            <a:off x="859536" y="2395728"/>
            <a:ext cx="3017520" cy="411480"/>
          </a:xfrm>
          <a:prstGeom prst="rect">
            <a:avLst/>
          </a:prstGeom>
          <a:noFill/>
          <a:ln/>
        </p:spPr>
        <p:txBody>
          <a:bodyPr wrap="square" lIns="0" tIns="0" rIns="0" bIns="0" rtlCol="0" anchor="ctr"/>
          <a:lstStyle/>
          <a:p>
            <a:pPr indent="0" marL="0">
              <a:buNone/>
            </a:pPr>
            <a:r>
              <a:rPr lang="en-US" sz="1250" dirty="0">
                <a:solidFill>
                  <a:srgbClr val="44566C"/>
                </a:solidFill>
                <a:latin typeface="Calibri" pitchFamily="34" charset="0"/>
                <a:ea typeface="Calibri" pitchFamily="34" charset="-122"/>
                <a:cs typeface="Calibri" pitchFamily="34" charset="-120"/>
              </a:rPr>
              <a:t>injected defects detected</a:t>
            </a:r>
            <a:endParaRPr lang="en-US" sz="1250" dirty="0"/>
          </a:p>
        </p:txBody>
      </p:sp>
      <p:sp>
        <p:nvSpPr>
          <p:cNvPr id="7" name="Shape 5"/>
          <p:cNvSpPr/>
          <p:nvPr/>
        </p:nvSpPr>
        <p:spPr>
          <a:xfrm>
            <a:off x="4325112" y="1417320"/>
            <a:ext cx="3538728" cy="1572768"/>
          </a:xfrm>
          <a:prstGeom prst="roundRect">
            <a:avLst>
              <a:gd name="adj" fmla="val 5233"/>
            </a:avLst>
          </a:prstGeom>
          <a:solidFill>
            <a:srgbClr val="FFFFFF"/>
          </a:solidFill>
          <a:ln/>
          <a:effectLst>
            <a:outerShdw sx="100000" sy="100000" kx="0" ky="0" algn="bl" rotWithShape="0" blurRad="127000" dist="25400" dir="5400000">
              <a:srgbClr val="8FA3B8">
                <a:alpha val="28000"/>
              </a:srgbClr>
            </a:outerShdw>
          </a:effectLst>
        </p:spPr>
      </p:sp>
      <p:sp>
        <p:nvSpPr>
          <p:cNvPr id="8" name="Text 6"/>
          <p:cNvSpPr/>
          <p:nvPr/>
        </p:nvSpPr>
        <p:spPr>
          <a:xfrm>
            <a:off x="4599432" y="1572768"/>
            <a:ext cx="3017520" cy="777240"/>
          </a:xfrm>
          <a:prstGeom prst="rect">
            <a:avLst/>
          </a:prstGeom>
          <a:noFill/>
          <a:ln/>
        </p:spPr>
        <p:txBody>
          <a:bodyPr wrap="square" lIns="0" tIns="0" rIns="0" bIns="0" rtlCol="0" anchor="ctr"/>
          <a:lstStyle/>
          <a:p>
            <a:pPr indent="0" marL="0">
              <a:buNone/>
            </a:pPr>
            <a:r>
              <a:rPr lang="en-US" sz="4000" b="1" dirty="0">
                <a:solidFill>
                  <a:srgbClr val="35608F"/>
                </a:solidFill>
                <a:latin typeface="Cambria" pitchFamily="34" charset="0"/>
                <a:ea typeface="Cambria" pitchFamily="34" charset="-122"/>
                <a:cs typeface="Cambria" pitchFamily="34" charset="-120"/>
              </a:rPr>
              <a:t>0 / 9</a:t>
            </a:r>
            <a:endParaRPr lang="en-US" sz="4000" dirty="0"/>
          </a:p>
        </p:txBody>
      </p:sp>
      <p:sp>
        <p:nvSpPr>
          <p:cNvPr id="9" name="Text 7"/>
          <p:cNvSpPr/>
          <p:nvPr/>
        </p:nvSpPr>
        <p:spPr>
          <a:xfrm>
            <a:off x="4617720" y="2395728"/>
            <a:ext cx="3017520" cy="411480"/>
          </a:xfrm>
          <a:prstGeom prst="rect">
            <a:avLst/>
          </a:prstGeom>
          <a:noFill/>
          <a:ln/>
        </p:spPr>
        <p:txBody>
          <a:bodyPr wrap="square" lIns="0" tIns="0" rIns="0" bIns="0" rtlCol="0" anchor="ctr"/>
          <a:lstStyle/>
          <a:p>
            <a:pPr indent="0" marL="0">
              <a:buNone/>
            </a:pPr>
            <a:r>
              <a:rPr lang="en-US" sz="1250" dirty="0">
                <a:solidFill>
                  <a:srgbClr val="44566C"/>
                </a:solidFill>
                <a:latin typeface="Calibri" pitchFamily="34" charset="0"/>
                <a:ea typeface="Calibri" pitchFamily="34" charset="-122"/>
                <a:cs typeface="Calibri" pitchFamily="34" charset="-120"/>
              </a:rPr>
              <a:t>false alarms on clean controls</a:t>
            </a:r>
            <a:endParaRPr lang="en-US" sz="1250" dirty="0"/>
          </a:p>
        </p:txBody>
      </p:sp>
      <p:sp>
        <p:nvSpPr>
          <p:cNvPr id="10" name="Shape 8"/>
          <p:cNvSpPr/>
          <p:nvPr/>
        </p:nvSpPr>
        <p:spPr>
          <a:xfrm>
            <a:off x="8083296" y="1417320"/>
            <a:ext cx="3538728" cy="1572768"/>
          </a:xfrm>
          <a:prstGeom prst="roundRect">
            <a:avLst>
              <a:gd name="adj" fmla="val 5233"/>
            </a:avLst>
          </a:prstGeom>
          <a:solidFill>
            <a:srgbClr val="FFFFFF"/>
          </a:solidFill>
          <a:ln/>
          <a:effectLst>
            <a:outerShdw sx="100000" sy="100000" kx="0" ky="0" algn="bl" rotWithShape="0" blurRad="127000" dist="25400" dir="5400000">
              <a:srgbClr val="8FA3B8">
                <a:alpha val="28000"/>
              </a:srgbClr>
            </a:outerShdw>
          </a:effectLst>
        </p:spPr>
      </p:sp>
      <p:sp>
        <p:nvSpPr>
          <p:cNvPr id="11" name="Text 9"/>
          <p:cNvSpPr/>
          <p:nvPr/>
        </p:nvSpPr>
        <p:spPr>
          <a:xfrm>
            <a:off x="8357616" y="1572768"/>
            <a:ext cx="3017520" cy="777240"/>
          </a:xfrm>
          <a:prstGeom prst="rect">
            <a:avLst/>
          </a:prstGeom>
          <a:noFill/>
          <a:ln/>
        </p:spPr>
        <p:txBody>
          <a:bodyPr wrap="square" lIns="0" tIns="0" rIns="0" bIns="0" rtlCol="0" anchor="ctr"/>
          <a:lstStyle/>
          <a:p>
            <a:pPr indent="0" marL="0">
              <a:buNone/>
            </a:pPr>
            <a:r>
              <a:rPr lang="en-US" sz="4000" b="1" dirty="0">
                <a:solidFill>
                  <a:srgbClr val="0F2742"/>
                </a:solidFill>
                <a:latin typeface="Cambria" pitchFamily="34" charset="0"/>
                <a:ea typeface="Cambria" pitchFamily="34" charset="-122"/>
                <a:cs typeface="Cambria" pitchFamily="34" charset="-120"/>
              </a:rPr>
              <a:t>94.80%</a:t>
            </a:r>
            <a:endParaRPr lang="en-US" sz="4000" dirty="0"/>
          </a:p>
        </p:txBody>
      </p:sp>
      <p:sp>
        <p:nvSpPr>
          <p:cNvPr id="12" name="Text 10"/>
          <p:cNvSpPr/>
          <p:nvPr/>
        </p:nvSpPr>
        <p:spPr>
          <a:xfrm>
            <a:off x="8375904" y="2395728"/>
            <a:ext cx="3017520" cy="411480"/>
          </a:xfrm>
          <a:prstGeom prst="rect">
            <a:avLst/>
          </a:prstGeom>
          <a:noFill/>
          <a:ln/>
        </p:spPr>
        <p:txBody>
          <a:bodyPr wrap="square" lIns="0" tIns="0" rIns="0" bIns="0" rtlCol="0" anchor="ctr"/>
          <a:lstStyle/>
          <a:p>
            <a:pPr indent="0" marL="0">
              <a:buNone/>
            </a:pPr>
            <a:r>
              <a:rPr lang="en-US" sz="1250" dirty="0">
                <a:solidFill>
                  <a:srgbClr val="44566C"/>
                </a:solidFill>
                <a:latin typeface="Calibri" pitchFamily="34" charset="0"/>
                <a:ea typeface="Calibri" pitchFamily="34" charset="-122"/>
                <a:cs typeface="Calibri" pitchFamily="34" charset="-120"/>
              </a:rPr>
              <a:t>classification, n = 500</a:t>
            </a:r>
            <a:endParaRPr lang="en-US" sz="1250" dirty="0"/>
          </a:p>
        </p:txBody>
      </p:sp>
      <p:graphicFrame>
        <p:nvGraphicFramePr>
          <p:cNvPr id="13" name="Chart 0" descr=""/>
          <p:cNvGraphicFramePr/>
          <p:nvPr/>
        </p:nvGraphicFramePr>
        <p:xfrm>
          <a:off x="566928" y="3154680"/>
          <a:ext cx="6858000" cy="27432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7726680" y="3154680"/>
            <a:ext cx="3904488" cy="2743200"/>
          </a:xfrm>
          <a:prstGeom prst="roundRect">
            <a:avLst>
              <a:gd name="adj" fmla="val 3000"/>
            </a:avLst>
          </a:prstGeom>
          <a:solidFill>
            <a:srgbClr val="0F2742"/>
          </a:solidFill>
          <a:ln/>
          <a:effectLst>
            <a:outerShdw sx="100000" sy="100000" kx="0" ky="0" algn="bl" rotWithShape="0" blurRad="127000" dist="25400" dir="5400000">
              <a:srgbClr val="8FA3B8">
                <a:alpha val="28000"/>
              </a:srgbClr>
            </a:outerShdw>
          </a:effectLst>
        </p:spPr>
      </p:sp>
      <p:sp>
        <p:nvSpPr>
          <p:cNvPr id="15" name="Text 12"/>
          <p:cNvSpPr/>
          <p:nvPr/>
        </p:nvSpPr>
        <p:spPr>
          <a:xfrm>
            <a:off x="8001000" y="3337560"/>
            <a:ext cx="3383280" cy="320040"/>
          </a:xfrm>
          <a:prstGeom prst="rect">
            <a:avLst/>
          </a:prstGeom>
          <a:noFill/>
          <a:ln/>
        </p:spPr>
        <p:txBody>
          <a:bodyPr wrap="square" lIns="0" tIns="0" rIns="0" bIns="0" rtlCol="0" anchor="ctr"/>
          <a:lstStyle/>
          <a:p>
            <a:pPr indent="0" marL="0">
              <a:buNone/>
            </a:pPr>
            <a:r>
              <a:rPr lang="en-US" sz="1400" b="1" dirty="0">
                <a:solidFill>
                  <a:srgbClr val="FF6A2B"/>
                </a:solidFill>
                <a:latin typeface="Calibri" pitchFamily="34" charset="0"/>
                <a:ea typeface="Calibri" pitchFamily="34" charset="-122"/>
                <a:cs typeface="Calibri" pitchFamily="34" charset="-120"/>
              </a:rPr>
              <a:t>How it was evaluated</a:t>
            </a:r>
            <a:endParaRPr lang="en-US" sz="1400" dirty="0"/>
          </a:p>
        </p:txBody>
      </p:sp>
      <p:sp>
        <p:nvSpPr>
          <p:cNvPr id="16" name="Text 13"/>
          <p:cNvSpPr/>
          <p:nvPr/>
        </p:nvSpPr>
        <p:spPr>
          <a:xfrm>
            <a:off x="8001000" y="3703320"/>
            <a:ext cx="3383280" cy="201168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Detection</a:t>
            </a:r>
            <a:endParaRPr lang="en-US" sz="1250" dirty="0"/>
          </a:p>
          <a:p>
            <a:pPr indent="0" marL="0">
              <a:lnSpc>
                <a:spcPts val="1500"/>
              </a:lnSpc>
              <a:buNone/>
            </a:pPr>
            <a:r>
              <a:rPr lang="en-US" sz="1200" dirty="0">
                <a:solidFill>
                  <a:srgbClr val="B9CBDD"/>
                </a:solidFill>
                <a:latin typeface="Calibri" pitchFamily="34" charset="0"/>
                <a:ea typeface="Calibri" pitchFamily="34" charset="-122"/>
                <a:cs typeface="Calibri" pitchFamily="34" charset="-120"/>
              </a:rPr>
              <a:t>Injected defects on the demo portal. Ground truth is the injected mode, not the model's own output.
</a:t>
            </a:r>
            <a:endParaRPr lang="en-US" sz="1250" dirty="0"/>
          </a:p>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Classification</a:t>
            </a:r>
            <a:endParaRPr lang="en-US" sz="1250" dirty="0"/>
          </a:p>
          <a:p>
            <a:pPr indent="0" marL="0">
              <a:lnSpc>
                <a:spcPts val="1500"/>
              </a:lnSpc>
              <a:buNone/>
            </a:pPr>
            <a:r>
              <a:rPr lang="en-US" sz="1200" dirty="0">
                <a:solidFill>
                  <a:srgbClr val="B9CBDD"/>
                </a:solidFill>
                <a:latin typeface="Calibri" pitchFamily="34" charset="0"/>
                <a:ea typeface="Calibri" pitchFamily="34" charset="-122"/>
                <a:cs typeface="Calibri" pitchFamily="34" charset="-120"/>
              </a:rPr>
              <a:t>Real third-party pages with injected DOM mutations. 10 seeds × 50 trials, 95% CI [92.85%, 96.75%], across-seed σ 3.01%.</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WHAT IS DOING THE WORK</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0F2742"/>
                </a:solidFill>
                <a:latin typeface="Cambria" pitchFamily="34" charset="0"/>
                <a:ea typeface="Cambria" pitchFamily="34" charset="-122"/>
                <a:cs typeface="Cambria" pitchFamily="34" charset="-120"/>
              </a:rPr>
              <a:t>Remove the DOM engine and accuracy collapses</a:t>
            </a:r>
            <a:endParaRPr lang="en-US" sz="3400" dirty="0"/>
          </a:p>
        </p:txBody>
      </p:sp>
      <p:graphicFrame>
        <p:nvGraphicFramePr>
          <p:cNvPr id="4" name="Chart 0" descr=""/>
          <p:cNvGraphicFramePr/>
          <p:nvPr/>
        </p:nvGraphicFramePr>
        <p:xfrm>
          <a:off x="566928" y="1463040"/>
          <a:ext cx="6949440" cy="40690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463040"/>
            <a:ext cx="3813048" cy="4069080"/>
          </a:xfrm>
          <a:prstGeom prst="roundRect">
            <a:avLst>
              <a:gd name="adj" fmla="val 2158"/>
            </a:avLst>
          </a:prstGeom>
          <a:solidFill>
            <a:srgbClr val="FFFFFF"/>
          </a:solidFill>
          <a:ln/>
          <a:effectLst>
            <a:outerShdw sx="100000" sy="100000" kx="0" ky="0" algn="bl" rotWithShape="0" blurRad="127000" dist="25400" dir="5400000">
              <a:srgbClr val="8FA3B8">
                <a:alpha val="28000"/>
              </a:srgbClr>
            </a:outerShdw>
          </a:effectLst>
        </p:spPr>
      </p:sp>
      <p:sp>
        <p:nvSpPr>
          <p:cNvPr id="6" name="Text 3"/>
          <p:cNvSpPr/>
          <p:nvPr/>
        </p:nvSpPr>
        <p:spPr>
          <a:xfrm>
            <a:off x="8092440" y="1645920"/>
            <a:ext cx="3291840" cy="274320"/>
          </a:xfrm>
          <a:prstGeom prst="rect">
            <a:avLst/>
          </a:prstGeom>
          <a:noFill/>
          <a:ln/>
        </p:spPr>
        <p:txBody>
          <a:bodyPr wrap="square" lIns="0" tIns="0" rIns="0" bIns="0" rtlCol="0" anchor="ctr"/>
          <a:lstStyle/>
          <a:p>
            <a:pPr indent="0" marL="0">
              <a:buNone/>
            </a:pPr>
            <a:r>
              <a:rPr lang="en-US" sz="1150" b="1" spc="160" kern="0" dirty="0">
                <a:solidFill>
                  <a:srgbClr val="6B8CAE"/>
                </a:solidFill>
                <a:latin typeface="Calibri" pitchFamily="34" charset="0"/>
                <a:ea typeface="Calibri" pitchFamily="34" charset="-122"/>
                <a:cs typeface="Calibri" pitchFamily="34" charset="-120"/>
              </a:rPr>
              <a:t>Read this as</a:t>
            </a:r>
            <a:endParaRPr lang="en-US" sz="1150" dirty="0"/>
          </a:p>
        </p:txBody>
      </p:sp>
      <p:sp>
        <p:nvSpPr>
          <p:cNvPr id="7" name="Text 4"/>
          <p:cNvSpPr/>
          <p:nvPr/>
        </p:nvSpPr>
        <p:spPr>
          <a:xfrm>
            <a:off x="8092440" y="2103120"/>
            <a:ext cx="3291840" cy="3200400"/>
          </a:xfrm>
          <a:prstGeom prst="rect">
            <a:avLst/>
          </a:prstGeom>
          <a:noFill/>
          <a:ln/>
        </p:spPr>
        <p:txBody>
          <a:bodyPr wrap="square" lIns="0" tIns="0" rIns="0" bIns="0" rtlCol="0" anchor="ctr"/>
          <a:lstStyle/>
          <a:p>
            <a:pPr indent="0" marL="0">
              <a:buNone/>
            </a:pPr>
            <a:r>
              <a:rPr lang="en-US" sz="1500" b="1" dirty="0">
                <a:solidFill>
                  <a:srgbClr val="0F2742"/>
                </a:solidFill>
                <a:latin typeface="Calibri" pitchFamily="34" charset="0"/>
                <a:ea typeface="Calibri" pitchFamily="34" charset="-122"/>
                <a:cs typeface="Calibri" pitchFamily="34" charset="-120"/>
              </a:rPr>
              <a:t>The structural comparison is the load-bearing part.</a:t>
            </a:r>
            <a:endParaRPr lang="en-US" sz="1500" dirty="0"/>
          </a:p>
          <a:p>
            <a:pPr indent="0" marL="0">
              <a:buNone/>
            </a:pPr>
            <a:endParaRPr lang="en-US" sz="1500" dirty="0"/>
          </a:p>
          <a:p>
            <a:pPr indent="0" marL="0">
              <a:buNone/>
            </a:pPr>
            <a:r>
              <a:rPr lang="en-US" sz="1250" dirty="0">
                <a:solidFill>
                  <a:srgbClr val="44566C"/>
                </a:solidFill>
                <a:latin typeface="Calibri" pitchFamily="34" charset="0"/>
                <a:ea typeface="Calibri" pitchFamily="34" charset="-122"/>
                <a:cs typeface="Calibri" pitchFamily="34" charset="-120"/>
              </a:rPr>
              <a:t>Dropping either feature group costs under a point — the two are largely redundant with each other. </a:t>
            </a:r>
            <a:endParaRPr lang="en-US" sz="1500" dirty="0"/>
          </a:p>
          <a:p>
            <a:pPr indent="0" marL="0">
              <a:buNone/>
            </a:pPr>
            <a:endParaRPr lang="en-US" sz="1500" dirty="0"/>
          </a:p>
          <a:p>
            <a:pPr indent="0" marL="0">
              <a:buNone/>
            </a:pPr>
            <a:r>
              <a:rPr lang="en-US" sz="1250" dirty="0">
                <a:solidFill>
                  <a:srgbClr val="44566C"/>
                </a:solidFill>
                <a:latin typeface="Calibri" pitchFamily="34" charset="0"/>
                <a:ea typeface="Calibri" pitchFamily="34" charset="-122"/>
                <a:cs typeface="Calibri" pitchFamily="34" charset="-120"/>
              </a:rPr>
              <a:t>Dropping the DOM engine itself takes the system to 38.7%, and colour, text and font changes fall to zero recall. Pixels alone cannot tell those apart.</a:t>
            </a:r>
            <a:endParaRPr lang="en-US" sz="1500" dirty="0"/>
          </a:p>
        </p:txBody>
      </p:sp>
      <p:sp>
        <p:nvSpPr>
          <p:cNvPr id="8" name="Text 5"/>
          <p:cNvSpPr/>
          <p:nvPr/>
        </p:nvSpPr>
        <p:spPr>
          <a:xfrm>
            <a:off x="566928" y="5760720"/>
            <a:ext cx="11064240" cy="365760"/>
          </a:xfrm>
          <a:prstGeom prst="rect">
            <a:avLst/>
          </a:prstGeom>
          <a:noFill/>
          <a:ln/>
        </p:spPr>
        <p:txBody>
          <a:bodyPr wrap="square" lIns="0" tIns="0" rIns="0" bIns="0" rtlCol="0" anchor="ctr"/>
          <a:lstStyle/>
          <a:p>
            <a:pPr indent="0" marL="0">
              <a:buNone/>
            </a:pPr>
            <a:r>
              <a:rPr lang="en-US" sz="1150" i="1" dirty="0">
                <a:solidFill>
                  <a:srgbClr val="7A8DA0"/>
                </a:solidFill>
                <a:latin typeface="Calibri" pitchFamily="34" charset="0"/>
                <a:ea typeface="Calibri" pitchFamily="34" charset="-122"/>
                <a:cs typeface="Calibri" pitchFamily="34" charset="-120"/>
              </a:rPr>
              <a:t>Ablation runs: 3 seeds × 50 trials (n = 150). Full system: 10 seeds × 50 trials (n = 500).</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9"/>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LIMITATIONS</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0F2742"/>
                </a:solidFill>
                <a:latin typeface="Cambria" pitchFamily="34" charset="0"/>
                <a:ea typeface="Cambria" pitchFamily="34" charset="-122"/>
                <a:cs typeface="Cambria" pitchFamily="34" charset="-120"/>
              </a:rPr>
              <a:t>Where it still gets things wrong</a:t>
            </a:r>
            <a:endParaRPr lang="en-US" sz="3400" dirty="0"/>
          </a:p>
        </p:txBody>
      </p:sp>
      <p:sp>
        <p:nvSpPr>
          <p:cNvPr id="4" name="Shape 2"/>
          <p:cNvSpPr/>
          <p:nvPr/>
        </p:nvSpPr>
        <p:spPr>
          <a:xfrm>
            <a:off x="566928" y="1463040"/>
            <a:ext cx="11064240" cy="1371600"/>
          </a:xfrm>
          <a:prstGeom prst="roundRect">
            <a:avLst>
              <a:gd name="adj" fmla="val 6000"/>
            </a:avLst>
          </a:prstGeom>
          <a:solidFill>
            <a:srgbClr val="FFFFFF"/>
          </a:solidFill>
          <a:ln/>
          <a:effectLst>
            <a:outerShdw sx="100000" sy="100000" kx="0" ky="0" algn="bl" rotWithShape="0" blurRad="127000" dist="25400" dir="5400000">
              <a:srgbClr val="8FA3B8">
                <a:alpha val="28000"/>
              </a:srgbClr>
            </a:outerShdw>
          </a:effectLst>
        </p:spPr>
      </p:sp>
      <p:sp>
        <p:nvSpPr>
          <p:cNvPr id="5" name="Shape 3"/>
          <p:cNvSpPr/>
          <p:nvPr/>
        </p:nvSpPr>
        <p:spPr>
          <a:xfrm>
            <a:off x="868680" y="1965960"/>
            <a:ext cx="365760" cy="365760"/>
          </a:xfrm>
          <a:prstGeom prst="ellipse">
            <a:avLst/>
          </a:prstGeom>
          <a:solidFill>
            <a:srgbClr val="E8298F"/>
          </a:solidFill>
          <a:ln/>
        </p:spPr>
      </p:sp>
      <p:sp>
        <p:nvSpPr>
          <p:cNvPr id="6" name="Text 4"/>
          <p:cNvSpPr/>
          <p:nvPr/>
        </p:nvSpPr>
        <p:spPr>
          <a:xfrm>
            <a:off x="1463040" y="1682496"/>
            <a:ext cx="9875520" cy="320040"/>
          </a:xfrm>
          <a:prstGeom prst="rect">
            <a:avLst/>
          </a:prstGeom>
          <a:noFill/>
          <a:ln/>
        </p:spPr>
        <p:txBody>
          <a:bodyPr wrap="square" lIns="0" tIns="0" rIns="0" bIns="0" rtlCol="0" anchor="ctr"/>
          <a:lstStyle/>
          <a:p>
            <a:pPr indent="0" marL="0">
              <a:buNone/>
            </a:pPr>
            <a:r>
              <a:rPr lang="en-US" sz="1600" b="1" dirty="0">
                <a:solidFill>
                  <a:srgbClr val="0F2742"/>
                </a:solidFill>
                <a:latin typeface="Calibri" pitchFamily="34" charset="0"/>
                <a:ea typeface="Calibri" pitchFamily="34" charset="-122"/>
                <a:cs typeface="Calibri" pitchFamily="34" charset="-120"/>
              </a:rPr>
              <a:t>missing-element is the weak class</a:t>
            </a:r>
            <a:endParaRPr lang="en-US" sz="1600" dirty="0"/>
          </a:p>
        </p:txBody>
      </p:sp>
      <p:sp>
        <p:nvSpPr>
          <p:cNvPr id="7" name="Text 5"/>
          <p:cNvSpPr/>
          <p:nvPr/>
        </p:nvSpPr>
        <p:spPr>
          <a:xfrm>
            <a:off x="1463040" y="2048256"/>
            <a:ext cx="9875520" cy="64008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Recall 87.7% — the lowest of the six. Seventeen of the 26 residual errors start there, usually mislabelled as a font or colour change.</a:t>
            </a:r>
            <a:endParaRPr lang="en-US" sz="1300" dirty="0"/>
          </a:p>
        </p:txBody>
      </p:sp>
      <p:sp>
        <p:nvSpPr>
          <p:cNvPr id="8" name="Shape 6"/>
          <p:cNvSpPr/>
          <p:nvPr/>
        </p:nvSpPr>
        <p:spPr>
          <a:xfrm>
            <a:off x="566928" y="3017520"/>
            <a:ext cx="11064240" cy="1371600"/>
          </a:xfrm>
          <a:prstGeom prst="roundRect">
            <a:avLst>
              <a:gd name="adj" fmla="val 6000"/>
            </a:avLst>
          </a:prstGeom>
          <a:solidFill>
            <a:srgbClr val="FFFFFF"/>
          </a:solidFill>
          <a:ln/>
          <a:effectLst>
            <a:outerShdw sx="100000" sy="100000" kx="0" ky="0" algn="bl" rotWithShape="0" blurRad="127000" dist="25400" dir="5400000">
              <a:srgbClr val="8FA3B8">
                <a:alpha val="28000"/>
              </a:srgbClr>
            </a:outerShdw>
          </a:effectLst>
        </p:spPr>
      </p:sp>
      <p:sp>
        <p:nvSpPr>
          <p:cNvPr id="9" name="Shape 7"/>
          <p:cNvSpPr/>
          <p:nvPr/>
        </p:nvSpPr>
        <p:spPr>
          <a:xfrm>
            <a:off x="868680" y="3520440"/>
            <a:ext cx="365760" cy="365760"/>
          </a:xfrm>
          <a:prstGeom prst="ellipse">
            <a:avLst/>
          </a:prstGeom>
          <a:solidFill>
            <a:srgbClr val="FF6A2B"/>
          </a:solidFill>
          <a:ln/>
        </p:spPr>
      </p:sp>
      <p:sp>
        <p:nvSpPr>
          <p:cNvPr id="10" name="Text 8"/>
          <p:cNvSpPr/>
          <p:nvPr/>
        </p:nvSpPr>
        <p:spPr>
          <a:xfrm>
            <a:off x="1463040" y="3236976"/>
            <a:ext cx="9875520" cy="320040"/>
          </a:xfrm>
          <a:prstGeom prst="rect">
            <a:avLst/>
          </a:prstGeom>
          <a:noFill/>
          <a:ln/>
        </p:spPr>
        <p:txBody>
          <a:bodyPr wrap="square" lIns="0" tIns="0" rIns="0" bIns="0" rtlCol="0" anchor="ctr"/>
          <a:lstStyle/>
          <a:p>
            <a:pPr indent="0" marL="0">
              <a:buNone/>
            </a:pPr>
            <a:r>
              <a:rPr lang="en-US" sz="1600" b="1" dirty="0">
                <a:solidFill>
                  <a:srgbClr val="0F2742"/>
                </a:solidFill>
                <a:latin typeface="Calibri" pitchFamily="34" charset="0"/>
                <a:ea typeface="Calibri" pitchFamily="34" charset="-122"/>
                <a:cs typeface="Calibri" pitchFamily="34" charset="-120"/>
              </a:rPr>
              <a:t>Very small real changes get discarded</a:t>
            </a:r>
            <a:endParaRPr lang="en-US" sz="1600" dirty="0"/>
          </a:p>
        </p:txBody>
      </p:sp>
      <p:sp>
        <p:nvSpPr>
          <p:cNvPr id="11" name="Text 9"/>
          <p:cNvSpPr/>
          <p:nvPr/>
        </p:nvSpPr>
        <p:spPr>
          <a:xfrm>
            <a:off x="1463040" y="3602736"/>
            <a:ext cx="9875520" cy="64008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Four errors were changes the noise floor threw away before the label mattered.</a:t>
            </a:r>
            <a:endParaRPr lang="en-US" sz="1300" dirty="0"/>
          </a:p>
        </p:txBody>
      </p:sp>
      <p:sp>
        <p:nvSpPr>
          <p:cNvPr id="12" name="Shape 10"/>
          <p:cNvSpPr/>
          <p:nvPr/>
        </p:nvSpPr>
        <p:spPr>
          <a:xfrm>
            <a:off x="566928" y="4572000"/>
            <a:ext cx="11064240" cy="1371600"/>
          </a:xfrm>
          <a:prstGeom prst="roundRect">
            <a:avLst>
              <a:gd name="adj" fmla="val 6000"/>
            </a:avLst>
          </a:prstGeom>
          <a:solidFill>
            <a:srgbClr val="FFFFFF"/>
          </a:solidFill>
          <a:ln/>
          <a:effectLst>
            <a:outerShdw sx="100000" sy="100000" kx="0" ky="0" algn="bl" rotWithShape="0" blurRad="127000" dist="25400" dir="5400000">
              <a:srgbClr val="8FA3B8">
                <a:alpha val="28000"/>
              </a:srgbClr>
            </a:outerShdw>
          </a:effectLst>
        </p:spPr>
      </p:sp>
      <p:sp>
        <p:nvSpPr>
          <p:cNvPr id="13" name="Shape 11"/>
          <p:cNvSpPr/>
          <p:nvPr/>
        </p:nvSpPr>
        <p:spPr>
          <a:xfrm>
            <a:off x="868680" y="5074920"/>
            <a:ext cx="365760" cy="365760"/>
          </a:xfrm>
          <a:prstGeom prst="ellipse">
            <a:avLst/>
          </a:prstGeom>
          <a:solidFill>
            <a:srgbClr val="35608F"/>
          </a:solidFill>
          <a:ln/>
        </p:spPr>
      </p:sp>
      <p:sp>
        <p:nvSpPr>
          <p:cNvPr id="14" name="Text 12"/>
          <p:cNvSpPr/>
          <p:nvPr/>
        </p:nvSpPr>
        <p:spPr>
          <a:xfrm>
            <a:off x="1463040" y="4791456"/>
            <a:ext cx="9875520" cy="320040"/>
          </a:xfrm>
          <a:prstGeom prst="rect">
            <a:avLst/>
          </a:prstGeom>
          <a:noFill/>
          <a:ln/>
        </p:spPr>
        <p:txBody>
          <a:bodyPr wrap="square" lIns="0" tIns="0" rIns="0" bIns="0" rtlCol="0" anchor="ctr"/>
          <a:lstStyle/>
          <a:p>
            <a:pPr indent="0" marL="0">
              <a:buNone/>
            </a:pPr>
            <a:r>
              <a:rPr lang="en-US" sz="1600" b="1" dirty="0">
                <a:solidFill>
                  <a:srgbClr val="0F2742"/>
                </a:solidFill>
                <a:latin typeface="Calibri" pitchFamily="34" charset="0"/>
                <a:ea typeface="Calibri" pitchFamily="34" charset="-122"/>
                <a:cs typeface="Calibri" pitchFamily="34" charset="-120"/>
              </a:rPr>
              <a:t>The six-class taxonomy was set after seeing results</a:t>
            </a:r>
            <a:endParaRPr lang="en-US" sz="1600" dirty="0"/>
          </a:p>
        </p:txBody>
      </p:sp>
      <p:sp>
        <p:nvSpPr>
          <p:cNvPr id="15" name="Text 13"/>
          <p:cNvSpPr/>
          <p:nvPr/>
        </p:nvSpPr>
        <p:spPr>
          <a:xfrm>
            <a:off x="1463040" y="5157216"/>
            <a:ext cx="9875520" cy="640080"/>
          </a:xfrm>
          <a:prstGeom prst="rect">
            <a:avLst/>
          </a:prstGeom>
          <a:noFill/>
          <a:ln/>
        </p:spPr>
        <p:txBody>
          <a:bodyPr wrap="square" lIns="0" tIns="0" rIns="0" bIns="0" rtlCol="0" anchor="ctr"/>
          <a:lstStyle/>
          <a:p>
            <a:pPr indent="0" marL="0">
              <a:buNone/>
            </a:pPr>
            <a:r>
              <a:rPr lang="en-US" sz="1300" dirty="0">
                <a:solidFill>
                  <a:srgbClr val="44566C"/>
                </a:solidFill>
                <a:latin typeface="Calibri" pitchFamily="34" charset="0"/>
                <a:ea typeface="Calibri" pitchFamily="34" charset="-122"/>
                <a:cs typeface="Calibri" pitchFamily="34" charset="-120"/>
              </a:rPr>
              <a:t>Merging layout-issue into missing-element is defensible — they are one event — but it is not independent evidence that the model improved. Under the old seven-way rule the same trials score 92.6%.</a:t>
            </a:r>
            <a:endParaRPr lang="en-US" sz="1300" dirty="0"/>
          </a:p>
        </p:txBody>
      </p:sp>
      <p:sp>
        <p:nvSpPr>
          <p:cNvPr id="16" name="Text 14"/>
          <p:cNvSpPr/>
          <p:nvPr/>
        </p:nvSpPr>
        <p:spPr>
          <a:xfrm>
            <a:off x="566928" y="5943600"/>
            <a:ext cx="11064240" cy="411480"/>
          </a:xfrm>
          <a:prstGeom prst="rect">
            <a:avLst/>
          </a:prstGeom>
          <a:noFill/>
          <a:ln/>
        </p:spPr>
        <p:txBody>
          <a:bodyPr wrap="square" lIns="0" tIns="0" rIns="0" bIns="0" rtlCol="0" anchor="ctr"/>
          <a:lstStyle/>
          <a:p>
            <a:pPr indent="0" marL="0">
              <a:buNone/>
            </a:pPr>
            <a:r>
              <a:rPr lang="en-US" sz="1300" i="1" dirty="0">
                <a:solidFill>
                  <a:srgbClr val="0F2742"/>
                </a:solidFill>
                <a:latin typeface="Calibri" pitchFamily="34" charset="0"/>
                <a:ea typeface="Calibri" pitchFamily="34" charset="-122"/>
                <a:cs typeface="Calibri" pitchFamily="34" charset="-120"/>
              </a:rPr>
              <a:t>Next: raise missing-element recall, and widen evaluation beyond injected mutations to changes taken from real commit history.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1A2B"/>
        </a:solidFill>
      </p:bgPr>
    </p:bg>
    <p:spTree>
      <p:nvGrpSpPr>
        <p:cNvPr id="1" name=""/>
        <p:cNvGrpSpPr/>
        <p:nvPr/>
      </p:nvGrpSpPr>
      <p:grpSpPr>
        <a:xfrm>
          <a:off x="0" y="0"/>
          <a:ext cx="0" cy="0"/>
          <a:chOff x="0" y="0"/>
          <a:chExt cx="0" cy="0"/>
        </a:xfrm>
      </p:grpSpPr>
      <p:sp>
        <p:nvSpPr>
          <p:cNvPr id="2" name="Text 0"/>
          <p:cNvSpPr/>
          <p:nvPr/>
        </p:nvSpPr>
        <p:spPr>
          <a:xfrm>
            <a:off x="594360" y="137160"/>
            <a:ext cx="7315200" cy="274320"/>
          </a:xfrm>
          <a:prstGeom prst="rect">
            <a:avLst/>
          </a:prstGeom>
          <a:noFill/>
          <a:ln/>
        </p:spPr>
        <p:txBody>
          <a:bodyPr wrap="square" lIns="0" tIns="0" rIns="0" bIns="0" rtlCol="0" anchor="ctr"/>
          <a:lstStyle/>
          <a:p>
            <a:pPr indent="0" marL="0">
              <a:buNone/>
            </a:pPr>
            <a:r>
              <a:rPr lang="en-US" sz="1150" b="1" spc="220" kern="0" dirty="0">
                <a:solidFill>
                  <a:srgbClr val="FF6A2B"/>
                </a:solidFill>
                <a:latin typeface="Calibri" pitchFamily="34" charset="0"/>
                <a:ea typeface="Calibri" pitchFamily="34" charset="-122"/>
                <a:cs typeface="Calibri" pitchFamily="34" charset="-120"/>
              </a:rPr>
              <a:t>LIVE DEMONSTRATION</a:t>
            </a:r>
            <a:endParaRPr lang="en-US" sz="115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Now the dashboard itself</a:t>
            </a:r>
            <a:endParaRPr lang="en-US" sz="3400" dirty="0"/>
          </a:p>
        </p:txBody>
      </p:sp>
      <p:sp>
        <p:nvSpPr>
          <p:cNvPr id="4" name="Shape 2"/>
          <p:cNvSpPr/>
          <p:nvPr/>
        </p:nvSpPr>
        <p:spPr>
          <a:xfrm>
            <a:off x="566928" y="1783080"/>
            <a:ext cx="2679192" cy="3063240"/>
          </a:xfrm>
          <a:prstGeom prst="roundRect">
            <a:avLst>
              <a:gd name="adj" fmla="val 3072"/>
            </a:avLst>
          </a:prstGeom>
          <a:solidFill>
            <a:srgbClr val="12293F"/>
          </a:solidFill>
          <a:ln/>
        </p:spPr>
      </p:sp>
      <p:sp>
        <p:nvSpPr>
          <p:cNvPr id="5" name="Shape 3"/>
          <p:cNvSpPr/>
          <p:nvPr/>
        </p:nvSpPr>
        <p:spPr>
          <a:xfrm>
            <a:off x="859536" y="2057400"/>
            <a:ext cx="438912" cy="438912"/>
          </a:xfrm>
          <a:prstGeom prst="ellipse">
            <a:avLst/>
          </a:prstGeom>
          <a:solidFill>
            <a:srgbClr val="FF6A2B"/>
          </a:solidFill>
          <a:ln/>
        </p:spPr>
      </p:sp>
      <p:sp>
        <p:nvSpPr>
          <p:cNvPr id="6" name="Text 4"/>
          <p:cNvSpPr/>
          <p:nvPr/>
        </p:nvSpPr>
        <p:spPr>
          <a:xfrm>
            <a:off x="859536" y="205740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59536" y="2670048"/>
            <a:ext cx="21488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Capture a baseline</a:t>
            </a:r>
            <a:endParaRPr lang="en-US" sz="1700" dirty="0"/>
          </a:p>
        </p:txBody>
      </p:sp>
      <p:sp>
        <p:nvSpPr>
          <p:cNvPr id="8" name="Text 6"/>
          <p:cNvSpPr/>
          <p:nvPr/>
        </p:nvSpPr>
        <p:spPr>
          <a:xfrm>
            <a:off x="859536" y="3401568"/>
            <a:ext cx="2148840" cy="1280160"/>
          </a:xfrm>
          <a:prstGeom prst="rect">
            <a:avLst/>
          </a:prstGeom>
          <a:noFill/>
          <a:ln/>
        </p:spPr>
        <p:txBody>
          <a:bodyPr wrap="square" lIns="0" tIns="0" rIns="0" bIns="0" rtlCol="0" anchor="ctr"/>
          <a:lstStyle/>
          <a:p>
            <a:pPr indent="0" marL="0">
              <a:buNone/>
            </a:pPr>
            <a:r>
              <a:rPr lang="en-US" sz="1300" dirty="0">
                <a:solidFill>
                  <a:srgbClr val="9FB5CB"/>
                </a:solidFill>
                <a:latin typeface="Calibri" pitchFamily="34" charset="0"/>
                <a:ea typeface="Calibri" pitchFamily="34" charset="-122"/>
                <a:cs typeface="Calibri" pitchFamily="34" charset="-120"/>
              </a:rPr>
              <a:t>from a URL, with locale and device pinned</a:t>
            </a:r>
            <a:endParaRPr lang="en-US" sz="1300" dirty="0"/>
          </a:p>
        </p:txBody>
      </p:sp>
      <p:sp>
        <p:nvSpPr>
          <p:cNvPr id="9" name="Shape 7"/>
          <p:cNvSpPr/>
          <p:nvPr/>
        </p:nvSpPr>
        <p:spPr>
          <a:xfrm>
            <a:off x="3383280" y="1783080"/>
            <a:ext cx="2679192" cy="3063240"/>
          </a:xfrm>
          <a:prstGeom prst="roundRect">
            <a:avLst>
              <a:gd name="adj" fmla="val 3072"/>
            </a:avLst>
          </a:prstGeom>
          <a:solidFill>
            <a:srgbClr val="12293F"/>
          </a:solidFill>
          <a:ln/>
        </p:spPr>
      </p:sp>
      <p:sp>
        <p:nvSpPr>
          <p:cNvPr id="10" name="Shape 8"/>
          <p:cNvSpPr/>
          <p:nvPr/>
        </p:nvSpPr>
        <p:spPr>
          <a:xfrm>
            <a:off x="3675888" y="2057400"/>
            <a:ext cx="438912" cy="438912"/>
          </a:xfrm>
          <a:prstGeom prst="ellipse">
            <a:avLst/>
          </a:prstGeom>
          <a:solidFill>
            <a:srgbClr val="FF6A2B"/>
          </a:solidFill>
          <a:ln/>
        </p:spPr>
      </p:sp>
      <p:sp>
        <p:nvSpPr>
          <p:cNvPr id="11" name="Text 9"/>
          <p:cNvSpPr/>
          <p:nvPr/>
        </p:nvSpPr>
        <p:spPr>
          <a:xfrm>
            <a:off x="3675888" y="205740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675888" y="2670048"/>
            <a:ext cx="21488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Run a comparison</a:t>
            </a:r>
            <a:endParaRPr lang="en-US" sz="1700" dirty="0"/>
          </a:p>
        </p:txBody>
      </p:sp>
      <p:sp>
        <p:nvSpPr>
          <p:cNvPr id="13" name="Text 11"/>
          <p:cNvSpPr/>
          <p:nvPr/>
        </p:nvSpPr>
        <p:spPr>
          <a:xfrm>
            <a:off x="3675888" y="3401568"/>
            <a:ext cx="2148840" cy="1280160"/>
          </a:xfrm>
          <a:prstGeom prst="rect">
            <a:avLst/>
          </a:prstGeom>
          <a:noFill/>
          <a:ln/>
        </p:spPr>
        <p:txBody>
          <a:bodyPr wrap="square" lIns="0" tIns="0" rIns="0" bIns="0" rtlCol="0" anchor="ctr"/>
          <a:lstStyle/>
          <a:p>
            <a:pPr indent="0" marL="0">
              <a:buNone/>
            </a:pPr>
            <a:r>
              <a:rPr lang="en-US" sz="1300" dirty="0">
                <a:solidFill>
                  <a:srgbClr val="9FB5CB"/>
                </a:solidFill>
                <a:latin typeface="Calibri" pitchFamily="34" charset="0"/>
                <a:ea typeface="Calibri" pitchFamily="34" charset="-122"/>
                <a:cs typeface="Calibri" pitchFamily="34" charset="-120"/>
              </a:rPr>
              <a:t>against a page carrying an injected defect</a:t>
            </a:r>
            <a:endParaRPr lang="en-US" sz="1300" dirty="0"/>
          </a:p>
        </p:txBody>
      </p:sp>
      <p:sp>
        <p:nvSpPr>
          <p:cNvPr id="14" name="Shape 12"/>
          <p:cNvSpPr/>
          <p:nvPr/>
        </p:nvSpPr>
        <p:spPr>
          <a:xfrm>
            <a:off x="6199632" y="1783080"/>
            <a:ext cx="2679192" cy="3063240"/>
          </a:xfrm>
          <a:prstGeom prst="roundRect">
            <a:avLst>
              <a:gd name="adj" fmla="val 3072"/>
            </a:avLst>
          </a:prstGeom>
          <a:solidFill>
            <a:srgbClr val="12293F"/>
          </a:solidFill>
          <a:ln/>
        </p:spPr>
      </p:sp>
      <p:sp>
        <p:nvSpPr>
          <p:cNvPr id="15" name="Shape 13"/>
          <p:cNvSpPr/>
          <p:nvPr/>
        </p:nvSpPr>
        <p:spPr>
          <a:xfrm>
            <a:off x="6492240" y="2057400"/>
            <a:ext cx="438912" cy="438912"/>
          </a:xfrm>
          <a:prstGeom prst="ellipse">
            <a:avLst/>
          </a:prstGeom>
          <a:solidFill>
            <a:srgbClr val="FF6A2B"/>
          </a:solidFill>
          <a:ln/>
        </p:spPr>
      </p:sp>
      <p:sp>
        <p:nvSpPr>
          <p:cNvPr id="16" name="Text 14"/>
          <p:cNvSpPr/>
          <p:nvPr/>
        </p:nvSpPr>
        <p:spPr>
          <a:xfrm>
            <a:off x="6492240" y="205740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492240" y="2670048"/>
            <a:ext cx="21488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Read the verdict</a:t>
            </a:r>
            <a:endParaRPr lang="en-US" sz="1700" dirty="0"/>
          </a:p>
        </p:txBody>
      </p:sp>
      <p:sp>
        <p:nvSpPr>
          <p:cNvPr id="18" name="Text 16"/>
          <p:cNvSpPr/>
          <p:nvPr/>
        </p:nvSpPr>
        <p:spPr>
          <a:xfrm>
            <a:off x="6492240" y="3401568"/>
            <a:ext cx="2148840" cy="1280160"/>
          </a:xfrm>
          <a:prstGeom prst="rect">
            <a:avLst/>
          </a:prstGeom>
          <a:noFill/>
          <a:ln/>
        </p:spPr>
        <p:txBody>
          <a:bodyPr wrap="square" lIns="0" tIns="0" rIns="0" bIns="0" rtlCol="0" anchor="ctr"/>
          <a:lstStyle/>
          <a:p>
            <a:pPr indent="0" marL="0">
              <a:buNone/>
            </a:pPr>
            <a:r>
              <a:rPr lang="en-US" sz="1300" dirty="0">
                <a:solidFill>
                  <a:srgbClr val="9FB5CB"/>
                </a:solidFill>
                <a:latin typeface="Calibri" pitchFamily="34" charset="0"/>
                <a:ea typeface="Calibri" pitchFamily="34" charset="-122"/>
                <a:cs typeface="Calibri" pitchFamily="34" charset="-120"/>
              </a:rPr>
              <a:t>diff overlay, severity, class label and DOM evidence</a:t>
            </a:r>
            <a:endParaRPr lang="en-US" sz="1300" dirty="0"/>
          </a:p>
        </p:txBody>
      </p:sp>
      <p:sp>
        <p:nvSpPr>
          <p:cNvPr id="19" name="Shape 17"/>
          <p:cNvSpPr/>
          <p:nvPr/>
        </p:nvSpPr>
        <p:spPr>
          <a:xfrm>
            <a:off x="9015984" y="1783080"/>
            <a:ext cx="2679192" cy="3063240"/>
          </a:xfrm>
          <a:prstGeom prst="roundRect">
            <a:avLst>
              <a:gd name="adj" fmla="val 3072"/>
            </a:avLst>
          </a:prstGeom>
          <a:solidFill>
            <a:srgbClr val="12293F"/>
          </a:solidFill>
          <a:ln/>
        </p:spPr>
      </p:sp>
      <p:sp>
        <p:nvSpPr>
          <p:cNvPr id="20" name="Shape 18"/>
          <p:cNvSpPr/>
          <p:nvPr/>
        </p:nvSpPr>
        <p:spPr>
          <a:xfrm>
            <a:off x="9308592" y="2057400"/>
            <a:ext cx="438912" cy="438912"/>
          </a:xfrm>
          <a:prstGeom prst="ellipse">
            <a:avLst/>
          </a:prstGeom>
          <a:solidFill>
            <a:srgbClr val="FF6A2B"/>
          </a:solidFill>
          <a:ln/>
        </p:spPr>
      </p:sp>
      <p:sp>
        <p:nvSpPr>
          <p:cNvPr id="21" name="Text 19"/>
          <p:cNvSpPr/>
          <p:nvPr/>
        </p:nvSpPr>
        <p:spPr>
          <a:xfrm>
            <a:off x="9308592" y="205740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308592" y="2670048"/>
            <a:ext cx="2148840"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Approve or reject</a:t>
            </a:r>
            <a:endParaRPr lang="en-US" sz="1700" dirty="0"/>
          </a:p>
        </p:txBody>
      </p:sp>
      <p:sp>
        <p:nvSpPr>
          <p:cNvPr id="23" name="Text 21"/>
          <p:cNvSpPr/>
          <p:nvPr/>
        </p:nvSpPr>
        <p:spPr>
          <a:xfrm>
            <a:off x="9308592" y="3401568"/>
            <a:ext cx="2148840" cy="1280160"/>
          </a:xfrm>
          <a:prstGeom prst="rect">
            <a:avLst/>
          </a:prstGeom>
          <a:noFill/>
          <a:ln/>
        </p:spPr>
        <p:txBody>
          <a:bodyPr wrap="square" lIns="0" tIns="0" rIns="0" bIns="0" rtlCol="0" anchor="ctr"/>
          <a:lstStyle/>
          <a:p>
            <a:pPr indent="0" marL="0">
              <a:buNone/>
            </a:pPr>
            <a:r>
              <a:rPr lang="en-US" sz="1300" dirty="0">
                <a:solidFill>
                  <a:srgbClr val="9FB5CB"/>
                </a:solidFill>
                <a:latin typeface="Calibri" pitchFamily="34" charset="0"/>
                <a:ea typeface="Calibri" pitchFamily="34" charset="-122"/>
                <a:cs typeface="Calibri" pitchFamily="34" charset="-120"/>
              </a:rPr>
              <a:t>the decision history is written back to the report</a:t>
            </a:r>
            <a:endParaRPr lang="en-US" sz="1300" dirty="0"/>
          </a:p>
        </p:txBody>
      </p:sp>
      <p:sp>
        <p:nvSpPr>
          <p:cNvPr id="24" name="Text 22"/>
          <p:cNvSpPr/>
          <p:nvPr/>
        </p:nvSpPr>
        <p:spPr>
          <a:xfrm>
            <a:off x="566928" y="5212080"/>
            <a:ext cx="5486400" cy="457200"/>
          </a:xfrm>
          <a:prstGeom prst="rect">
            <a:avLst/>
          </a:prstGeom>
          <a:noFill/>
          <a:ln/>
        </p:spPr>
        <p:txBody>
          <a:bodyPr wrap="square" lIns="0" tIns="0" rIns="0" bIns="0" rtlCol="0" anchor="ctr"/>
          <a:lstStyle/>
          <a:p>
            <a:pPr indent="0" marL="0">
              <a:buNone/>
            </a:pPr>
            <a:r>
              <a:rPr lang="en-US" sz="1500" b="1" dirty="0">
                <a:solidFill>
                  <a:srgbClr val="FF6A2B"/>
                </a:solidFill>
                <a:latin typeface="Courier New" pitchFamily="34" charset="0"/>
                <a:ea typeface="Courier New" pitchFamily="34" charset="-122"/>
                <a:cs typeface="Courier New" pitchFamily="34" charset="-120"/>
              </a:rPr>
              <a:t>http://127.0.0.1:8130/</a:t>
            </a:r>
            <a:endParaRPr lang="en-US" sz="1500" dirty="0"/>
          </a:p>
        </p:txBody>
      </p:sp>
      <p:sp>
        <p:nvSpPr>
          <p:cNvPr id="25" name="Text 23"/>
          <p:cNvSpPr/>
          <p:nvPr/>
        </p:nvSpPr>
        <p:spPr>
          <a:xfrm>
            <a:off x="566928" y="5669280"/>
            <a:ext cx="7315200" cy="365760"/>
          </a:xfrm>
          <a:prstGeom prst="rect">
            <a:avLst/>
          </a:prstGeom>
          <a:noFill/>
          <a:ln/>
        </p:spPr>
        <p:txBody>
          <a:bodyPr wrap="square" lIns="0" tIns="0" rIns="0" bIns="0" rtlCol="0" anchor="ctr"/>
          <a:lstStyle/>
          <a:p>
            <a:pPr indent="0" marL="0">
              <a:buNone/>
            </a:pPr>
            <a:r>
              <a:rPr lang="en-US" sz="1300" i="1" dirty="0">
                <a:solidFill>
                  <a:srgbClr val="7C93AB"/>
                </a:solidFill>
                <a:latin typeface="Calibri" pitchFamily="34" charset="0"/>
                <a:ea typeface="Calibri" pitchFamily="34" charset="-122"/>
                <a:cs typeface="Calibri" pitchFamily="34" charset="-120"/>
              </a:rPr>
              <a:t>Dashboard already running, demo portal open in the next tab.</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1A2B"/>
        </a:solidFill>
      </p:bgPr>
    </p:bg>
    <p:spTree>
      <p:nvGrpSpPr>
        <p:cNvPr id="1" name=""/>
        <p:cNvGrpSpPr/>
        <p:nvPr/>
      </p:nvGrpSpPr>
      <p:grpSpPr>
        <a:xfrm>
          <a:off x="0" y="0"/>
          <a:ext cx="0" cy="0"/>
          <a:chOff x="0" y="0"/>
          <a:chExt cx="0" cy="0"/>
        </a:xfrm>
      </p:grpSpPr>
      <p:sp>
        <p:nvSpPr>
          <p:cNvPr id="2" name="Text 0"/>
          <p:cNvSpPr/>
          <p:nvPr/>
        </p:nvSpPr>
        <p:spPr>
          <a:xfrm>
            <a:off x="658368" y="1554480"/>
            <a:ext cx="68580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3" name="Text 1"/>
          <p:cNvSpPr/>
          <p:nvPr/>
        </p:nvSpPr>
        <p:spPr>
          <a:xfrm>
            <a:off x="685800" y="2542032"/>
            <a:ext cx="6858000" cy="457200"/>
          </a:xfrm>
          <a:prstGeom prst="rect">
            <a:avLst/>
          </a:prstGeom>
          <a:noFill/>
          <a:ln/>
        </p:spPr>
        <p:txBody>
          <a:bodyPr wrap="square" lIns="0" tIns="0" rIns="0" bIns="0" rtlCol="0" anchor="ctr"/>
          <a:lstStyle/>
          <a:p>
            <a:pPr indent="0" marL="0">
              <a:buNone/>
            </a:pPr>
            <a:r>
              <a:rPr lang="en-US" sz="1700" dirty="0">
                <a:solidFill>
                  <a:srgbClr val="AFC3D8"/>
                </a:solidFill>
                <a:latin typeface="Calibri" pitchFamily="34" charset="0"/>
                <a:ea typeface="Calibri" pitchFamily="34" charset="-122"/>
                <a:cs typeface="Calibri" pitchFamily="34" charset="-120"/>
              </a:rPr>
              <a:t>Questions welcome.</a:t>
            </a:r>
            <a:endParaRPr lang="en-US" sz="1700" dirty="0"/>
          </a:p>
        </p:txBody>
      </p:sp>
      <p:sp>
        <p:nvSpPr>
          <p:cNvPr id="4" name="Text 2"/>
          <p:cNvSpPr/>
          <p:nvPr/>
        </p:nvSpPr>
        <p:spPr>
          <a:xfrm>
            <a:off x="685800" y="3520440"/>
            <a:ext cx="2194560" cy="457200"/>
          </a:xfrm>
          <a:prstGeom prst="rect">
            <a:avLst/>
          </a:prstGeom>
          <a:noFill/>
          <a:ln/>
        </p:spPr>
        <p:txBody>
          <a:bodyPr wrap="square" lIns="0" tIns="0" rIns="0" bIns="0" rtlCol="0" anchor="ctr"/>
          <a:lstStyle/>
          <a:p>
            <a:pPr indent="0" marL="0">
              <a:buNone/>
            </a:pPr>
            <a:r>
              <a:rPr lang="en-US" sz="2500" b="1" dirty="0">
                <a:solidFill>
                  <a:srgbClr val="FF6A2B"/>
                </a:solidFill>
                <a:latin typeface="Cambria" pitchFamily="34" charset="0"/>
                <a:ea typeface="Cambria" pitchFamily="34" charset="-122"/>
                <a:cs typeface="Cambria" pitchFamily="34" charset="-120"/>
              </a:rPr>
              <a:t>81 / 81</a:t>
            </a:r>
            <a:endParaRPr lang="en-US" sz="2500" dirty="0"/>
          </a:p>
        </p:txBody>
      </p:sp>
      <p:sp>
        <p:nvSpPr>
          <p:cNvPr id="5" name="Text 3"/>
          <p:cNvSpPr/>
          <p:nvPr/>
        </p:nvSpPr>
        <p:spPr>
          <a:xfrm>
            <a:off x="3017520" y="3602736"/>
            <a:ext cx="4754880" cy="411480"/>
          </a:xfrm>
          <a:prstGeom prst="rect">
            <a:avLst/>
          </a:prstGeom>
          <a:noFill/>
          <a:ln/>
        </p:spPr>
        <p:txBody>
          <a:bodyPr wrap="square" lIns="0" tIns="0" rIns="0" bIns="0" rtlCol="0" anchor="ctr"/>
          <a:lstStyle/>
          <a:p>
            <a:pPr indent="0" marL="0">
              <a:buNone/>
            </a:pPr>
            <a:r>
              <a:rPr lang="en-US" sz="1400" dirty="0">
                <a:solidFill>
                  <a:srgbClr val="AFC3D8"/>
                </a:solidFill>
                <a:latin typeface="Calibri" pitchFamily="34" charset="0"/>
                <a:ea typeface="Calibri" pitchFamily="34" charset="-122"/>
                <a:cs typeface="Calibri" pitchFamily="34" charset="-120"/>
              </a:rPr>
              <a:t>defects detected, 0 false alarms</a:t>
            </a:r>
            <a:endParaRPr lang="en-US" sz="1400" dirty="0"/>
          </a:p>
        </p:txBody>
      </p:sp>
      <p:sp>
        <p:nvSpPr>
          <p:cNvPr id="6" name="Text 4"/>
          <p:cNvSpPr/>
          <p:nvPr/>
        </p:nvSpPr>
        <p:spPr>
          <a:xfrm>
            <a:off x="685800" y="4297680"/>
            <a:ext cx="2194560" cy="457200"/>
          </a:xfrm>
          <a:prstGeom prst="rect">
            <a:avLst/>
          </a:prstGeom>
          <a:noFill/>
          <a:ln/>
        </p:spPr>
        <p:txBody>
          <a:bodyPr wrap="square" lIns="0" tIns="0" rIns="0" bIns="0" rtlCol="0" anchor="ctr"/>
          <a:lstStyle/>
          <a:p>
            <a:pPr indent="0" marL="0">
              <a:buNone/>
            </a:pPr>
            <a:r>
              <a:rPr lang="en-US" sz="2500" b="1" dirty="0">
                <a:solidFill>
                  <a:srgbClr val="FF6A2B"/>
                </a:solidFill>
                <a:latin typeface="Cambria" pitchFamily="34" charset="0"/>
                <a:ea typeface="Cambria" pitchFamily="34" charset="-122"/>
                <a:cs typeface="Cambria" pitchFamily="34" charset="-120"/>
              </a:rPr>
              <a:t>94.80%</a:t>
            </a:r>
            <a:endParaRPr lang="en-US" sz="2500" dirty="0"/>
          </a:p>
        </p:txBody>
      </p:sp>
      <p:sp>
        <p:nvSpPr>
          <p:cNvPr id="7" name="Text 5"/>
          <p:cNvSpPr/>
          <p:nvPr/>
        </p:nvSpPr>
        <p:spPr>
          <a:xfrm>
            <a:off x="3017520" y="4379976"/>
            <a:ext cx="4754880" cy="411480"/>
          </a:xfrm>
          <a:prstGeom prst="rect">
            <a:avLst/>
          </a:prstGeom>
          <a:noFill/>
          <a:ln/>
        </p:spPr>
        <p:txBody>
          <a:bodyPr wrap="square" lIns="0" tIns="0" rIns="0" bIns="0" rtlCol="0" anchor="ctr"/>
          <a:lstStyle/>
          <a:p>
            <a:pPr indent="0" marL="0">
              <a:buNone/>
            </a:pPr>
            <a:r>
              <a:rPr lang="en-US" sz="1400" dirty="0">
                <a:solidFill>
                  <a:srgbClr val="AFC3D8"/>
                </a:solidFill>
                <a:latin typeface="Calibri" pitchFamily="34" charset="0"/>
                <a:ea typeface="Calibri" pitchFamily="34" charset="-122"/>
                <a:cs typeface="Calibri" pitchFamily="34" charset="-120"/>
              </a:rPr>
              <a:t>classification, 95% CI [92.85, 96.75]</a:t>
            </a:r>
            <a:endParaRPr lang="en-US" sz="1400" dirty="0"/>
          </a:p>
        </p:txBody>
      </p:sp>
      <p:sp>
        <p:nvSpPr>
          <p:cNvPr id="8" name="Text 6"/>
          <p:cNvSpPr/>
          <p:nvPr/>
        </p:nvSpPr>
        <p:spPr>
          <a:xfrm>
            <a:off x="685800" y="5074920"/>
            <a:ext cx="2194560" cy="457200"/>
          </a:xfrm>
          <a:prstGeom prst="rect">
            <a:avLst/>
          </a:prstGeom>
          <a:noFill/>
          <a:ln/>
        </p:spPr>
        <p:txBody>
          <a:bodyPr wrap="square" lIns="0" tIns="0" rIns="0" bIns="0" rtlCol="0" anchor="ctr"/>
          <a:lstStyle/>
          <a:p>
            <a:pPr indent="0" marL="0">
              <a:buNone/>
            </a:pPr>
            <a:r>
              <a:rPr lang="en-US" sz="2500" b="1" dirty="0">
                <a:solidFill>
                  <a:srgbClr val="FF6A2B"/>
                </a:solidFill>
                <a:latin typeface="Cambria" pitchFamily="34" charset="0"/>
                <a:ea typeface="Cambria" pitchFamily="34" charset="-122"/>
                <a:cs typeface="Cambria" pitchFamily="34" charset="-120"/>
              </a:rPr>
              <a:t>1,098</a:t>
            </a:r>
            <a:endParaRPr lang="en-US" sz="2500" dirty="0"/>
          </a:p>
        </p:txBody>
      </p:sp>
      <p:sp>
        <p:nvSpPr>
          <p:cNvPr id="9" name="Text 7"/>
          <p:cNvSpPr/>
          <p:nvPr/>
        </p:nvSpPr>
        <p:spPr>
          <a:xfrm>
            <a:off x="3017520" y="5157216"/>
            <a:ext cx="4754880" cy="411480"/>
          </a:xfrm>
          <a:prstGeom prst="rect">
            <a:avLst/>
          </a:prstGeom>
          <a:noFill/>
          <a:ln/>
        </p:spPr>
        <p:txBody>
          <a:bodyPr wrap="square" lIns="0" tIns="0" rIns="0" bIns="0" rtlCol="0" anchor="ctr"/>
          <a:lstStyle/>
          <a:p>
            <a:pPr indent="0" marL="0">
              <a:buNone/>
            </a:pPr>
            <a:r>
              <a:rPr lang="en-US" sz="1400" dirty="0">
                <a:solidFill>
                  <a:srgbClr val="AFC3D8"/>
                </a:solidFill>
                <a:latin typeface="Calibri" pitchFamily="34" charset="0"/>
                <a:ea typeface="Calibri" pitchFamily="34" charset="-122"/>
                <a:cs typeface="Calibri" pitchFamily="34" charset="-120"/>
              </a:rPr>
              <a:t>automated tests gating every push</a:t>
            </a:r>
            <a:endParaRPr lang="en-US" sz="1400" dirty="0"/>
          </a:p>
        </p:txBody>
      </p:sp>
      <p:sp>
        <p:nvSpPr>
          <p:cNvPr id="10" name="Shape 8"/>
          <p:cNvSpPr/>
          <p:nvPr/>
        </p:nvSpPr>
        <p:spPr>
          <a:xfrm>
            <a:off x="8229600" y="1554480"/>
            <a:ext cx="3291840" cy="4343400"/>
          </a:xfrm>
          <a:prstGeom prst="roundRect">
            <a:avLst>
              <a:gd name="adj" fmla="val 2778"/>
            </a:avLst>
          </a:prstGeom>
          <a:solidFill>
            <a:srgbClr val="12293F"/>
          </a:solidFill>
          <a:ln/>
        </p:spPr>
      </p:sp>
      <p:sp>
        <p:nvSpPr>
          <p:cNvPr id="11" name="Text 9"/>
          <p:cNvSpPr/>
          <p:nvPr/>
        </p:nvSpPr>
        <p:spPr>
          <a:xfrm>
            <a:off x="8549640" y="1874520"/>
            <a:ext cx="2743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Tan Kia Yen</a:t>
            </a:r>
            <a:endParaRPr lang="en-US" sz="1600" dirty="0"/>
          </a:p>
        </p:txBody>
      </p:sp>
      <p:sp>
        <p:nvSpPr>
          <p:cNvPr id="12" name="Text 10"/>
          <p:cNvSpPr/>
          <p:nvPr/>
        </p:nvSpPr>
        <p:spPr>
          <a:xfrm>
            <a:off x="8549640" y="2286000"/>
            <a:ext cx="2743200" cy="548640"/>
          </a:xfrm>
          <a:prstGeom prst="rect">
            <a:avLst/>
          </a:prstGeom>
          <a:noFill/>
          <a:ln/>
        </p:spPr>
        <p:txBody>
          <a:bodyPr wrap="square" lIns="0" tIns="0" rIns="0" bIns="0" rtlCol="0" anchor="ctr"/>
          <a:lstStyle/>
          <a:p>
            <a:pPr indent="0" marL="0">
              <a:buNone/>
            </a:pPr>
            <a:r>
              <a:rPr lang="en-US" sz="1300" dirty="0">
                <a:solidFill>
                  <a:srgbClr val="9FB5CB"/>
                </a:solidFill>
                <a:latin typeface="Calibri" pitchFamily="34" charset="0"/>
                <a:ea typeface="Calibri" pitchFamily="34" charset="-122"/>
                <a:cs typeface="Calibri" pitchFamily="34" charset="-120"/>
              </a:rPr>
              <a:t>Visual Regression Workbench</a:t>
            </a:r>
            <a:endParaRPr lang="en-US" sz="1300" dirty="0"/>
          </a:p>
        </p:txBody>
      </p:sp>
      <p:sp>
        <p:nvSpPr>
          <p:cNvPr id="13" name="Text 11"/>
          <p:cNvSpPr/>
          <p:nvPr/>
        </p:nvSpPr>
        <p:spPr>
          <a:xfrm>
            <a:off x="8549640" y="2880360"/>
            <a:ext cx="2743200" cy="2743200"/>
          </a:xfrm>
          <a:prstGeom prst="rect">
            <a:avLst/>
          </a:prstGeom>
          <a:noFill/>
          <a:ln/>
        </p:spPr>
        <p:txBody>
          <a:bodyPr wrap="square" lIns="0" tIns="0" rIns="0" bIns="0" rtlCol="0" anchor="ctr"/>
          <a:lstStyle/>
          <a:p>
            <a:pPr indent="0" marL="0">
              <a:buNone/>
            </a:pPr>
            <a:r>
              <a:rPr lang="en-US" sz="1150" b="1" dirty="0">
                <a:solidFill>
                  <a:srgbClr val="FF6A2B"/>
                </a:solidFill>
                <a:latin typeface="Calibri" pitchFamily="34" charset="0"/>
                <a:ea typeface="Calibri" pitchFamily="34" charset="-122"/>
                <a:cs typeface="Calibri" pitchFamily="34" charset="-120"/>
              </a:rPr>
              <a:t>Repository
</a:t>
            </a:r>
            <a:endParaRPr lang="en-US" sz="1150" dirty="0"/>
          </a:p>
          <a:p>
            <a:pPr indent="0" marL="0">
              <a:buNone/>
            </a:pPr>
            <a:r>
              <a:rPr lang="en-US" sz="1200" dirty="0">
                <a:solidFill>
                  <a:srgbClr val="9FB5CB"/>
                </a:solidFill>
                <a:latin typeface="Calibri" pitchFamily="34" charset="0"/>
                <a:ea typeface="Calibri" pitchFamily="34" charset="-122"/>
                <a:cs typeface="Calibri" pitchFamily="34" charset="-120"/>
              </a:rPr>
              <a:t>README, architecture notes and decision records
</a:t>
            </a:r>
            <a:endParaRPr lang="en-US" sz="1150" dirty="0"/>
          </a:p>
          <a:p>
            <a:pPr indent="0" marL="0">
              <a:buNone/>
            </a:pPr>
            <a:r>
              <a:rPr lang="en-US" sz="1150" b="1" dirty="0">
                <a:solidFill>
                  <a:srgbClr val="FF6A2B"/>
                </a:solidFill>
                <a:latin typeface="Calibri" pitchFamily="34" charset="0"/>
                <a:ea typeface="Calibri" pitchFamily="34" charset="-122"/>
                <a:cs typeface="Calibri" pitchFamily="34" charset="-120"/>
              </a:rPr>
              <a:t>Reproduce
</a:t>
            </a:r>
            <a:endParaRPr lang="en-US" sz="1150" dirty="0"/>
          </a:p>
          <a:p>
            <a:pPr indent="0" marL="0">
              <a:buNone/>
            </a:pPr>
            <a:r>
              <a:rPr lang="en-US" sz="1100" dirty="0">
                <a:solidFill>
                  <a:srgbClr val="9FB5CB"/>
                </a:solidFill>
                <a:latin typeface="Courier New" pitchFamily="34" charset="0"/>
                <a:ea typeface="Courier New" pitchFamily="34" charset="-122"/>
                <a:cs typeface="Courier New" pitchFamily="34" charset="-120"/>
              </a:rPr>
              <a:t>python scripts/live_eval_multiseed.py --seeds 10 --trials 50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Regression Workbench</dc:title>
  <dc:subject>PptxGenJS Presentation</dc:subject>
  <dc:creator>Tan Kia Yen</dc:creator>
  <cp:lastModifiedBy>Tan Kia Yen</cp:lastModifiedBy>
  <cp:revision>1</cp:revision>
  <dcterms:created xsi:type="dcterms:W3CDTF">2026-08-12T15:44:05Z</dcterms:created>
  <dcterms:modified xsi:type="dcterms:W3CDTF">2026-08-12T15:44:05Z</dcterms:modified>
</cp:coreProperties>
</file>